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3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0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9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user-data/outputs/taru-hr-logo-primary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548640"/>
            <a:ext cx="2834640" cy="932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48640" y="26517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HR Operations Hub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5204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INTERNAL HR KNOWLEDGE 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0233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 single reference for how HR operations run end to end </a:t>
            </a:r>
            <a:r>
              <a:rPr lang="en-US" sz="15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such as</a:t>
            </a:r>
            <a:r>
              <a:rPr b="0" i="0" lang="en-US" sz="15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 process flows, ownership, timelines and where automation can help.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Last reviewed: Q3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65836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How to use this hub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Every process page in this hub follows the same structure, so you always know where to look.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2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188720" y="18105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Process Flow &amp; Responsibilities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88720" y="206654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The steps involved</a:t>
            </a:r>
            <a:r>
              <a:rPr lang="en-US" sz="105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5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and who owns each one.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2450592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" y="25511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1188720" y="243230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Timelines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88720" y="268833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Typical durations and key deadlines.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3072384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224" y="31729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1188720" y="30540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88720" y="331012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What good execution looks like.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3694176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" y="37947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1188720" y="36758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88720" y="39319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Where this process tends to break down.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4315968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9224" y="4416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1188720" y="42976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88720" y="45537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Where automation or AI can reduce manual effort.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577840" y="1783080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724144" y="1783080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144768" y="178308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Employee Lifecycle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403336" y="1783080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549640" y="1783080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970264" y="178308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Employment Contracts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577840" y="2569464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724144" y="2569464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144768" y="256946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Onboarding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403336" y="2569464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549640" y="2569464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970264" y="256946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Payroll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577840" y="3355848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724144" y="3355848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144768" y="335584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Leave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403336" y="3355848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549640" y="3355848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970264" y="335584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577840" y="4142232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724144" y="4142232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144768" y="41422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Offboarding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403336" y="4142232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549640" y="4142232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970264" y="41422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577840" y="4928616"/>
            <a:ext cx="2697480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724144" y="4928616"/>
            <a:ext cx="457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144768" y="492861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Reporting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01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Employee Lifecycle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042416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Attract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562149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818181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946197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2946197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311957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Hire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83169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08772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21573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21573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58149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Onboard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10123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35726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48527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748527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85103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9370771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626803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9754819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754819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0120579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Offboard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49808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HRBP owns lifecycle strategy end to 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Line manager drives day-to-day touchpoints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Ops maintains records across every stage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377927" y="2990090"/>
            <a:ext cx="5061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Average tenure benchmark: 2–5 years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Key milestones tracked at 30 / 90 / 365 days</a:t>
            </a:r>
            <a:r>
              <a:rPr lang="en-US" sz="105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(onboarding, performance, development)</a:t>
            </a:r>
            <a:endParaRPr sz="950">
              <a:solidFill>
                <a:srgbClr val="E6E6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Annual lifecycle review each Q1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49808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Standardize milestone check-ins across teams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Centralize employee data in one HRIS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Document handoffs between lifecycle stages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Data fragmented across disconnected systems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Inconsistent manager follow-through on milestones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Exit data not reused for future hiring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Predictive attrition flags from tenure &amp; engagement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Auto-generated milestone reminders sent to managers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02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Employment Contracts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48640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042416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Draft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562149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818181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2946197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2946197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311957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Legal review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83169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08772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21573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21573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58149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TES 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10123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35726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48527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748527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85103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370771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9626803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9754819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9754819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20579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Archive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drafts using approved templates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Legal reviews any non-standard clauses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Manager confirms role, salary &amp; start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377940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Draft to signature: 3–7 business days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Signed copy required before day 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49808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Use approved templates</a:t>
            </a:r>
            <a:r>
              <a:rPr lang="en-US" sz="105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 no ad hoc edits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Confirm collective agreement (TES) minimums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Store signed copy centrally before start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Missing TES compliance checks on non-standard roles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Verbal promises not reflected in the written contract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Late signing delays payroll setup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Clause-checking assistant flags TES mismatches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Auto-fill contract fields directly from ATS offer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03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Onboarding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48640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042416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Pre-boarding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562149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818181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2946197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2946197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311957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83169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08772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521573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21573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58149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10123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35726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748527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748527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85103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30 days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9370771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9626803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9754819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9754819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0120579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90 days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49808" y="3063240"/>
            <a:ext cx="5061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coordinates logistics, access &amp; documentation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Manager owns role integration &amp; goal-setting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IT </a:t>
            </a:r>
            <a:r>
              <a:rPr lang="en-US" sz="105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sets up laptop, accounts, email, software and system access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377940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Structured touchpoints through the first 90 days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Pre-boarding checklist sent 1 week before start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49808" y="4354847"/>
            <a:ext cx="5061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Send a pre-boarding checklist before day 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Assign a buddy for every new hire to </a:t>
            </a:r>
            <a:r>
              <a:rPr lang="en-US" sz="105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upports social integration and understanding company culture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Schedule 30 / 60 / 90-day check-ins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7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IT access not ready on day 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Onboarding plan not tailored to the specific role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No structured follow-up after week 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7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Chatbot answers common new-hire FAQs around the clock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Task checklists auto-trigger from the HRIS start 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04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Payroll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1042416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Collect inputs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2183892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439924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2567940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2567940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933700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075176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331208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4459224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4459224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824984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Calculate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96646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222492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635050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635050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716268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7857744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8113776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8241792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8241792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607552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Disburse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9749028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0005060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1013307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1013307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10498836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49808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Payroll specialist runs the monthly cycle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confirms leave &amp; absence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Finance approves disbursement; manager confirms overtime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377940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Monthly cycle; inputs locked ~5 days before pay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Disbursement on agreed pay day each month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49808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Set and communicate input deadlines early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Reconcile every cycle before disbursement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Keep an audit trail for all adjustments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Late tax card submission delays correct withholding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Unreported absence or overtime skews payroll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Last-minute contract changes missed mid-cycle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8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Anomaly detection flags outlier payslips before disbursement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Automated reminders chase missing tax cards early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9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05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Leave Management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48640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042416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Employee r</a:t>
            </a: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equest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2562149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2818181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2946197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2946197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311957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Manager approval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83169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08772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521573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521573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58149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record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710123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735726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748527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748527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785103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Accrual update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9370771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9626803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9754819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9754819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0120579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Return to work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9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749808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Employee submits request in the HR 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Manager approves against team coverage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maintains balances &amp; compliance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377940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Requests submitted 2+ weeks ahead where possible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Approvals confirmed within 3 business days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9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749808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Keep accrual rules visible to every employee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Confirm coverage before approving requests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lang="en-US" sz="105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Record return-to-work agreements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9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Manual balance tracking introduces errors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Approvals delayed past the requested start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Carry-over rules widely misunderstood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9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Self-service balance lookups cut routine HR tickets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Automated flags ahead of carry-over deadlines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0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06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48640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1042416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562149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2818181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2946197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2946197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3311957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Communicate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83169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08772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521573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521573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58149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Enroll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710123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735726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748527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748527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785103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Administer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9370771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9626803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9754819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9754819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10120579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0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749808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designs the package and manages vendors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Employee selects and enrolls in options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Payroll applies deductions each cycle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4" name="Google Shape;40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0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6377940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Annual package review; new-hire enrollment within 30 days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8" name="Google Shape;40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0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749808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Communicate benefits clearly during onboarding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Benchmark the package annually against market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Keep vendor contacts centralized and current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0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Low awareness and utilization across teams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Enrollment deadlines missed by new hires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Vendor data out of sync with payroll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0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Personalized benefits guidance via chatbot at enrollment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Usage analytics surface underused offerings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7" name="Google Shape;4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1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07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Offboarding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548640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1042416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Notice given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2562149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2818181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2946197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2946197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3311957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Knowledge transfer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483169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508772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521573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521573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558149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Exit interview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710123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7357262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748527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748527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7851038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Access revoked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9370771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9626803" y="1755648"/>
            <a:ext cx="2013509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9754819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9754819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10120579" y="1755648"/>
            <a:ext cx="141000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Final settlement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6" name="Google Shape;45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1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749808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Manager plans the handover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runs the exit process and interview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IT revokes access; payroll processes final pay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0" name="Google Shape;46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1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6377940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Notice period per contract / 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System access revoked on last working day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1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749808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Standardize the exit checklist across teams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Capture exit interview themes centrally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Confirm final pay &amp; documents on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8" name="Google Shape;46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1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Access not revoked promptly on last day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Knowledge transfer skipped under time pressure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Exit feedback collected but never actioned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1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Exit interview theme clustering surfaces attrition drivers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Offboarding checklist auto-triggers on resignation 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2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08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HR Systems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548640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042416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2183892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2439924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2567940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2567940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2933700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4075176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331208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4459224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4459224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4824984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Migration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596646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6222492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635050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635050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6716268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7857744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8113776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8241792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8241792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8607552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9749028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10005060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1013307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1013307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10498836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2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749808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Ops owns system configuration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IT manages integrations &amp; security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HRBP validates the process fits real workflows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1" name="Google Shape;52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2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6377940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Major system changes: typically 3–6 month projects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5" name="Google Shape;52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2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749808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Keep one single source of truth for employee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Document every integration end to 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Train super-users before go-live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9" name="Google Shape;52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2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Duplicate data across disconnected tools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Manual workarounds bypass the system of record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Poor adoption when training is skipped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3" name="Google Shape;533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2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AI-assisted data cleansing during migration projects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Chatbot-guided navigation for common employee tasks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3"/>
          <p:cNvSpPr/>
          <p:nvPr/>
        </p:nvSpPr>
        <p:spPr>
          <a:xfrm>
            <a:off x="548640" y="621792"/>
            <a:ext cx="512064" cy="512064"/>
          </a:xfrm>
          <a:prstGeom prst="roundRect">
            <a:avLst>
              <a:gd fmla="val 23214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4" name="Google Shape;5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740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3"/>
          <p:cNvSpPr/>
          <p:nvPr/>
        </p:nvSpPr>
        <p:spPr>
          <a:xfrm>
            <a:off x="1207008" y="6583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09 · HR OPERATIONS 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1207008" y="89611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HR Reporting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548640" y="1481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PROCESS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548640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67665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67665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1042416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Define metrics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2183892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2439924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2567940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2567940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2933700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Collect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4075176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4331208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4459224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4459224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4824984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5966460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6222492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6350508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635050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6716268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7857744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3"/>
          <p:cNvSpPr/>
          <p:nvPr/>
        </p:nvSpPr>
        <p:spPr>
          <a:xfrm>
            <a:off x="8113776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8241792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8241792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8607552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9749028" y="1755648"/>
            <a:ext cx="2560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10005060" y="1755648"/>
            <a:ext cx="1635252" cy="658368"/>
          </a:xfrm>
          <a:prstGeom prst="roundRect">
            <a:avLst>
              <a:gd fmla="val 9722" name="adj"/>
            </a:avLst>
          </a:prstGeom>
          <a:solidFill>
            <a:srgbClr val="1A1A1B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10133076" y="1938528"/>
            <a:ext cx="292608" cy="292608"/>
          </a:xfrm>
          <a:prstGeom prst="ellipse">
            <a:avLst/>
          </a:prstGeom>
          <a:solidFill>
            <a:srgbClr val="FFD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10133076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10498836" y="1755648"/>
            <a:ext cx="10317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548640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8" name="Google Shape;5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13"/>
          <p:cNvSpPr/>
          <p:nvPr/>
        </p:nvSpPr>
        <p:spPr>
          <a:xfrm>
            <a:off x="1078992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749808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 Ops compiles and validates the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HRBP interprets trends for the business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Leadership acts on the resulting insights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6176772" y="2551176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2" name="Google Shape;58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13"/>
          <p:cNvSpPr/>
          <p:nvPr/>
        </p:nvSpPr>
        <p:spPr>
          <a:xfrm>
            <a:off x="6707124" y="2679192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6377940" y="3063240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Monthly operational reports; quarterly strategic reviews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548640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6" name="Google Shape;58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3"/>
          <p:cNvSpPr/>
          <p:nvPr/>
        </p:nvSpPr>
        <p:spPr>
          <a:xfrm>
            <a:off x="1078992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7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B778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749808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Standardize metric definitions across teams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Automate recurring reports wherever possible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Pair every dataset with a clear narrative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6176772" y="3950208"/>
            <a:ext cx="5463540" cy="1261872"/>
          </a:xfrm>
          <a:prstGeom prst="roundRect">
            <a:avLst>
              <a:gd fmla="val 5072" name="adj"/>
            </a:avLst>
          </a:prstGeom>
          <a:solidFill>
            <a:srgbClr val="212122"/>
          </a:solidFill>
          <a:ln cap="flat" cmpd="sng" w="1270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0" name="Google Shape;59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7940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3"/>
          <p:cNvSpPr/>
          <p:nvPr/>
        </p:nvSpPr>
        <p:spPr>
          <a:xfrm>
            <a:off x="6707124" y="4078224"/>
            <a:ext cx="47320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735C"/>
                </a:solidFill>
                <a:latin typeface="Calibri"/>
                <a:ea typeface="Calibri"/>
                <a:cs typeface="Calibri"/>
                <a:sym typeface="Calibri"/>
              </a:rPr>
              <a:t>COMMON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6377940" y="4462272"/>
            <a:ext cx="50612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Inconsistent metric definitions across teams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Manual spreadsheet work introduces errors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E6E6E6"/>
              </a:buClr>
              <a:buSzPts val="1050"/>
              <a:buFont typeface="Calibri"/>
              <a:buChar char="›"/>
            </a:pPr>
            <a:r>
              <a:rPr b="0" i="0" lang="en-US" sz="105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Reports built but rarely reviewed or actioned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fmla="val 6667" name="adj"/>
            </a:avLst>
          </a:prstGeom>
          <a:solidFill>
            <a:srgbClr val="241F0C"/>
          </a:solidFill>
          <a:ln cap="flat" cmpd="sng" w="12700">
            <a:solidFill>
              <a:srgbClr val="4A3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4" name="Google Shape;59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6384" y="56464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3"/>
          <p:cNvSpPr/>
          <p:nvPr/>
        </p:nvSpPr>
        <p:spPr>
          <a:xfrm>
            <a:off x="1298448" y="5495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5C"/>
                </a:solidFill>
                <a:latin typeface="Calibri"/>
                <a:ea typeface="Calibri"/>
                <a:cs typeface="Calibri"/>
                <a:sym typeface="Calibri"/>
              </a:rPr>
              <a:t>AI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1298448" y="5769864"/>
            <a:ext cx="7799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Dashboards refresh automatically from the HRIS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6E6E6"/>
              </a:buClr>
              <a:buSzPts val="1100"/>
              <a:buFont typeface="Calibri"/>
              <a:buChar char="›"/>
            </a:pPr>
            <a:r>
              <a:rPr b="0" i="0" lang="en-US" sz="1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Natural-language summaries highlight trend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Taru HR  ·  HR Operations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outputs/taru-hr-icon.png" id="605" name="Google Shape;6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860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4"/>
          <p:cNvSpPr/>
          <p:nvPr/>
        </p:nvSpPr>
        <p:spPr>
          <a:xfrm>
            <a:off x="548640" y="32918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AFAFA"/>
                </a:solidFill>
                <a:latin typeface="Calibri"/>
                <a:ea typeface="Calibri"/>
                <a:cs typeface="Calibri"/>
                <a:sym typeface="Calibri"/>
              </a:rPr>
              <a:t>Thank you! 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