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9144000"/>
  <p:defaultTextStyle>
    <a:defPPr>
      <a:defRPr lang="fi-FI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0" d="100"/>
          <a:sy n="100" d="100"/>
        </p:scale>
        <p:origin x="90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6A15FF-C959-A015-5979-7DD1634E4D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fi-FI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D2C19E-21EE-1DAB-2E31-8D9835DB19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fi-F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F2BD32-4D87-0F82-FFC6-5E3463380C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3CEDD-1B88-4755-A4CE-0B40D543D05B}" type="datetimeFigureOut">
              <a:rPr lang="fi-FI" smtClean="0"/>
              <a:t>2.7.2026</a:t>
            </a:fld>
            <a:endParaRPr lang="fi-F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AA4590-AF1B-5F1F-E950-ACE760CB89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F86ADD-343C-DDC8-1D8C-54BC51A3FE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C9FE8-FFD2-4DF1-9E1E-3020530ED711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32412069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0B76B5-6107-935B-14B9-72375B8AB4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i-FI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EB7B83-48BF-D896-25A3-7000B5C25F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i-F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93C117-F484-D3EE-C936-B6BDDB7557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3CEDD-1B88-4755-A4CE-0B40D543D05B}" type="datetimeFigureOut">
              <a:rPr lang="fi-FI" smtClean="0"/>
              <a:t>2.7.2026</a:t>
            </a:fld>
            <a:endParaRPr lang="fi-F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F94233-3404-75B5-EAAC-C337231209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02705C-6828-5954-ADB8-A211A13789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C9FE8-FFD2-4DF1-9E1E-3020530ED711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19138758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2F5019-E475-1C41-E8C4-E818F5C870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fi-FI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5228CA-08B1-C17D-9745-FED027B2F7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A715AE-DD17-C311-5409-404F571AAD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3CEDD-1B88-4755-A4CE-0B40D543D05B}" type="datetimeFigureOut">
              <a:rPr lang="fi-FI" smtClean="0"/>
              <a:t>2.7.2026</a:t>
            </a:fld>
            <a:endParaRPr lang="fi-F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32FDDC-FC21-A0C6-1C13-C1A2AB7891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6A3961-CBDB-46B8-C853-50CB47BF94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C9FE8-FFD2-4DF1-9E1E-3020530ED711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645352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8FC55C-3735-7A26-BE8F-B0F9200531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i-FI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B0C3CA-4081-2A66-1F3B-3C505F21939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i-FI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7D4883-C1C7-221C-351D-B4584A7F8D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i-FI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9D914A-BAD9-E518-61CC-4EF5C14BF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3CEDD-1B88-4755-A4CE-0B40D543D05B}" type="datetimeFigureOut">
              <a:rPr lang="fi-FI" smtClean="0"/>
              <a:t>2.7.2026</a:t>
            </a:fld>
            <a:endParaRPr lang="fi-FI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DEA3FC-B3C7-17C9-EF3F-1F63FB2FAE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67C08B-5C97-F2B9-4C5E-82E5F9E4B9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C9FE8-FFD2-4DF1-9E1E-3020530ED711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8546336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771A4A-EF0E-968F-F62F-6D39481DF9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fi-FI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9FCE8D-347F-0102-12EF-19E860E13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86303D-35A4-DD49-4C73-291CDBCD39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i-FI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F20BADA-8552-D390-4644-E3D4FCFF5F3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687132A-0562-DE1A-1D11-56F0674476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i-FI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BE7830-5E3A-85C0-937A-84C22BF71E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3CEDD-1B88-4755-A4CE-0B40D543D05B}" type="datetimeFigureOut">
              <a:rPr lang="fi-FI" smtClean="0"/>
              <a:t>2.7.2026</a:t>
            </a:fld>
            <a:endParaRPr lang="fi-FI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2079E8F-CE9E-9A98-C97D-0F0D2CD291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158104C-8354-F5EC-D0A3-8D323AD021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C9FE8-FFD2-4DF1-9E1E-3020530ED711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1260614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564F45-1D24-25F8-2472-8ADF4DBE82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i-FI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8468563-0FFC-6776-61EB-12F2995041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3CEDD-1B88-4755-A4CE-0B40D543D05B}" type="datetimeFigureOut">
              <a:rPr lang="fi-FI" smtClean="0"/>
              <a:t>2.7.2026</a:t>
            </a:fld>
            <a:endParaRPr lang="fi-FI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BBBA8F5-7959-17C2-370E-393757A3E3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E86D25A-2B49-FB41-A525-ECA3A125DE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C9FE8-FFD2-4DF1-9E1E-3020530ED711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30476329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D0583D9-3CDC-2116-4BD1-448ED1DFDD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3CEDD-1B88-4755-A4CE-0B40D543D05B}" type="datetimeFigureOut">
              <a:rPr lang="fi-FI" smtClean="0"/>
              <a:t>2.7.2026</a:t>
            </a:fld>
            <a:endParaRPr lang="fi-FI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46404B6-7D7E-0017-60B9-DAE8C907D4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882C49-554F-DEFB-1134-A00BDEA550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C9FE8-FFD2-4DF1-9E1E-3020530ED711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30229979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A6D710-84B1-7BC2-C83D-590535DB2A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i-FI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839991-213F-4CAC-DF1C-C2181F81F9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i-FI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2090CB0-9B98-E2F5-2D91-6CBADE594A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09AD38-F306-D760-B2D8-09ACDEF0E6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3CEDD-1B88-4755-A4CE-0B40D543D05B}" type="datetimeFigureOut">
              <a:rPr lang="fi-FI" smtClean="0"/>
              <a:t>2.7.2026</a:t>
            </a:fld>
            <a:endParaRPr lang="fi-FI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8D2031-0641-28F8-7527-05460E9FFA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3AEF4C-FE6C-2AEF-D7F0-DF400F2FA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C9FE8-FFD2-4DF1-9E1E-3020530ED711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4710789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290FC-A634-462F-41F6-CCAA912369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i-FI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DA79634-E23F-7277-28CD-662DA824D77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i-FI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1B6612-1025-E24C-A9C9-BF02328A08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E79116-EE1B-095C-D2D0-BA809B6FAA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3CEDD-1B88-4755-A4CE-0B40D543D05B}" type="datetimeFigureOut">
              <a:rPr lang="fi-FI" smtClean="0"/>
              <a:t>2.7.2026</a:t>
            </a:fld>
            <a:endParaRPr lang="fi-FI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EC5C69-1C90-596C-E049-ACD3A8FC1B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5CE1AE-34AC-1396-8A04-B2DCE5DFD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C9FE8-FFD2-4DF1-9E1E-3020530ED711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4014542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E30B4B-23F5-8993-DB0E-60EE0D25F8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i-FI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E3DE66D-FDD2-B8C6-F07B-10E5E9F1A2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i-F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31BBF6-582B-EFE5-3747-3D763986BC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3CEDD-1B88-4755-A4CE-0B40D543D05B}" type="datetimeFigureOut">
              <a:rPr lang="fi-FI" smtClean="0"/>
              <a:t>2.7.2026</a:t>
            </a:fld>
            <a:endParaRPr lang="fi-F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DA3122-AF4C-CC31-BA31-12A5DC01C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672A97-A97A-7C58-483E-15219AF0E6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C9FE8-FFD2-4DF1-9E1E-3020530ED711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1920731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6867745-D9A5-E765-E353-26306D57036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fi-FI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75E45FF-0DB2-773F-575C-B129669D70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i-F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86E69D-A033-AF58-F6B4-B41E30A343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3CEDD-1B88-4755-A4CE-0B40D543D05B}" type="datetimeFigureOut">
              <a:rPr lang="fi-FI" smtClean="0"/>
              <a:t>2.7.2026</a:t>
            </a:fld>
            <a:endParaRPr lang="fi-F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757A93-E217-1DB3-F2C5-71CF992641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39C104-26D6-0A42-CE00-3ED1E0383F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C9FE8-FFD2-4DF1-9E1E-3020530ED711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24614492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ADAFFD8-8CEC-0EEB-AF24-7B94536FBA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fi-FI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5F19C4-495F-D052-B231-1AA9DFC3F2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i-F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F60D58-C424-50FA-5441-37813E1A8E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D73CEDD-1B88-4755-A4CE-0B40D543D05B}" type="datetimeFigureOut">
              <a:rPr lang="fi-FI" smtClean="0"/>
              <a:t>2.7.2026</a:t>
            </a:fld>
            <a:endParaRPr lang="fi-F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BD56C0-88AA-4CD5-65C6-F2CEB62705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i-F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81D557-E6C3-837B-EF1A-1696385B51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71C9FE8-FFD2-4DF1-9E1E-3020530ED711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20721549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i-FI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D0A630D-FEAB-7F5D-1EDB-84546ED20C3E}"/>
              </a:ext>
            </a:extLst>
          </p:cNvPr>
          <p:cNvSpPr txBox="1"/>
          <p:nvPr/>
        </p:nvSpPr>
        <p:spPr>
          <a:xfrm>
            <a:off x="812800" y="2387600"/>
            <a:ext cx="10566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i-FI" sz="1500" b="1">
                <a:solidFill>
                  <a:srgbClr val="FFD65C"/>
                </a:solidFill>
                <a:latin typeface="Calibri" panose="020F0502020204030204" pitchFamily="34" charset="0"/>
              </a:rPr>
              <a:t>TARU HR   ·   RELOCATION GUIDE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7A42B63-DD7D-4A44-94EB-0F875BB38B5D}"/>
              </a:ext>
            </a:extLst>
          </p:cNvPr>
          <p:cNvSpPr txBox="1"/>
          <p:nvPr/>
        </p:nvSpPr>
        <p:spPr>
          <a:xfrm>
            <a:off x="812800" y="2768600"/>
            <a:ext cx="10566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i-FI" sz="5200" b="1">
                <a:solidFill>
                  <a:srgbClr val="FFD65C"/>
                </a:solidFill>
                <a:latin typeface="Calibri" panose="020F0502020204030204" pitchFamily="34" charset="0"/>
              </a:rPr>
              <a:t>Expat Employee Guide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4A22B47-BD2B-7217-F460-2E541A2DA504}"/>
              </a:ext>
            </a:extLst>
          </p:cNvPr>
          <p:cNvSpPr txBox="1"/>
          <p:nvPr/>
        </p:nvSpPr>
        <p:spPr>
          <a:xfrm>
            <a:off x="812800" y="4089400"/>
            <a:ext cx="1016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>
                <a:solidFill>
                  <a:srgbClr val="E6E6E6"/>
                </a:solidFill>
                <a:latin typeface="Calibri" panose="020F0502020204030204" pitchFamily="34" charset="0"/>
              </a:rPr>
              <a:t>A practical guide for international employees relocating to Finland.</a:t>
            </a:r>
            <a:endParaRPr lang="fi-FI">
              <a:solidFill>
                <a:srgbClr val="E6E6E6"/>
              </a:solidFill>
              <a:latin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3F3896C-1DBB-10E4-6961-BDDA63235F33}"/>
              </a:ext>
            </a:extLst>
          </p:cNvPr>
          <p:cNvSpPr txBox="1"/>
          <p:nvPr/>
        </p:nvSpPr>
        <p:spPr>
          <a:xfrm>
            <a:off x="812800" y="5969000"/>
            <a:ext cx="10566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200">
                <a:solidFill>
                  <a:srgbClr val="9E9E9E"/>
                </a:solidFill>
                <a:latin typeface="Calibri" panose="020F0502020204030204" pitchFamily="34" charset="0"/>
              </a:rPr>
              <a:t>Taru HR   ·   Welcome to Finland   ·   2026</a:t>
            </a:r>
            <a:endParaRPr lang="fi-FI" sz="1200">
              <a:solidFill>
                <a:srgbClr val="9E9E9E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60738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58FAC22-F9CD-ED2A-9998-11591B7A6D07}"/>
              </a:ext>
            </a:extLst>
          </p:cNvPr>
          <p:cNvSpPr txBox="1"/>
          <p:nvPr/>
        </p:nvSpPr>
        <p:spPr>
          <a:xfrm>
            <a:off x="685800" y="508000"/>
            <a:ext cx="10820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i-FI" sz="1300" b="1">
                <a:solidFill>
                  <a:srgbClr val="FFD65C"/>
                </a:solidFill>
                <a:latin typeface="Calibri" panose="020F0502020204030204" pitchFamily="34" charset="0"/>
              </a:rPr>
              <a:t>OVERVIEW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FBE50EC-CF6A-37C3-D79B-6D371B62FB1F}"/>
              </a:ext>
            </a:extLst>
          </p:cNvPr>
          <p:cNvSpPr txBox="1"/>
          <p:nvPr/>
        </p:nvSpPr>
        <p:spPr>
          <a:xfrm>
            <a:off x="685800" y="787400"/>
            <a:ext cx="10820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i-FI" sz="3000" b="1">
                <a:solidFill>
                  <a:srgbClr val="FFD65C"/>
                </a:solidFill>
                <a:latin typeface="Calibri" panose="020F0502020204030204" pitchFamily="34" charset="0"/>
              </a:rPr>
              <a:t>What's inside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834A58D9-0DB6-F26A-4322-272973A722EB}"/>
              </a:ext>
            </a:extLst>
          </p:cNvPr>
          <p:cNvSpPr/>
          <p:nvPr/>
        </p:nvSpPr>
        <p:spPr>
          <a:xfrm>
            <a:off x="685800" y="1905000"/>
            <a:ext cx="5308600" cy="819150"/>
          </a:xfrm>
          <a:prstGeom prst="roundRect">
            <a:avLst>
              <a:gd name="adj" fmla="val 7000"/>
            </a:avLst>
          </a:prstGeom>
          <a:solidFill>
            <a:srgbClr val="1A1A1B"/>
          </a:solidFill>
          <a:ln w="12700">
            <a:solidFill>
              <a:srgbClr val="3838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77800" tIns="114300" rIns="152400" bIns="101600" rtlCol="0" anchor="t"/>
          <a:lstStyle/>
          <a:p>
            <a:r>
              <a:rPr lang="en-US" sz="1500" b="1">
                <a:solidFill>
                  <a:srgbClr val="FFD65C"/>
                </a:solidFill>
                <a:latin typeface="Calibri" panose="020F0502020204030204" pitchFamily="34" charset="0"/>
              </a:rPr>
              <a:t>Before you arrive</a:t>
            </a:r>
          </a:p>
          <a:p>
            <a:r>
              <a:rPr lang="en-US" sz="1200">
                <a:solidFill>
                  <a:srgbClr val="E6E6E6"/>
                </a:solidFill>
                <a:latin typeface="Calibri" panose="020F0502020204030204" pitchFamily="34" charset="0"/>
              </a:rPr>
              <a:t>Checklist, visa &amp; residence permit, your contract.</a:t>
            </a:r>
            <a:endParaRPr lang="fi-FI" sz="1200">
              <a:solidFill>
                <a:srgbClr val="E6E6E6"/>
              </a:solidFill>
              <a:latin typeface="Calibri" panose="020F0502020204030204" pitchFamily="34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4F9323A9-21DA-E731-449F-E15A45F62FCB}"/>
              </a:ext>
            </a:extLst>
          </p:cNvPr>
          <p:cNvSpPr/>
          <p:nvPr/>
        </p:nvSpPr>
        <p:spPr>
          <a:xfrm>
            <a:off x="6197600" y="1905000"/>
            <a:ext cx="5308600" cy="819150"/>
          </a:xfrm>
          <a:prstGeom prst="roundRect">
            <a:avLst>
              <a:gd name="adj" fmla="val 7000"/>
            </a:avLst>
          </a:prstGeom>
          <a:solidFill>
            <a:srgbClr val="1A1A1B"/>
          </a:solidFill>
          <a:ln w="12700">
            <a:solidFill>
              <a:srgbClr val="3838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77800" tIns="114300" rIns="152400" bIns="101600" rtlCol="0" anchor="t"/>
          <a:lstStyle/>
          <a:p>
            <a:r>
              <a:rPr lang="en-US" sz="1500" b="1">
                <a:solidFill>
                  <a:srgbClr val="FFD65C"/>
                </a:solidFill>
                <a:latin typeface="Calibri" panose="020F0502020204030204" pitchFamily="34" charset="0"/>
              </a:rPr>
              <a:t>Your first days</a:t>
            </a:r>
          </a:p>
          <a:p>
            <a:r>
              <a:rPr lang="en-US" sz="1200">
                <a:solidFill>
                  <a:srgbClr val="E6E6E6"/>
                </a:solidFill>
                <a:latin typeface="Calibri" panose="020F0502020204030204" pitchFamily="34" charset="0"/>
              </a:rPr>
              <a:t>First week, personal identity code, bank account.</a:t>
            </a:r>
            <a:endParaRPr lang="fi-FI" sz="1200">
              <a:solidFill>
                <a:srgbClr val="E6E6E6"/>
              </a:solidFill>
              <a:latin typeface="Calibri" panose="020F0502020204030204" pitchFamily="34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ED233B5E-45E4-CABA-670B-DC32DBDA365E}"/>
              </a:ext>
            </a:extLst>
          </p:cNvPr>
          <p:cNvSpPr/>
          <p:nvPr/>
        </p:nvSpPr>
        <p:spPr>
          <a:xfrm>
            <a:off x="685800" y="2901950"/>
            <a:ext cx="5308600" cy="819150"/>
          </a:xfrm>
          <a:prstGeom prst="roundRect">
            <a:avLst>
              <a:gd name="adj" fmla="val 7000"/>
            </a:avLst>
          </a:prstGeom>
          <a:solidFill>
            <a:srgbClr val="1A1A1B"/>
          </a:solidFill>
          <a:ln w="12700">
            <a:solidFill>
              <a:srgbClr val="3838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77800" tIns="114300" rIns="152400" bIns="101600" rtlCol="0" anchor="t"/>
          <a:lstStyle/>
          <a:p>
            <a:r>
              <a:rPr lang="en-US" sz="1500" b="1">
                <a:solidFill>
                  <a:srgbClr val="FFD65C"/>
                </a:solidFill>
                <a:latin typeface="Calibri" panose="020F0502020204030204" pitchFamily="34" charset="0"/>
              </a:rPr>
              <a:t>Money &amp; pay</a:t>
            </a:r>
          </a:p>
          <a:p>
            <a:r>
              <a:rPr lang="en-US" sz="1200">
                <a:solidFill>
                  <a:srgbClr val="E6E6E6"/>
                </a:solidFill>
                <a:latin typeface="Calibri" panose="020F0502020204030204" pitchFamily="34" charset="0"/>
              </a:rPr>
              <a:t>Tax card, salary and deductions.</a:t>
            </a:r>
            <a:endParaRPr lang="fi-FI" sz="1200">
              <a:solidFill>
                <a:srgbClr val="E6E6E6"/>
              </a:solidFill>
              <a:latin typeface="Calibri" panose="020F0502020204030204" pitchFamily="34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D667BF3-C5D7-6DFC-3C3C-0A1AB939F95E}"/>
              </a:ext>
            </a:extLst>
          </p:cNvPr>
          <p:cNvSpPr/>
          <p:nvPr/>
        </p:nvSpPr>
        <p:spPr>
          <a:xfrm>
            <a:off x="6197600" y="2901950"/>
            <a:ext cx="5308600" cy="819150"/>
          </a:xfrm>
          <a:prstGeom prst="roundRect">
            <a:avLst>
              <a:gd name="adj" fmla="val 7000"/>
            </a:avLst>
          </a:prstGeom>
          <a:solidFill>
            <a:srgbClr val="1A1A1B"/>
          </a:solidFill>
          <a:ln w="12700">
            <a:solidFill>
              <a:srgbClr val="3838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77800" tIns="114300" rIns="152400" bIns="101600" rtlCol="0" anchor="t"/>
          <a:lstStyle/>
          <a:p>
            <a:r>
              <a:rPr lang="en-US" sz="1500" b="1">
                <a:solidFill>
                  <a:srgbClr val="FFD65C"/>
                </a:solidFill>
                <a:latin typeface="Calibri" panose="020F0502020204030204" pitchFamily="34" charset="0"/>
              </a:rPr>
              <a:t>Working life</a:t>
            </a:r>
          </a:p>
          <a:p>
            <a:r>
              <a:rPr lang="en-US" sz="1200">
                <a:solidFill>
                  <a:srgbClr val="E6E6E6"/>
                </a:solidFill>
                <a:latin typeface="Calibri" panose="020F0502020204030204" pitchFamily="34" charset="0"/>
              </a:rPr>
              <a:t>Working hours, annual leave and other absences.</a:t>
            </a:r>
            <a:endParaRPr lang="fi-FI" sz="1200">
              <a:solidFill>
                <a:srgbClr val="E6E6E6"/>
              </a:solidFill>
              <a:latin typeface="Calibri" panose="020F0502020204030204" pitchFamily="34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D7E2105-88B7-9DDE-FC0D-F35A8DDB6FF6}"/>
              </a:ext>
            </a:extLst>
          </p:cNvPr>
          <p:cNvSpPr/>
          <p:nvPr/>
        </p:nvSpPr>
        <p:spPr>
          <a:xfrm>
            <a:off x="685800" y="3898900"/>
            <a:ext cx="5308600" cy="819150"/>
          </a:xfrm>
          <a:prstGeom prst="roundRect">
            <a:avLst>
              <a:gd name="adj" fmla="val 7000"/>
            </a:avLst>
          </a:prstGeom>
          <a:solidFill>
            <a:srgbClr val="1A1A1B"/>
          </a:solidFill>
          <a:ln w="12700">
            <a:solidFill>
              <a:srgbClr val="3838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77800" tIns="114300" rIns="152400" bIns="101600" rtlCol="0" anchor="t"/>
          <a:lstStyle/>
          <a:p>
            <a:r>
              <a:rPr lang="en-US" sz="1500" b="1">
                <a:solidFill>
                  <a:srgbClr val="FFD65C"/>
                </a:solidFill>
                <a:latin typeface="Calibri" panose="020F0502020204030204" pitchFamily="34" charset="0"/>
              </a:rPr>
              <a:t>Social security &amp; health</a:t>
            </a:r>
          </a:p>
          <a:p>
            <a:r>
              <a:rPr lang="en-US" sz="1200">
                <a:solidFill>
                  <a:srgbClr val="E6E6E6"/>
                </a:solidFill>
                <a:latin typeface="Calibri" panose="020F0502020204030204" pitchFamily="34" charset="0"/>
              </a:rPr>
              <a:t>Kela, occupational healthcare, emergencies.</a:t>
            </a:r>
            <a:endParaRPr lang="fi-FI" sz="1200">
              <a:solidFill>
                <a:srgbClr val="E6E6E6"/>
              </a:solidFill>
              <a:latin typeface="Calibri" panose="020F0502020204030204" pitchFamily="34" charset="0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590EFF3-7FC8-36D9-9145-E02149B923E4}"/>
              </a:ext>
            </a:extLst>
          </p:cNvPr>
          <p:cNvSpPr/>
          <p:nvPr/>
        </p:nvSpPr>
        <p:spPr>
          <a:xfrm>
            <a:off x="6197600" y="3898900"/>
            <a:ext cx="5308600" cy="819150"/>
          </a:xfrm>
          <a:prstGeom prst="roundRect">
            <a:avLst>
              <a:gd name="adj" fmla="val 7000"/>
            </a:avLst>
          </a:prstGeom>
          <a:solidFill>
            <a:srgbClr val="1A1A1B"/>
          </a:solidFill>
          <a:ln w="12700">
            <a:solidFill>
              <a:srgbClr val="3838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77800" tIns="114300" rIns="152400" bIns="101600" rtlCol="0" anchor="t"/>
          <a:lstStyle/>
          <a:p>
            <a:r>
              <a:rPr lang="en-US" sz="1500" b="1">
                <a:solidFill>
                  <a:srgbClr val="FFD65C"/>
                </a:solidFill>
                <a:latin typeface="Calibri" panose="020F0502020204030204" pitchFamily="34" charset="0"/>
              </a:rPr>
              <a:t>Living in Finland</a:t>
            </a:r>
          </a:p>
          <a:p>
            <a:r>
              <a:rPr lang="en-US" sz="1200">
                <a:solidFill>
                  <a:srgbClr val="E6E6E6"/>
                </a:solidFill>
                <a:latin typeface="Calibri" panose="020F0502020204030204" pitchFamily="34" charset="0"/>
              </a:rPr>
              <a:t>Transport, SIM, housing, shops and culture.</a:t>
            </a:r>
            <a:endParaRPr lang="fi-FI" sz="1200">
              <a:solidFill>
                <a:srgbClr val="E6E6E6"/>
              </a:solidFill>
              <a:latin typeface="Calibri" panose="020F0502020204030204" pitchFamily="34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CA8958D8-29B7-D749-24A4-BCA965721A50}"/>
              </a:ext>
            </a:extLst>
          </p:cNvPr>
          <p:cNvSpPr/>
          <p:nvPr/>
        </p:nvSpPr>
        <p:spPr>
          <a:xfrm>
            <a:off x="685800" y="4895850"/>
            <a:ext cx="5308600" cy="819150"/>
          </a:xfrm>
          <a:prstGeom prst="roundRect">
            <a:avLst>
              <a:gd name="adj" fmla="val 7000"/>
            </a:avLst>
          </a:prstGeom>
          <a:solidFill>
            <a:srgbClr val="1A1A1B"/>
          </a:solidFill>
          <a:ln w="12700">
            <a:solidFill>
              <a:srgbClr val="3838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77800" tIns="114300" rIns="152400" bIns="101600" rtlCol="0" anchor="t"/>
          <a:lstStyle/>
          <a:p>
            <a:r>
              <a:rPr lang="en-US" sz="1500" b="1">
                <a:solidFill>
                  <a:srgbClr val="FFD65C"/>
                </a:solidFill>
                <a:latin typeface="Calibri" panose="020F0502020204030204" pitchFamily="34" charset="0"/>
              </a:rPr>
              <a:t>Key contacts</a:t>
            </a:r>
          </a:p>
          <a:p>
            <a:r>
              <a:rPr lang="en-US" sz="1200">
                <a:solidFill>
                  <a:srgbClr val="E6E6E6"/>
                </a:solidFill>
                <a:latin typeface="Calibri" panose="020F0502020204030204" pitchFamily="34" charset="0"/>
              </a:rPr>
              <a:t>Who to reach for what, and 112 for emergencies.</a:t>
            </a:r>
            <a:endParaRPr lang="fi-FI" sz="1200">
              <a:solidFill>
                <a:srgbClr val="E6E6E6"/>
              </a:solidFill>
              <a:latin typeface="Calibri" panose="020F050202020403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D40FCF7-0299-4007-EE6E-3AA90394F548}"/>
              </a:ext>
            </a:extLst>
          </p:cNvPr>
          <p:cNvSpPr txBox="1"/>
          <p:nvPr/>
        </p:nvSpPr>
        <p:spPr>
          <a:xfrm>
            <a:off x="685800" y="6477000"/>
            <a:ext cx="812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i-FI" sz="1000">
                <a:solidFill>
                  <a:srgbClr val="6E6E6E"/>
                </a:solidFill>
                <a:latin typeface="Calibri" panose="020F0502020204030204" pitchFamily="34" charset="0"/>
              </a:rPr>
              <a:t>Taru HR   ·   Expat Employee Guide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BD312A7-0882-921F-ACAB-36B02F137095}"/>
              </a:ext>
            </a:extLst>
          </p:cNvPr>
          <p:cNvSpPr txBox="1"/>
          <p:nvPr/>
        </p:nvSpPr>
        <p:spPr>
          <a:xfrm>
            <a:off x="10896600" y="6451600"/>
            <a:ext cx="609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fi-FI" sz="1100" b="1">
                <a:solidFill>
                  <a:srgbClr val="FFD65C"/>
                </a:solidFill>
                <a:latin typeface="Calibri" panose="020F0502020204030204" pitchFamily="34" charset="0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7294800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1D9D80B-1109-21C3-DF69-9B6775CEA2A2}"/>
              </a:ext>
            </a:extLst>
          </p:cNvPr>
          <p:cNvSpPr txBox="1"/>
          <p:nvPr/>
        </p:nvSpPr>
        <p:spPr>
          <a:xfrm>
            <a:off x="685800" y="508000"/>
            <a:ext cx="10820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i-FI" sz="1300" b="1">
                <a:solidFill>
                  <a:srgbClr val="FFD65C"/>
                </a:solidFill>
                <a:latin typeface="Calibri" panose="020F0502020204030204" pitchFamily="34" charset="0"/>
              </a:rPr>
              <a:t>BEFORE YOU ARRIVE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98ED6C4-3B29-844F-AAAF-9ADB18782E65}"/>
              </a:ext>
            </a:extLst>
          </p:cNvPr>
          <p:cNvSpPr txBox="1"/>
          <p:nvPr/>
        </p:nvSpPr>
        <p:spPr>
          <a:xfrm>
            <a:off x="685800" y="787400"/>
            <a:ext cx="10820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3000" b="1">
                <a:solidFill>
                  <a:srgbClr val="FFD65C"/>
                </a:solidFill>
                <a:latin typeface="Calibri" panose="020F0502020204030204" pitchFamily="34" charset="0"/>
              </a:rPr>
              <a:t>Get set up before you travel</a:t>
            </a:r>
            <a:endParaRPr lang="fi-FI" sz="3000" b="1">
              <a:solidFill>
                <a:srgbClr val="FFD65C"/>
              </a:solidFill>
              <a:latin typeface="Calibri" panose="020F05020202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61831AF-FB46-0D7D-9DC9-F85BE4A6A059}"/>
              </a:ext>
            </a:extLst>
          </p:cNvPr>
          <p:cNvSpPr txBox="1"/>
          <p:nvPr/>
        </p:nvSpPr>
        <p:spPr>
          <a:xfrm>
            <a:off x="685800" y="1422400"/>
            <a:ext cx="10820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400">
                <a:solidFill>
                  <a:srgbClr val="9E9E9E"/>
                </a:solidFill>
                <a:latin typeface="Calibri" panose="020F0502020204030204" pitchFamily="34" charset="0"/>
              </a:rPr>
              <a:t>A quick checklist so your first days go smoothly.</a:t>
            </a:r>
            <a:endParaRPr lang="fi-FI" sz="1400">
              <a:solidFill>
                <a:srgbClr val="9E9E9E"/>
              </a:solidFill>
              <a:latin typeface="Calibri" panose="020F0502020204030204" pitchFamily="34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C148D40-93F0-A0AD-0728-025B7B0B4E01}"/>
              </a:ext>
            </a:extLst>
          </p:cNvPr>
          <p:cNvSpPr/>
          <p:nvPr/>
        </p:nvSpPr>
        <p:spPr>
          <a:xfrm>
            <a:off x="685800" y="2057400"/>
            <a:ext cx="3471333" cy="1917700"/>
          </a:xfrm>
          <a:prstGeom prst="roundRect">
            <a:avLst>
              <a:gd name="adj" fmla="val 7000"/>
            </a:avLst>
          </a:prstGeom>
          <a:solidFill>
            <a:srgbClr val="1A1A1B"/>
          </a:solidFill>
          <a:ln w="12700">
            <a:solidFill>
              <a:srgbClr val="3838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77800" tIns="114300" rIns="152400" bIns="101600" rtlCol="0" anchor="t"/>
          <a:lstStyle/>
          <a:p>
            <a:r>
              <a:rPr lang="en-US" sz="1400" b="1">
                <a:solidFill>
                  <a:srgbClr val="FFD65C"/>
                </a:solidFill>
                <a:latin typeface="Calibri" panose="020F0502020204030204" pitchFamily="34" charset="0"/>
              </a:rPr>
              <a:t>Documents</a:t>
            </a:r>
          </a:p>
          <a:p>
            <a:r>
              <a:rPr lang="en-US" sz="1150">
                <a:solidFill>
                  <a:srgbClr val="E6E6E6"/>
                </a:solidFill>
                <a:latin typeface="Calibri" panose="020F0502020204030204" pitchFamily="34" charset="0"/>
              </a:rPr>
              <a:t>Passport, visa and residence permit ready before travel.</a:t>
            </a:r>
            <a:endParaRPr lang="fi-FI" sz="1150">
              <a:solidFill>
                <a:srgbClr val="E6E6E6"/>
              </a:solidFill>
              <a:latin typeface="Calibri" panose="020F0502020204030204" pitchFamily="34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6D628F6-640B-8404-BF00-F7ECF426B874}"/>
              </a:ext>
            </a:extLst>
          </p:cNvPr>
          <p:cNvSpPr/>
          <p:nvPr/>
        </p:nvSpPr>
        <p:spPr>
          <a:xfrm>
            <a:off x="4360333" y="2057400"/>
            <a:ext cx="3471334" cy="1917700"/>
          </a:xfrm>
          <a:prstGeom prst="roundRect">
            <a:avLst>
              <a:gd name="adj" fmla="val 7000"/>
            </a:avLst>
          </a:prstGeom>
          <a:solidFill>
            <a:srgbClr val="1A1A1B"/>
          </a:solidFill>
          <a:ln w="12700">
            <a:solidFill>
              <a:srgbClr val="3838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77800" tIns="114300" rIns="152400" bIns="101600" rtlCol="0" anchor="t"/>
          <a:lstStyle/>
          <a:p>
            <a:r>
              <a:rPr lang="en-US" sz="1400" b="1">
                <a:solidFill>
                  <a:srgbClr val="FFD65C"/>
                </a:solidFill>
                <a:latin typeface="Calibri" panose="020F0502020204030204" pitchFamily="34" charset="0"/>
              </a:rPr>
              <a:t>Housing &amp; moving</a:t>
            </a:r>
          </a:p>
          <a:p>
            <a:r>
              <a:rPr lang="en-US" sz="1150">
                <a:solidFill>
                  <a:srgbClr val="E6E6E6"/>
                </a:solidFill>
                <a:latin typeface="Calibri" panose="020F0502020204030204" pitchFamily="34" charset="0"/>
              </a:rPr>
              <a:t>Arrange somewhere to live and plan your move.</a:t>
            </a:r>
            <a:endParaRPr lang="fi-FI" sz="1150">
              <a:solidFill>
                <a:srgbClr val="E6E6E6"/>
              </a:solidFill>
              <a:latin typeface="Calibri" panose="020F0502020204030204" pitchFamily="34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E1584FB-4864-46FF-40DA-5729CEBD5D22}"/>
              </a:ext>
            </a:extLst>
          </p:cNvPr>
          <p:cNvSpPr/>
          <p:nvPr/>
        </p:nvSpPr>
        <p:spPr>
          <a:xfrm>
            <a:off x="8034867" y="2057400"/>
            <a:ext cx="3471333" cy="1917700"/>
          </a:xfrm>
          <a:prstGeom prst="roundRect">
            <a:avLst>
              <a:gd name="adj" fmla="val 7000"/>
            </a:avLst>
          </a:prstGeom>
          <a:solidFill>
            <a:srgbClr val="1A1A1B"/>
          </a:solidFill>
          <a:ln w="12700">
            <a:solidFill>
              <a:srgbClr val="3838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77800" tIns="114300" rIns="152400" bIns="101600" rtlCol="0" anchor="t"/>
          <a:lstStyle/>
          <a:p>
            <a:r>
              <a:rPr lang="en-US" sz="1400" b="1">
                <a:solidFill>
                  <a:srgbClr val="FFD65C"/>
                </a:solidFill>
                <a:latin typeface="Calibri" panose="020F0502020204030204" pitchFamily="34" charset="0"/>
              </a:rPr>
              <a:t>Travel</a:t>
            </a:r>
          </a:p>
          <a:p>
            <a:r>
              <a:rPr lang="en-US" sz="1150">
                <a:solidFill>
                  <a:srgbClr val="E6E6E6"/>
                </a:solidFill>
                <a:latin typeface="Calibri" panose="020F0502020204030204" pitchFamily="34" charset="0"/>
              </a:rPr>
              <a:t>Flights booked and airport transfer to your new home.</a:t>
            </a:r>
            <a:endParaRPr lang="fi-FI" sz="1150">
              <a:solidFill>
                <a:srgbClr val="E6E6E6"/>
              </a:solidFill>
              <a:latin typeface="Calibri" panose="020F0502020204030204" pitchFamily="34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4556D36-FA4E-451E-ED06-739FBC6432F6}"/>
              </a:ext>
            </a:extLst>
          </p:cNvPr>
          <p:cNvSpPr/>
          <p:nvPr/>
        </p:nvSpPr>
        <p:spPr>
          <a:xfrm>
            <a:off x="685800" y="4152900"/>
            <a:ext cx="3471333" cy="1917700"/>
          </a:xfrm>
          <a:prstGeom prst="roundRect">
            <a:avLst>
              <a:gd name="adj" fmla="val 7000"/>
            </a:avLst>
          </a:prstGeom>
          <a:solidFill>
            <a:srgbClr val="1A1A1B"/>
          </a:solidFill>
          <a:ln w="12700">
            <a:solidFill>
              <a:srgbClr val="3838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77800" tIns="114300" rIns="152400" bIns="101600" rtlCol="0" anchor="t"/>
          <a:lstStyle/>
          <a:p>
            <a:r>
              <a:rPr lang="en-US" sz="1400" b="1">
                <a:solidFill>
                  <a:srgbClr val="FFD65C"/>
                </a:solidFill>
                <a:latin typeface="Calibri" panose="020F0502020204030204" pitchFamily="34" charset="0"/>
              </a:rPr>
              <a:t>Finland basics</a:t>
            </a:r>
          </a:p>
          <a:p>
            <a:r>
              <a:rPr lang="en-US" sz="1150">
                <a:solidFill>
                  <a:srgbClr val="E6E6E6"/>
                </a:solidFill>
                <a:latin typeface="Calibri" panose="020F0502020204030204" pitchFamily="34" charset="0"/>
              </a:rPr>
              <a:t>Cost of living, transport and daily practicalities.</a:t>
            </a:r>
            <a:endParaRPr lang="fi-FI" sz="1150">
              <a:solidFill>
                <a:srgbClr val="E6E6E6"/>
              </a:solidFill>
              <a:latin typeface="Calibri" panose="020F0502020204030204" pitchFamily="34" charset="0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5D340B3D-9EF3-86C0-5931-AA59BF382EDA}"/>
              </a:ext>
            </a:extLst>
          </p:cNvPr>
          <p:cNvSpPr/>
          <p:nvPr/>
        </p:nvSpPr>
        <p:spPr>
          <a:xfrm>
            <a:off x="4360333" y="4152900"/>
            <a:ext cx="3471334" cy="1917700"/>
          </a:xfrm>
          <a:prstGeom prst="roundRect">
            <a:avLst>
              <a:gd name="adj" fmla="val 7000"/>
            </a:avLst>
          </a:prstGeom>
          <a:solidFill>
            <a:srgbClr val="1A1A1B"/>
          </a:solidFill>
          <a:ln w="12700">
            <a:solidFill>
              <a:srgbClr val="3838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77800" tIns="114300" rIns="152400" bIns="101600" rtlCol="0" anchor="t"/>
          <a:lstStyle/>
          <a:p>
            <a:r>
              <a:rPr lang="en-US" sz="1400" b="1">
                <a:solidFill>
                  <a:srgbClr val="FFD65C"/>
                </a:solidFill>
                <a:latin typeface="Calibri" panose="020F0502020204030204" pitchFamily="34" charset="0"/>
              </a:rPr>
              <a:t>Your contract</a:t>
            </a:r>
          </a:p>
          <a:p>
            <a:r>
              <a:rPr lang="en-US" sz="1150">
                <a:solidFill>
                  <a:srgbClr val="E6E6E6"/>
                </a:solidFill>
                <a:latin typeface="Calibri" panose="020F0502020204030204" pitchFamily="34" charset="0"/>
              </a:rPr>
              <a:t>Read your employment contract overview in advance.</a:t>
            </a:r>
            <a:endParaRPr lang="fi-FI" sz="1150">
              <a:solidFill>
                <a:srgbClr val="E6E6E6"/>
              </a:solidFill>
              <a:latin typeface="Calibri" panose="020F0502020204030204" pitchFamily="34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CC8CE8F9-A011-C6EC-9614-6AF1815448E4}"/>
              </a:ext>
            </a:extLst>
          </p:cNvPr>
          <p:cNvSpPr/>
          <p:nvPr/>
        </p:nvSpPr>
        <p:spPr>
          <a:xfrm>
            <a:off x="8034867" y="4152900"/>
            <a:ext cx="3471333" cy="1917700"/>
          </a:xfrm>
          <a:prstGeom prst="roundRect">
            <a:avLst>
              <a:gd name="adj" fmla="val 7000"/>
            </a:avLst>
          </a:prstGeom>
          <a:solidFill>
            <a:srgbClr val="1A1A1B"/>
          </a:solidFill>
          <a:ln w="12700">
            <a:solidFill>
              <a:srgbClr val="3838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77800" tIns="114300" rIns="152400" bIns="101600" rtlCol="0" anchor="t"/>
          <a:lstStyle/>
          <a:p>
            <a:r>
              <a:rPr lang="en-US" sz="1400" b="1">
                <a:solidFill>
                  <a:srgbClr val="FFD65C"/>
                </a:solidFill>
                <a:latin typeface="Calibri" panose="020F0502020204030204" pitchFamily="34" charset="0"/>
              </a:rPr>
              <a:t>Your contacts</a:t>
            </a:r>
          </a:p>
          <a:p>
            <a:r>
              <a:rPr lang="en-US" sz="1150">
                <a:solidFill>
                  <a:srgbClr val="E6E6E6"/>
                </a:solidFill>
                <a:latin typeface="Calibri" panose="020F0502020204030204" pitchFamily="34" charset="0"/>
              </a:rPr>
              <a:t>Team manager, HR and relocation services (if included).</a:t>
            </a:r>
            <a:endParaRPr lang="fi-FI" sz="1150">
              <a:solidFill>
                <a:srgbClr val="E6E6E6"/>
              </a:solidFill>
              <a:latin typeface="Calibri" panose="020F050202020403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9820D04-091C-8C73-976F-15ECEFECE9CE}"/>
              </a:ext>
            </a:extLst>
          </p:cNvPr>
          <p:cNvSpPr txBox="1"/>
          <p:nvPr/>
        </p:nvSpPr>
        <p:spPr>
          <a:xfrm>
            <a:off x="685800" y="6477000"/>
            <a:ext cx="812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i-FI" sz="1000">
                <a:solidFill>
                  <a:srgbClr val="6E6E6E"/>
                </a:solidFill>
                <a:latin typeface="Calibri" panose="020F0502020204030204" pitchFamily="34" charset="0"/>
              </a:rPr>
              <a:t>Taru HR   ·   Expat Employee Guide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9209C25-E789-DE2D-411E-519A76BE4431}"/>
              </a:ext>
            </a:extLst>
          </p:cNvPr>
          <p:cNvSpPr txBox="1"/>
          <p:nvPr/>
        </p:nvSpPr>
        <p:spPr>
          <a:xfrm>
            <a:off x="10896600" y="6451600"/>
            <a:ext cx="609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fi-FI" sz="1100" b="1">
                <a:solidFill>
                  <a:srgbClr val="FFD65C"/>
                </a:solidFill>
                <a:latin typeface="Calibri" panose="020F0502020204030204" pitchFamily="34" charset="0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5211021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E1F6B00-264A-AC0C-1207-FE0F2E72C178}"/>
              </a:ext>
            </a:extLst>
          </p:cNvPr>
          <p:cNvSpPr txBox="1"/>
          <p:nvPr/>
        </p:nvSpPr>
        <p:spPr>
          <a:xfrm>
            <a:off x="685800" y="508000"/>
            <a:ext cx="10820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i-FI" sz="1300" b="1">
                <a:solidFill>
                  <a:srgbClr val="FFD65C"/>
                </a:solidFill>
                <a:latin typeface="Calibri" panose="020F0502020204030204" pitchFamily="34" charset="0"/>
              </a:rPr>
              <a:t>01  ·  BEFORE YOU ARRIVE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834CBA8-4466-5625-5E80-47FA702C2B70}"/>
              </a:ext>
            </a:extLst>
          </p:cNvPr>
          <p:cNvSpPr txBox="1"/>
          <p:nvPr/>
        </p:nvSpPr>
        <p:spPr>
          <a:xfrm>
            <a:off x="685800" y="787400"/>
            <a:ext cx="10820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i-FI" sz="3000" b="1">
                <a:solidFill>
                  <a:srgbClr val="FFD65C"/>
                </a:solidFill>
                <a:latin typeface="Calibri" panose="020F0502020204030204" pitchFamily="34" charset="0"/>
              </a:rPr>
              <a:t>Visa &amp; residence permit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52563D5-A3BA-CBD2-4BEA-9E16C4A9C068}"/>
              </a:ext>
            </a:extLst>
          </p:cNvPr>
          <p:cNvSpPr txBox="1"/>
          <p:nvPr/>
        </p:nvSpPr>
        <p:spPr>
          <a:xfrm>
            <a:off x="685800" y="1422400"/>
            <a:ext cx="10820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400">
                <a:solidFill>
                  <a:srgbClr val="9E9E9E"/>
                </a:solidFill>
                <a:latin typeface="Calibri" panose="020F0502020204030204" pitchFamily="34" charset="0"/>
              </a:rPr>
              <a:t>Make sure you can live and work in Finland legally before you arrive.</a:t>
            </a:r>
            <a:endParaRPr lang="fi-FI" sz="1400">
              <a:solidFill>
                <a:srgbClr val="9E9E9E"/>
              </a:solidFill>
              <a:latin typeface="Calibri" panose="020F0502020204030204" pitchFamily="34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DC072B2-04ED-C36D-8824-7ED6F9883DF8}"/>
              </a:ext>
            </a:extLst>
          </p:cNvPr>
          <p:cNvSpPr/>
          <p:nvPr/>
        </p:nvSpPr>
        <p:spPr>
          <a:xfrm>
            <a:off x="685800" y="1981200"/>
            <a:ext cx="5308600" cy="1066800"/>
          </a:xfrm>
          <a:prstGeom prst="roundRect">
            <a:avLst>
              <a:gd name="adj" fmla="val 7000"/>
            </a:avLst>
          </a:prstGeom>
          <a:solidFill>
            <a:srgbClr val="1A1A1B"/>
          </a:solidFill>
          <a:ln w="12700">
            <a:solidFill>
              <a:srgbClr val="3838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77800" tIns="114300" rIns="152400" bIns="101600" rtlCol="0" anchor="t"/>
          <a:lstStyle/>
          <a:p>
            <a:r>
              <a:rPr lang="en-US" sz="1350" b="1">
                <a:solidFill>
                  <a:srgbClr val="FFD65C"/>
                </a:solidFill>
                <a:latin typeface="Calibri" panose="020F0502020204030204" pitchFamily="34" charset="0"/>
              </a:rPr>
              <a:t>EU / EEA &amp; Swiss citizens</a:t>
            </a:r>
          </a:p>
          <a:p>
            <a:r>
              <a:rPr lang="en-US" sz="1150">
                <a:solidFill>
                  <a:srgbClr val="E6E6E6"/>
                </a:solidFill>
                <a:latin typeface="Calibri" panose="020F0502020204030204" pitchFamily="34" charset="0"/>
              </a:rPr>
              <a:t>No visa needed. Registration may be required for stays over 90 days.</a:t>
            </a:r>
            <a:endParaRPr lang="fi-FI" sz="1150">
              <a:solidFill>
                <a:srgbClr val="E6E6E6"/>
              </a:solidFill>
              <a:latin typeface="Calibri" panose="020F0502020204030204" pitchFamily="34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1D6FA37-B460-750E-00D2-44BD856AC684}"/>
              </a:ext>
            </a:extLst>
          </p:cNvPr>
          <p:cNvSpPr/>
          <p:nvPr/>
        </p:nvSpPr>
        <p:spPr>
          <a:xfrm>
            <a:off x="6197600" y="1981200"/>
            <a:ext cx="5308600" cy="1066800"/>
          </a:xfrm>
          <a:prstGeom prst="roundRect">
            <a:avLst>
              <a:gd name="adj" fmla="val 7000"/>
            </a:avLst>
          </a:prstGeom>
          <a:solidFill>
            <a:srgbClr val="1A1A1B"/>
          </a:solidFill>
          <a:ln w="12700">
            <a:solidFill>
              <a:srgbClr val="3838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77800" tIns="114300" rIns="152400" bIns="101600" rtlCol="0" anchor="t"/>
          <a:lstStyle/>
          <a:p>
            <a:r>
              <a:rPr lang="en-US" sz="1350" b="1">
                <a:solidFill>
                  <a:srgbClr val="FFD65C"/>
                </a:solidFill>
                <a:latin typeface="Calibri" panose="020F0502020204030204" pitchFamily="34" charset="0"/>
              </a:rPr>
              <a:t>Non-EU / EEA citizens</a:t>
            </a:r>
          </a:p>
          <a:p>
            <a:r>
              <a:rPr lang="en-US" sz="1150">
                <a:solidFill>
                  <a:srgbClr val="E6E6E6"/>
                </a:solidFill>
                <a:latin typeface="Calibri" panose="020F0502020204030204" pitchFamily="34" charset="0"/>
              </a:rPr>
              <a:t>A residence permit for employment is generally required before arriving.</a:t>
            </a:r>
            <a:endParaRPr lang="fi-FI" sz="1150">
              <a:solidFill>
                <a:srgbClr val="E6E6E6"/>
              </a:solidFill>
              <a:latin typeface="Calibri" panose="020F05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A2FE069-168C-4935-90A8-F24B2A17C86E}"/>
              </a:ext>
            </a:extLst>
          </p:cNvPr>
          <p:cNvSpPr txBox="1"/>
          <p:nvPr/>
        </p:nvSpPr>
        <p:spPr>
          <a:xfrm>
            <a:off x="685800" y="3175000"/>
            <a:ext cx="10820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i-FI" sz="1200" b="1">
                <a:solidFill>
                  <a:srgbClr val="FFD65C"/>
                </a:solidFill>
                <a:latin typeface="Calibri" panose="020F0502020204030204" pitchFamily="34" charset="0"/>
              </a:rPr>
              <a:t>APPLICATION PROCESS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9C3BF11-05A8-4F89-9175-5627EA70BC67}"/>
              </a:ext>
            </a:extLst>
          </p:cNvPr>
          <p:cNvSpPr/>
          <p:nvPr/>
        </p:nvSpPr>
        <p:spPr>
          <a:xfrm>
            <a:off x="685800" y="3454400"/>
            <a:ext cx="2001520" cy="1270000"/>
          </a:xfrm>
          <a:prstGeom prst="roundRect">
            <a:avLst>
              <a:gd name="adj" fmla="val 7000"/>
            </a:avLst>
          </a:prstGeom>
          <a:solidFill>
            <a:srgbClr val="1A1A1B"/>
          </a:solidFill>
          <a:ln w="12700">
            <a:solidFill>
              <a:srgbClr val="3838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65100" tIns="88900" rIns="127000" bIns="88900" rtlCol="0" anchor="ctr"/>
          <a:lstStyle/>
          <a:p>
            <a:r>
              <a:rPr lang="en-US" sz="1300" b="1">
                <a:solidFill>
                  <a:srgbClr val="FFD65C"/>
                </a:solidFill>
                <a:latin typeface="Calibri" panose="020F0502020204030204" pitchFamily="34" charset="0"/>
              </a:rPr>
              <a:t>01</a:t>
            </a:r>
            <a:r>
              <a:rPr lang="en-US" sz="1300">
                <a:solidFill>
                  <a:srgbClr val="E6E6E6"/>
                </a:solidFill>
                <a:latin typeface="Calibri" panose="020F0502020204030204" pitchFamily="34" charset="0"/>
              </a:rPr>
              <a:t>    Receive your employment contract</a:t>
            </a:r>
            <a:endParaRPr lang="fi-FI" sz="1300">
              <a:solidFill>
                <a:srgbClr val="E6E6E6"/>
              </a:solidFill>
              <a:latin typeface="Calibri" panose="020F0502020204030204" pitchFamily="34" charset="0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4C87D358-215A-3949-3EF1-56DD6C6A6FDD}"/>
              </a:ext>
            </a:extLst>
          </p:cNvPr>
          <p:cNvSpPr/>
          <p:nvPr/>
        </p:nvSpPr>
        <p:spPr>
          <a:xfrm>
            <a:off x="2890520" y="3454400"/>
            <a:ext cx="2001520" cy="1270000"/>
          </a:xfrm>
          <a:prstGeom prst="roundRect">
            <a:avLst>
              <a:gd name="adj" fmla="val 7000"/>
            </a:avLst>
          </a:prstGeom>
          <a:solidFill>
            <a:srgbClr val="1A1A1B"/>
          </a:solidFill>
          <a:ln w="12700">
            <a:solidFill>
              <a:srgbClr val="3838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65100" tIns="88900" rIns="127000" bIns="88900" rtlCol="0" anchor="ctr"/>
          <a:lstStyle/>
          <a:p>
            <a:r>
              <a:rPr lang="en-US" sz="1300" b="1">
                <a:solidFill>
                  <a:srgbClr val="FFD65C"/>
                </a:solidFill>
                <a:latin typeface="Calibri" panose="020F0502020204030204" pitchFamily="34" charset="0"/>
              </a:rPr>
              <a:t>02</a:t>
            </a:r>
            <a:r>
              <a:rPr lang="en-US" sz="1300">
                <a:solidFill>
                  <a:srgbClr val="E6E6E6"/>
                </a:solidFill>
                <a:latin typeface="Calibri" panose="020F0502020204030204" pitchFamily="34" charset="0"/>
              </a:rPr>
              <a:t>    Apply for the right residence permit</a:t>
            </a:r>
            <a:endParaRPr lang="fi-FI" sz="1300">
              <a:solidFill>
                <a:srgbClr val="E6E6E6"/>
              </a:solidFill>
              <a:latin typeface="Calibri" panose="020F0502020204030204" pitchFamily="34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77627D1A-CD16-0B8C-F2D2-868CDA9A136D}"/>
              </a:ext>
            </a:extLst>
          </p:cNvPr>
          <p:cNvSpPr/>
          <p:nvPr/>
        </p:nvSpPr>
        <p:spPr>
          <a:xfrm>
            <a:off x="5095240" y="3454400"/>
            <a:ext cx="2001521" cy="1270000"/>
          </a:xfrm>
          <a:prstGeom prst="roundRect">
            <a:avLst>
              <a:gd name="adj" fmla="val 7000"/>
            </a:avLst>
          </a:prstGeom>
          <a:solidFill>
            <a:srgbClr val="1A1A1B"/>
          </a:solidFill>
          <a:ln w="12700">
            <a:solidFill>
              <a:srgbClr val="3838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65100" tIns="88900" rIns="127000" bIns="88900" rtlCol="0" anchor="ctr"/>
          <a:lstStyle/>
          <a:p>
            <a:r>
              <a:rPr lang="en-US" sz="1300" b="1">
                <a:solidFill>
                  <a:srgbClr val="FFD65C"/>
                </a:solidFill>
                <a:latin typeface="Calibri" panose="020F0502020204030204" pitchFamily="34" charset="0"/>
              </a:rPr>
              <a:t>03</a:t>
            </a:r>
            <a:r>
              <a:rPr lang="en-US" sz="1300">
                <a:solidFill>
                  <a:srgbClr val="E6E6E6"/>
                </a:solidFill>
                <a:latin typeface="Calibri" panose="020F0502020204030204" pitchFamily="34" charset="0"/>
              </a:rPr>
              <a:t>    Verify your identity at an embassy / service point</a:t>
            </a:r>
            <a:endParaRPr lang="fi-FI" sz="1300">
              <a:solidFill>
                <a:srgbClr val="E6E6E6"/>
              </a:solidFill>
              <a:latin typeface="Calibri" panose="020F0502020204030204" pitchFamily="34" charset="0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9F7DC75-AE7C-FAA1-13F8-1ACA02CC8D30}"/>
              </a:ext>
            </a:extLst>
          </p:cNvPr>
          <p:cNvSpPr/>
          <p:nvPr/>
        </p:nvSpPr>
        <p:spPr>
          <a:xfrm>
            <a:off x="7299960" y="3454400"/>
            <a:ext cx="2001520" cy="1270000"/>
          </a:xfrm>
          <a:prstGeom prst="roundRect">
            <a:avLst>
              <a:gd name="adj" fmla="val 7000"/>
            </a:avLst>
          </a:prstGeom>
          <a:solidFill>
            <a:srgbClr val="1A1A1B"/>
          </a:solidFill>
          <a:ln w="12700">
            <a:solidFill>
              <a:srgbClr val="3838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65100" tIns="88900" rIns="127000" bIns="88900" rtlCol="0" anchor="ctr"/>
          <a:lstStyle/>
          <a:p>
            <a:r>
              <a:rPr lang="en-US" sz="1300" b="1">
                <a:solidFill>
                  <a:srgbClr val="FFD65C"/>
                </a:solidFill>
                <a:latin typeface="Calibri" panose="020F0502020204030204" pitchFamily="34" charset="0"/>
              </a:rPr>
              <a:t>04</a:t>
            </a:r>
            <a:r>
              <a:rPr lang="en-US" sz="1300">
                <a:solidFill>
                  <a:srgbClr val="E6E6E6"/>
                </a:solidFill>
                <a:latin typeface="Calibri" panose="020F0502020204030204" pitchFamily="34" charset="0"/>
              </a:rPr>
              <a:t>    Wait for the decision</a:t>
            </a:r>
            <a:endParaRPr lang="fi-FI" sz="1300">
              <a:solidFill>
                <a:srgbClr val="E6E6E6"/>
              </a:solidFill>
              <a:latin typeface="Calibri" panose="020F0502020204030204" pitchFamily="34" charset="0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5A8B1A04-C4B9-9976-A866-14802280E431}"/>
              </a:ext>
            </a:extLst>
          </p:cNvPr>
          <p:cNvSpPr/>
          <p:nvPr/>
        </p:nvSpPr>
        <p:spPr>
          <a:xfrm>
            <a:off x="9504680" y="3454400"/>
            <a:ext cx="2001520" cy="1270000"/>
          </a:xfrm>
          <a:prstGeom prst="roundRect">
            <a:avLst>
              <a:gd name="adj" fmla="val 7000"/>
            </a:avLst>
          </a:prstGeom>
          <a:solidFill>
            <a:srgbClr val="1A1A1B"/>
          </a:solidFill>
          <a:ln w="12700">
            <a:solidFill>
              <a:srgbClr val="3838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65100" tIns="88900" rIns="127000" bIns="88900" rtlCol="0" anchor="ctr"/>
          <a:lstStyle/>
          <a:p>
            <a:r>
              <a:rPr lang="en-US" sz="1300" b="1">
                <a:solidFill>
                  <a:srgbClr val="FFD65C"/>
                </a:solidFill>
                <a:latin typeface="Calibri" panose="020F0502020204030204" pitchFamily="34" charset="0"/>
              </a:rPr>
              <a:t>05</a:t>
            </a:r>
            <a:r>
              <a:rPr lang="en-US" sz="1300">
                <a:solidFill>
                  <a:srgbClr val="E6E6E6"/>
                </a:solidFill>
                <a:latin typeface="Calibri" panose="020F0502020204030204" pitchFamily="34" charset="0"/>
              </a:rPr>
              <a:t>    Travel to Finland after approval</a:t>
            </a:r>
            <a:endParaRPr lang="fi-FI" sz="1300">
              <a:solidFill>
                <a:srgbClr val="E6E6E6"/>
              </a:solidFill>
              <a:latin typeface="Calibri" panose="020F0502020204030204" pitchFamily="34" charset="0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DD7139D7-7239-2C0A-A087-B94FD1ADDBD8}"/>
              </a:ext>
            </a:extLst>
          </p:cNvPr>
          <p:cNvSpPr/>
          <p:nvPr/>
        </p:nvSpPr>
        <p:spPr>
          <a:xfrm>
            <a:off x="685800" y="4927600"/>
            <a:ext cx="10820400" cy="508000"/>
          </a:xfrm>
          <a:prstGeom prst="roundRect">
            <a:avLst>
              <a:gd name="adj" fmla="val 7000"/>
            </a:avLst>
          </a:prstGeom>
          <a:solidFill>
            <a:srgbClr val="1A1A1B"/>
          </a:solidFill>
          <a:ln w="15875">
            <a:solidFill>
              <a:srgbClr val="FFD6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03200" tIns="101600" rIns="177800" bIns="101600" rtlCol="0" anchor="ctr"/>
          <a:lstStyle/>
          <a:p>
            <a:r>
              <a:rPr lang="en-US" sz="1300" b="1">
                <a:solidFill>
                  <a:srgbClr val="FFD65C"/>
                </a:solidFill>
                <a:latin typeface="Calibri" panose="020F0502020204030204" pitchFamily="34" charset="0"/>
              </a:rPr>
              <a:t>Remember</a:t>
            </a:r>
            <a:r>
              <a:rPr lang="en-US" sz="1300">
                <a:solidFill>
                  <a:srgbClr val="E6E6E6"/>
                </a:solidFill>
                <a:latin typeface="Calibri" panose="020F0502020204030204" pitchFamily="34" charset="0"/>
              </a:rPr>
              <a:t>   Keep your passport and permit valid, and apply well before your start date. HR can support you.</a:t>
            </a:r>
            <a:endParaRPr lang="fi-FI" sz="1300">
              <a:solidFill>
                <a:srgbClr val="E6E6E6"/>
              </a:solidFill>
              <a:latin typeface="Calibri" panose="020F050202020403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B26C217-FA56-0734-D1D5-992AB6D08868}"/>
              </a:ext>
            </a:extLst>
          </p:cNvPr>
          <p:cNvSpPr txBox="1"/>
          <p:nvPr/>
        </p:nvSpPr>
        <p:spPr>
          <a:xfrm>
            <a:off x="685800" y="6477000"/>
            <a:ext cx="812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i-FI" sz="1000">
                <a:solidFill>
                  <a:srgbClr val="6E6E6E"/>
                </a:solidFill>
                <a:latin typeface="Calibri" panose="020F0502020204030204" pitchFamily="34" charset="0"/>
              </a:rPr>
              <a:t>Taru HR   ·   Expat Employee Guide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421DA86-5772-22B3-AB8E-621D2AFAA613}"/>
              </a:ext>
            </a:extLst>
          </p:cNvPr>
          <p:cNvSpPr txBox="1"/>
          <p:nvPr/>
        </p:nvSpPr>
        <p:spPr>
          <a:xfrm>
            <a:off x="10896600" y="6451600"/>
            <a:ext cx="609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fi-FI" sz="1100" b="1">
                <a:solidFill>
                  <a:srgbClr val="FFD65C"/>
                </a:solidFill>
                <a:latin typeface="Calibri" panose="020F0502020204030204" pitchFamily="34" charset="0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1339565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CADD3EA-F6C1-3FE9-595A-1A5D251421AC}"/>
              </a:ext>
            </a:extLst>
          </p:cNvPr>
          <p:cNvSpPr txBox="1"/>
          <p:nvPr/>
        </p:nvSpPr>
        <p:spPr>
          <a:xfrm>
            <a:off x="685800" y="508000"/>
            <a:ext cx="10820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i-FI" sz="1300" b="1">
                <a:solidFill>
                  <a:srgbClr val="FFD65C"/>
                </a:solidFill>
                <a:latin typeface="Calibri" panose="020F0502020204030204" pitchFamily="34" charset="0"/>
              </a:rPr>
              <a:t>01  ·  BEFORE YOU ARRIVE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47EF1F9-22E8-6AFC-0C32-742B1BF163F5}"/>
              </a:ext>
            </a:extLst>
          </p:cNvPr>
          <p:cNvSpPr txBox="1"/>
          <p:nvPr/>
        </p:nvSpPr>
        <p:spPr>
          <a:xfrm>
            <a:off x="685800" y="787400"/>
            <a:ext cx="10820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i-FI" sz="3000" b="1">
                <a:solidFill>
                  <a:srgbClr val="FFD65C"/>
                </a:solidFill>
                <a:latin typeface="Calibri" panose="020F0502020204030204" pitchFamily="34" charset="0"/>
              </a:rPr>
              <a:t>Employment contract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36197A5-BABE-61C2-4750-EB9F83A78592}"/>
              </a:ext>
            </a:extLst>
          </p:cNvPr>
          <p:cNvSpPr txBox="1"/>
          <p:nvPr/>
        </p:nvSpPr>
        <p:spPr>
          <a:xfrm>
            <a:off x="685800" y="1422400"/>
            <a:ext cx="10820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400">
                <a:solidFill>
                  <a:srgbClr val="9E9E9E"/>
                </a:solidFill>
                <a:latin typeface="Calibri" panose="020F0502020204030204" pitchFamily="34" charset="0"/>
              </a:rPr>
              <a:t>Check these before you sign, and keep a signed copy.</a:t>
            </a:r>
            <a:endParaRPr lang="fi-FI" sz="1400">
              <a:solidFill>
                <a:srgbClr val="9E9E9E"/>
              </a:solidFill>
              <a:latin typeface="Calibri" panose="020F0502020204030204" pitchFamily="34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9BCD7286-6E71-B80E-D3CF-D32FE39EA32B}"/>
              </a:ext>
            </a:extLst>
          </p:cNvPr>
          <p:cNvSpPr/>
          <p:nvPr/>
        </p:nvSpPr>
        <p:spPr>
          <a:xfrm>
            <a:off x="685800" y="1905000"/>
            <a:ext cx="2552700" cy="1612900"/>
          </a:xfrm>
          <a:prstGeom prst="roundRect">
            <a:avLst>
              <a:gd name="adj" fmla="val 7000"/>
            </a:avLst>
          </a:prstGeom>
          <a:solidFill>
            <a:srgbClr val="1A1A1B"/>
          </a:solidFill>
          <a:ln w="12700">
            <a:solidFill>
              <a:srgbClr val="3838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77800" tIns="114300" rIns="152400" bIns="101600" rtlCol="0" anchor="t"/>
          <a:lstStyle/>
          <a:p>
            <a:r>
              <a:rPr lang="en-US" sz="1250" b="1">
                <a:solidFill>
                  <a:srgbClr val="FFD65C"/>
                </a:solidFill>
                <a:latin typeface="Calibri" panose="020F0502020204030204" pitchFamily="34" charset="0"/>
              </a:rPr>
              <a:t>Job title &amp; duties</a:t>
            </a:r>
          </a:p>
          <a:p>
            <a:r>
              <a:rPr lang="en-US" sz="1050">
                <a:solidFill>
                  <a:srgbClr val="E6E6E6"/>
                </a:solidFill>
                <a:latin typeface="Calibri" panose="020F0502020204030204" pitchFamily="34" charset="0"/>
              </a:rPr>
              <a:t>Your role, reporting line and main responsibilities.</a:t>
            </a:r>
            <a:endParaRPr lang="fi-FI" sz="1050">
              <a:solidFill>
                <a:srgbClr val="E6E6E6"/>
              </a:solidFill>
              <a:latin typeface="Calibri" panose="020F0502020204030204" pitchFamily="34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1F24B05-FFBD-6389-1138-51EEFE0A742D}"/>
              </a:ext>
            </a:extLst>
          </p:cNvPr>
          <p:cNvSpPr/>
          <p:nvPr/>
        </p:nvSpPr>
        <p:spPr>
          <a:xfrm>
            <a:off x="3441700" y="1905000"/>
            <a:ext cx="2552700" cy="1612900"/>
          </a:xfrm>
          <a:prstGeom prst="roundRect">
            <a:avLst>
              <a:gd name="adj" fmla="val 7000"/>
            </a:avLst>
          </a:prstGeom>
          <a:solidFill>
            <a:srgbClr val="1A1A1B"/>
          </a:solidFill>
          <a:ln w="12700">
            <a:solidFill>
              <a:srgbClr val="3838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77800" tIns="114300" rIns="152400" bIns="101600" rtlCol="0" anchor="t"/>
          <a:lstStyle/>
          <a:p>
            <a:r>
              <a:rPr lang="en-US" sz="1250" b="1">
                <a:solidFill>
                  <a:srgbClr val="FFD65C"/>
                </a:solidFill>
                <a:latin typeface="Calibri" panose="020F0502020204030204" pitchFamily="34" charset="0"/>
              </a:rPr>
              <a:t>Employment type</a:t>
            </a:r>
          </a:p>
          <a:p>
            <a:r>
              <a:rPr lang="en-US" sz="1050">
                <a:solidFill>
                  <a:srgbClr val="E6E6E6"/>
                </a:solidFill>
                <a:latin typeface="Calibri" panose="020F0502020204030204" pitchFamily="34" charset="0"/>
              </a:rPr>
              <a:t>Permanent or fixed-term, full- or part-time.</a:t>
            </a:r>
            <a:endParaRPr lang="fi-FI" sz="1050">
              <a:solidFill>
                <a:srgbClr val="E6E6E6"/>
              </a:solidFill>
              <a:latin typeface="Calibri" panose="020F0502020204030204" pitchFamily="34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32FC46B4-9AAE-3363-34F8-91D3606F8446}"/>
              </a:ext>
            </a:extLst>
          </p:cNvPr>
          <p:cNvSpPr/>
          <p:nvPr/>
        </p:nvSpPr>
        <p:spPr>
          <a:xfrm>
            <a:off x="6197600" y="1905000"/>
            <a:ext cx="2552700" cy="1612900"/>
          </a:xfrm>
          <a:prstGeom prst="roundRect">
            <a:avLst>
              <a:gd name="adj" fmla="val 7000"/>
            </a:avLst>
          </a:prstGeom>
          <a:solidFill>
            <a:srgbClr val="1A1A1B"/>
          </a:solidFill>
          <a:ln w="12700">
            <a:solidFill>
              <a:srgbClr val="3838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77800" tIns="114300" rIns="152400" bIns="101600" rtlCol="0" anchor="t"/>
          <a:lstStyle/>
          <a:p>
            <a:r>
              <a:rPr lang="en-US" sz="1250" b="1">
                <a:solidFill>
                  <a:srgbClr val="FFD65C"/>
                </a:solidFill>
                <a:latin typeface="Calibri" panose="020F0502020204030204" pitchFamily="34" charset="0"/>
              </a:rPr>
              <a:t>Working hours</a:t>
            </a:r>
          </a:p>
          <a:p>
            <a:r>
              <a:rPr lang="en-US" sz="1050">
                <a:solidFill>
                  <a:srgbClr val="E6E6E6"/>
                </a:solidFill>
                <a:latin typeface="Calibri" panose="020F0502020204030204" pitchFamily="34" charset="0"/>
              </a:rPr>
              <a:t>Weekly hours, flexibility and overtime practice.</a:t>
            </a:r>
            <a:endParaRPr lang="fi-FI" sz="1050">
              <a:solidFill>
                <a:srgbClr val="E6E6E6"/>
              </a:solidFill>
              <a:latin typeface="Calibri" panose="020F0502020204030204" pitchFamily="34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4F39B4E-D3E9-1202-222C-43748E035B6F}"/>
              </a:ext>
            </a:extLst>
          </p:cNvPr>
          <p:cNvSpPr/>
          <p:nvPr/>
        </p:nvSpPr>
        <p:spPr>
          <a:xfrm>
            <a:off x="8953500" y="1905000"/>
            <a:ext cx="2552700" cy="1612900"/>
          </a:xfrm>
          <a:prstGeom prst="roundRect">
            <a:avLst>
              <a:gd name="adj" fmla="val 7000"/>
            </a:avLst>
          </a:prstGeom>
          <a:solidFill>
            <a:srgbClr val="1A1A1B"/>
          </a:solidFill>
          <a:ln w="12700">
            <a:solidFill>
              <a:srgbClr val="3838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77800" tIns="114300" rIns="152400" bIns="101600" rtlCol="0" anchor="t"/>
          <a:lstStyle/>
          <a:p>
            <a:r>
              <a:rPr lang="en-US" sz="1250" b="1">
                <a:solidFill>
                  <a:srgbClr val="FFD65C"/>
                </a:solidFill>
                <a:latin typeface="Calibri" panose="020F0502020204030204" pitchFamily="34" charset="0"/>
              </a:rPr>
              <a:t>Salary &amp; benefits</a:t>
            </a:r>
          </a:p>
          <a:p>
            <a:r>
              <a:rPr lang="en-US" sz="1050">
                <a:solidFill>
                  <a:srgbClr val="E6E6E6"/>
                </a:solidFill>
                <a:latin typeface="Calibri" panose="020F0502020204030204" pitchFamily="34" charset="0"/>
              </a:rPr>
              <a:t>Monthly pay, pay date, bonuses and benefits.</a:t>
            </a:r>
            <a:endParaRPr lang="fi-FI" sz="1050">
              <a:solidFill>
                <a:srgbClr val="E6E6E6"/>
              </a:solidFill>
              <a:latin typeface="Calibri" panose="020F0502020204030204" pitchFamily="34" charset="0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AB991DB9-D854-AFFD-A5D5-513C44E28055}"/>
              </a:ext>
            </a:extLst>
          </p:cNvPr>
          <p:cNvSpPr/>
          <p:nvPr/>
        </p:nvSpPr>
        <p:spPr>
          <a:xfrm>
            <a:off x="685800" y="3695700"/>
            <a:ext cx="2552700" cy="1612900"/>
          </a:xfrm>
          <a:prstGeom prst="roundRect">
            <a:avLst>
              <a:gd name="adj" fmla="val 7000"/>
            </a:avLst>
          </a:prstGeom>
          <a:solidFill>
            <a:srgbClr val="1A1A1B"/>
          </a:solidFill>
          <a:ln w="12700">
            <a:solidFill>
              <a:srgbClr val="3838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77800" tIns="114300" rIns="152400" bIns="101600" rtlCol="0" anchor="t"/>
          <a:lstStyle/>
          <a:p>
            <a:r>
              <a:rPr lang="en-US" sz="1250" b="1">
                <a:solidFill>
                  <a:srgbClr val="FFD65C"/>
                </a:solidFill>
                <a:latin typeface="Calibri" panose="020F0502020204030204" pitchFamily="34" charset="0"/>
              </a:rPr>
              <a:t>Probation period</a:t>
            </a:r>
          </a:p>
          <a:p>
            <a:r>
              <a:rPr lang="en-US" sz="1050">
                <a:solidFill>
                  <a:srgbClr val="E6E6E6"/>
                </a:solidFill>
                <a:latin typeface="Calibri" panose="020F0502020204030204" pitchFamily="34" charset="0"/>
              </a:rPr>
              <a:t>Length of probation and the terms that apply.</a:t>
            </a:r>
            <a:endParaRPr lang="fi-FI" sz="1050">
              <a:solidFill>
                <a:srgbClr val="E6E6E6"/>
              </a:solidFill>
              <a:latin typeface="Calibri" panose="020F0502020204030204" pitchFamily="34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2D67ABE-686C-66B8-B6EC-6DD89F527D6A}"/>
              </a:ext>
            </a:extLst>
          </p:cNvPr>
          <p:cNvSpPr/>
          <p:nvPr/>
        </p:nvSpPr>
        <p:spPr>
          <a:xfrm>
            <a:off x="3441700" y="3695700"/>
            <a:ext cx="2552700" cy="1612900"/>
          </a:xfrm>
          <a:prstGeom prst="roundRect">
            <a:avLst>
              <a:gd name="adj" fmla="val 7000"/>
            </a:avLst>
          </a:prstGeom>
          <a:solidFill>
            <a:srgbClr val="1A1A1B"/>
          </a:solidFill>
          <a:ln w="12700">
            <a:solidFill>
              <a:srgbClr val="3838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77800" tIns="114300" rIns="152400" bIns="101600" rtlCol="0" anchor="t"/>
          <a:lstStyle/>
          <a:p>
            <a:r>
              <a:rPr lang="en-US" sz="1250" b="1">
                <a:solidFill>
                  <a:srgbClr val="FFD65C"/>
                </a:solidFill>
                <a:latin typeface="Calibri" panose="020F0502020204030204" pitchFamily="34" charset="0"/>
              </a:rPr>
              <a:t>Annual leave</a:t>
            </a:r>
          </a:p>
          <a:p>
            <a:r>
              <a:rPr lang="en-US" sz="1050">
                <a:solidFill>
                  <a:srgbClr val="E6E6E6"/>
                </a:solidFill>
                <a:latin typeface="Calibri" panose="020F0502020204030204" pitchFamily="34" charset="0"/>
              </a:rPr>
              <a:t>Your entitlement and how leave is accrued.</a:t>
            </a:r>
            <a:endParaRPr lang="fi-FI" sz="1050">
              <a:solidFill>
                <a:srgbClr val="E6E6E6"/>
              </a:solidFill>
              <a:latin typeface="Calibri" panose="020F0502020204030204" pitchFamily="34" charset="0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42D51671-C08C-E425-AE5D-DD1769BE149F}"/>
              </a:ext>
            </a:extLst>
          </p:cNvPr>
          <p:cNvSpPr/>
          <p:nvPr/>
        </p:nvSpPr>
        <p:spPr>
          <a:xfrm>
            <a:off x="6197600" y="3695700"/>
            <a:ext cx="2552700" cy="1612900"/>
          </a:xfrm>
          <a:prstGeom prst="roundRect">
            <a:avLst>
              <a:gd name="adj" fmla="val 7000"/>
            </a:avLst>
          </a:prstGeom>
          <a:solidFill>
            <a:srgbClr val="1A1A1B"/>
          </a:solidFill>
          <a:ln w="12700">
            <a:solidFill>
              <a:srgbClr val="3838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77800" tIns="114300" rIns="152400" bIns="101600" rtlCol="0" anchor="t"/>
          <a:lstStyle/>
          <a:p>
            <a:r>
              <a:rPr lang="en-US" sz="1250" b="1">
                <a:solidFill>
                  <a:srgbClr val="FFD65C"/>
                </a:solidFill>
                <a:latin typeface="Calibri" panose="020F0502020204030204" pitchFamily="34" charset="0"/>
              </a:rPr>
              <a:t>Notice period</a:t>
            </a:r>
          </a:p>
          <a:p>
            <a:r>
              <a:rPr lang="en-US" sz="1050">
                <a:solidFill>
                  <a:srgbClr val="E6E6E6"/>
                </a:solidFill>
                <a:latin typeface="Calibri" panose="020F0502020204030204" pitchFamily="34" charset="0"/>
              </a:rPr>
              <a:t>Notice for both employee and employer.</a:t>
            </a:r>
            <a:endParaRPr lang="fi-FI" sz="1050">
              <a:solidFill>
                <a:srgbClr val="E6E6E6"/>
              </a:solidFill>
              <a:latin typeface="Calibri" panose="020F0502020204030204" pitchFamily="34" charset="0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54C0CDEA-0464-902A-A063-BD30B17E730C}"/>
              </a:ext>
            </a:extLst>
          </p:cNvPr>
          <p:cNvSpPr/>
          <p:nvPr/>
        </p:nvSpPr>
        <p:spPr>
          <a:xfrm>
            <a:off x="8953500" y="3695700"/>
            <a:ext cx="2552700" cy="1612900"/>
          </a:xfrm>
          <a:prstGeom prst="roundRect">
            <a:avLst>
              <a:gd name="adj" fmla="val 7000"/>
            </a:avLst>
          </a:prstGeom>
          <a:solidFill>
            <a:srgbClr val="1A1A1B"/>
          </a:solidFill>
          <a:ln w="12700">
            <a:solidFill>
              <a:srgbClr val="3838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77800" tIns="114300" rIns="152400" bIns="101600" rtlCol="0" anchor="t"/>
          <a:lstStyle/>
          <a:p>
            <a:r>
              <a:rPr lang="en-US" sz="1250" b="1">
                <a:solidFill>
                  <a:srgbClr val="FFD65C"/>
                </a:solidFill>
                <a:latin typeface="Calibri" panose="020F0502020204030204" pitchFamily="34" charset="0"/>
              </a:rPr>
              <a:t>Collective agreement</a:t>
            </a:r>
          </a:p>
          <a:p>
            <a:r>
              <a:rPr lang="en-US" sz="1050">
                <a:solidFill>
                  <a:srgbClr val="E6E6E6"/>
                </a:solidFill>
                <a:latin typeface="Calibri" panose="020F0502020204030204" pitchFamily="34" charset="0"/>
              </a:rPr>
              <a:t>Any TES setting minimum terms for your role.</a:t>
            </a:r>
            <a:endParaRPr lang="fi-FI" sz="1050">
              <a:solidFill>
                <a:srgbClr val="E6E6E6"/>
              </a:solidFill>
              <a:latin typeface="Calibri" panose="020F0502020204030204" pitchFamily="34" charset="0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91BA2E35-8954-3A20-9761-60BD242C08EF}"/>
              </a:ext>
            </a:extLst>
          </p:cNvPr>
          <p:cNvSpPr/>
          <p:nvPr/>
        </p:nvSpPr>
        <p:spPr>
          <a:xfrm>
            <a:off x="685800" y="5435600"/>
            <a:ext cx="10820400" cy="508000"/>
          </a:xfrm>
          <a:prstGeom prst="roundRect">
            <a:avLst>
              <a:gd name="adj" fmla="val 7000"/>
            </a:avLst>
          </a:prstGeom>
          <a:solidFill>
            <a:srgbClr val="1A1A1B"/>
          </a:solidFill>
          <a:ln w="15875">
            <a:solidFill>
              <a:srgbClr val="FFD6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03200" tIns="101600" rIns="177800" bIns="101600" rtlCol="0" anchor="ctr"/>
          <a:lstStyle/>
          <a:p>
            <a:r>
              <a:rPr lang="en-US" sz="1300" b="1">
                <a:solidFill>
                  <a:srgbClr val="FFD65C"/>
                </a:solidFill>
                <a:latin typeface="Calibri" panose="020F0502020204030204" pitchFamily="34" charset="0"/>
              </a:rPr>
              <a:t>HR tip</a:t>
            </a:r>
            <a:r>
              <a:rPr lang="en-US" sz="1300">
                <a:solidFill>
                  <a:srgbClr val="E6E6E6"/>
                </a:solidFill>
                <a:latin typeface="Calibri" panose="020F0502020204030204" pitchFamily="34" charset="0"/>
              </a:rPr>
              <a:t>   If anything is unclear, ask HR before signing.</a:t>
            </a:r>
            <a:endParaRPr lang="fi-FI" sz="1300">
              <a:solidFill>
                <a:srgbClr val="E6E6E6"/>
              </a:solidFill>
              <a:latin typeface="Calibri" panose="020F050202020403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41E7ACF-5EC6-A42F-8CB0-3C346555F2B3}"/>
              </a:ext>
            </a:extLst>
          </p:cNvPr>
          <p:cNvSpPr txBox="1"/>
          <p:nvPr/>
        </p:nvSpPr>
        <p:spPr>
          <a:xfrm>
            <a:off x="685800" y="6477000"/>
            <a:ext cx="812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i-FI" sz="1000">
                <a:solidFill>
                  <a:srgbClr val="6E6E6E"/>
                </a:solidFill>
                <a:latin typeface="Calibri" panose="020F0502020204030204" pitchFamily="34" charset="0"/>
              </a:rPr>
              <a:t>Taru HR   ·   Expat Employee Guide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6C63BF3-3F99-F991-B519-F061651AD00A}"/>
              </a:ext>
            </a:extLst>
          </p:cNvPr>
          <p:cNvSpPr txBox="1"/>
          <p:nvPr/>
        </p:nvSpPr>
        <p:spPr>
          <a:xfrm>
            <a:off x="10896600" y="6451600"/>
            <a:ext cx="609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fi-FI" sz="1100" b="1">
                <a:solidFill>
                  <a:srgbClr val="FFD65C"/>
                </a:solidFill>
                <a:latin typeface="Calibri" panose="020F0502020204030204" pitchFamily="34" charset="0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36677912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C674AE1-5E9F-C415-3963-AD7B5AB33EE9}"/>
              </a:ext>
            </a:extLst>
          </p:cNvPr>
          <p:cNvSpPr txBox="1"/>
          <p:nvPr/>
        </p:nvSpPr>
        <p:spPr>
          <a:xfrm>
            <a:off x="685800" y="508000"/>
            <a:ext cx="10820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i-FI" sz="1300" b="1">
                <a:solidFill>
                  <a:srgbClr val="FFD65C"/>
                </a:solidFill>
                <a:latin typeface="Calibri" panose="020F0502020204030204" pitchFamily="34" charset="0"/>
              </a:rPr>
              <a:t>02  ·  YOUR FIRST DAYS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D029C4E-4731-AEFA-CEBF-0DD60379BC09}"/>
              </a:ext>
            </a:extLst>
          </p:cNvPr>
          <p:cNvSpPr txBox="1"/>
          <p:nvPr/>
        </p:nvSpPr>
        <p:spPr>
          <a:xfrm>
            <a:off x="685800" y="787400"/>
            <a:ext cx="10820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i-FI" sz="3000" b="1">
                <a:solidFill>
                  <a:srgbClr val="FFD65C"/>
                </a:solidFill>
                <a:latin typeface="Calibri" panose="020F0502020204030204" pitchFamily="34" charset="0"/>
              </a:rPr>
              <a:t>Personal identity code (hetu)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B1D4A7D-40CB-F74C-BEEE-1F4F2669ED6A}"/>
              </a:ext>
            </a:extLst>
          </p:cNvPr>
          <p:cNvSpPr txBox="1"/>
          <p:nvPr/>
        </p:nvSpPr>
        <p:spPr>
          <a:xfrm>
            <a:off x="685800" y="1422400"/>
            <a:ext cx="10820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400">
                <a:solidFill>
                  <a:srgbClr val="9E9E9E"/>
                </a:solidFill>
                <a:latin typeface="Calibri" panose="020F0502020204030204" pitchFamily="34" charset="0"/>
              </a:rPr>
              <a:t>The key number that unlocks everyday services in Finland.</a:t>
            </a:r>
            <a:endParaRPr lang="fi-FI" sz="1400">
              <a:solidFill>
                <a:srgbClr val="9E9E9E"/>
              </a:solidFill>
              <a:latin typeface="Calibri" panose="020F0502020204030204" pitchFamily="34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E7C19D3-F2C5-C6A6-76C0-B9111D71A161}"/>
              </a:ext>
            </a:extLst>
          </p:cNvPr>
          <p:cNvSpPr/>
          <p:nvPr/>
        </p:nvSpPr>
        <p:spPr>
          <a:xfrm>
            <a:off x="685800" y="2006600"/>
            <a:ext cx="3471333" cy="1892300"/>
          </a:xfrm>
          <a:prstGeom prst="roundRect">
            <a:avLst>
              <a:gd name="adj" fmla="val 7000"/>
            </a:avLst>
          </a:prstGeom>
          <a:solidFill>
            <a:srgbClr val="1A1A1B"/>
          </a:solidFill>
          <a:ln w="12700">
            <a:solidFill>
              <a:srgbClr val="3838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77800" tIns="114300" rIns="152400" bIns="101600" rtlCol="0" anchor="t"/>
          <a:lstStyle/>
          <a:p>
            <a:r>
              <a:rPr lang="en-US" sz="1400" b="1">
                <a:solidFill>
                  <a:srgbClr val="FFD65C"/>
                </a:solidFill>
                <a:latin typeface="Calibri" panose="020F0502020204030204" pitchFamily="34" charset="0"/>
              </a:rPr>
              <a:t>What it is</a:t>
            </a:r>
          </a:p>
          <a:p>
            <a:r>
              <a:rPr lang="en-US" sz="1150">
                <a:solidFill>
                  <a:srgbClr val="E6E6E6"/>
                </a:solidFill>
                <a:latin typeface="Calibri" panose="020F0502020204030204" pitchFamily="34" charset="0"/>
              </a:rPr>
              <a:t>A unique Finnish personal identity code (henkilotunnus).</a:t>
            </a:r>
            <a:endParaRPr lang="fi-FI" sz="1150">
              <a:solidFill>
                <a:srgbClr val="E6E6E6"/>
              </a:solidFill>
              <a:latin typeface="Calibri" panose="020F0502020204030204" pitchFamily="34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A9E9F97-013D-C7E4-C7AD-B502035E74B5}"/>
              </a:ext>
            </a:extLst>
          </p:cNvPr>
          <p:cNvSpPr/>
          <p:nvPr/>
        </p:nvSpPr>
        <p:spPr>
          <a:xfrm>
            <a:off x="4360333" y="2006600"/>
            <a:ext cx="3471334" cy="1892300"/>
          </a:xfrm>
          <a:prstGeom prst="roundRect">
            <a:avLst>
              <a:gd name="adj" fmla="val 7000"/>
            </a:avLst>
          </a:prstGeom>
          <a:solidFill>
            <a:srgbClr val="1A1A1B"/>
          </a:solidFill>
          <a:ln w="12700">
            <a:solidFill>
              <a:srgbClr val="3838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77800" tIns="114300" rIns="152400" bIns="101600" rtlCol="0" anchor="t"/>
          <a:lstStyle/>
          <a:p>
            <a:r>
              <a:rPr lang="en-US" sz="1400" b="1">
                <a:solidFill>
                  <a:srgbClr val="FFD65C"/>
                </a:solidFill>
                <a:latin typeface="Calibri" panose="020F0502020204030204" pitchFamily="34" charset="0"/>
              </a:rPr>
              <a:t>Why you need it</a:t>
            </a:r>
          </a:p>
          <a:p>
            <a:r>
              <a:rPr lang="en-US" sz="1150">
                <a:solidFill>
                  <a:srgbClr val="E6E6E6"/>
                </a:solidFill>
                <a:latin typeface="Calibri" panose="020F0502020204030204" pitchFamily="34" charset="0"/>
              </a:rPr>
              <a:t>Banking, healthcare, payroll and housing all use it.</a:t>
            </a:r>
            <a:endParaRPr lang="fi-FI" sz="1150">
              <a:solidFill>
                <a:srgbClr val="E6E6E6"/>
              </a:solidFill>
              <a:latin typeface="Calibri" panose="020F0502020204030204" pitchFamily="34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AC029B1-EBBB-465E-F2EA-F181E72806C2}"/>
              </a:ext>
            </a:extLst>
          </p:cNvPr>
          <p:cNvSpPr/>
          <p:nvPr/>
        </p:nvSpPr>
        <p:spPr>
          <a:xfrm>
            <a:off x="8034867" y="2006600"/>
            <a:ext cx="3471333" cy="1892300"/>
          </a:xfrm>
          <a:prstGeom prst="roundRect">
            <a:avLst>
              <a:gd name="adj" fmla="val 7000"/>
            </a:avLst>
          </a:prstGeom>
          <a:solidFill>
            <a:srgbClr val="1A1A1B"/>
          </a:solidFill>
          <a:ln w="12700">
            <a:solidFill>
              <a:srgbClr val="3838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77800" tIns="114300" rIns="152400" bIns="101600" rtlCol="0" anchor="t"/>
          <a:lstStyle/>
          <a:p>
            <a:r>
              <a:rPr lang="en-US" sz="1400" b="1">
                <a:solidFill>
                  <a:srgbClr val="FFD65C"/>
                </a:solidFill>
                <a:latin typeface="Calibri" panose="020F0502020204030204" pitchFamily="34" charset="0"/>
              </a:rPr>
              <a:t>How to get it</a:t>
            </a:r>
          </a:p>
          <a:p>
            <a:r>
              <a:rPr lang="en-US" sz="1150">
                <a:solidFill>
                  <a:srgbClr val="E6E6E6"/>
                </a:solidFill>
                <a:latin typeface="Calibri" panose="020F0502020204030204" pitchFamily="34" charset="0"/>
              </a:rPr>
              <a:t>Registered via the Digital and Population Data Services Agency (DVV).</a:t>
            </a:r>
            <a:endParaRPr lang="fi-FI" sz="1150">
              <a:solidFill>
                <a:srgbClr val="E6E6E6"/>
              </a:solidFill>
              <a:latin typeface="Calibri" panose="020F0502020204030204" pitchFamily="34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260A240-C394-68BC-730A-FBE9B153EA2A}"/>
              </a:ext>
            </a:extLst>
          </p:cNvPr>
          <p:cNvSpPr/>
          <p:nvPr/>
        </p:nvSpPr>
        <p:spPr>
          <a:xfrm>
            <a:off x="685800" y="4076700"/>
            <a:ext cx="3471333" cy="1892300"/>
          </a:xfrm>
          <a:prstGeom prst="roundRect">
            <a:avLst>
              <a:gd name="adj" fmla="val 7000"/>
            </a:avLst>
          </a:prstGeom>
          <a:solidFill>
            <a:srgbClr val="1A1A1B"/>
          </a:solidFill>
          <a:ln w="12700">
            <a:solidFill>
              <a:srgbClr val="3838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77800" tIns="114300" rIns="152400" bIns="101600" rtlCol="0" anchor="t"/>
          <a:lstStyle/>
          <a:p>
            <a:r>
              <a:rPr lang="en-US" sz="1400" b="1">
                <a:solidFill>
                  <a:srgbClr val="FFD65C"/>
                </a:solidFill>
                <a:latin typeface="Calibri" panose="020F0502020204030204" pitchFamily="34" charset="0"/>
              </a:rPr>
              <a:t>HR support</a:t>
            </a:r>
          </a:p>
          <a:p>
            <a:r>
              <a:rPr lang="en-US" sz="1150">
                <a:solidFill>
                  <a:srgbClr val="E6E6E6"/>
                </a:solidFill>
                <a:latin typeface="Calibri" panose="020F0502020204030204" pitchFamily="34" charset="0"/>
              </a:rPr>
              <a:t>HR can guide you through registration and paperwork.</a:t>
            </a:r>
            <a:endParaRPr lang="fi-FI" sz="1150">
              <a:solidFill>
                <a:srgbClr val="E6E6E6"/>
              </a:solidFill>
              <a:latin typeface="Calibri" panose="020F0502020204030204" pitchFamily="34" charset="0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35F80186-5FA8-CBEC-C656-B969159C8061}"/>
              </a:ext>
            </a:extLst>
          </p:cNvPr>
          <p:cNvSpPr/>
          <p:nvPr/>
        </p:nvSpPr>
        <p:spPr>
          <a:xfrm>
            <a:off x="4360333" y="4076700"/>
            <a:ext cx="3471334" cy="1892300"/>
          </a:xfrm>
          <a:prstGeom prst="roundRect">
            <a:avLst>
              <a:gd name="adj" fmla="val 7000"/>
            </a:avLst>
          </a:prstGeom>
          <a:solidFill>
            <a:srgbClr val="1A1A1B"/>
          </a:solidFill>
          <a:ln w="12700">
            <a:solidFill>
              <a:srgbClr val="3838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77800" tIns="114300" rIns="152400" bIns="101600" rtlCol="0" anchor="t"/>
          <a:lstStyle/>
          <a:p>
            <a:r>
              <a:rPr lang="en-US" sz="1400" b="1">
                <a:solidFill>
                  <a:srgbClr val="FFD65C"/>
                </a:solidFill>
                <a:latin typeface="Calibri" panose="020F0502020204030204" pitchFamily="34" charset="0"/>
              </a:rPr>
              <a:t>If it is delayed</a:t>
            </a:r>
          </a:p>
          <a:p>
            <a:r>
              <a:rPr lang="en-US" sz="1150">
                <a:solidFill>
                  <a:srgbClr val="E6E6E6"/>
                </a:solidFill>
                <a:latin typeface="Calibri" panose="020F0502020204030204" pitchFamily="34" charset="0"/>
              </a:rPr>
              <a:t>Temporary workarounds may apply until it is issued.</a:t>
            </a:r>
            <a:endParaRPr lang="fi-FI" sz="1150">
              <a:solidFill>
                <a:srgbClr val="E6E6E6"/>
              </a:solidFill>
              <a:latin typeface="Calibri" panose="020F050202020403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44A30BF-FA35-BBF0-5C54-BE97F19C53A7}"/>
              </a:ext>
            </a:extLst>
          </p:cNvPr>
          <p:cNvSpPr txBox="1"/>
          <p:nvPr/>
        </p:nvSpPr>
        <p:spPr>
          <a:xfrm>
            <a:off x="685800" y="6477000"/>
            <a:ext cx="812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i-FI" sz="1000">
                <a:solidFill>
                  <a:srgbClr val="6E6E6E"/>
                </a:solidFill>
                <a:latin typeface="Calibri" panose="020F0502020204030204" pitchFamily="34" charset="0"/>
              </a:rPr>
              <a:t>Taru HR   ·   Expat Employee Guide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EA40333-8377-9D79-FC1B-A51824D755B3}"/>
              </a:ext>
            </a:extLst>
          </p:cNvPr>
          <p:cNvSpPr txBox="1"/>
          <p:nvPr/>
        </p:nvSpPr>
        <p:spPr>
          <a:xfrm>
            <a:off x="10896600" y="6451600"/>
            <a:ext cx="609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fi-FI" sz="1100" b="1">
                <a:solidFill>
                  <a:srgbClr val="FFD65C"/>
                </a:solidFill>
                <a:latin typeface="Calibri" panose="020F0502020204030204" pitchFamily="34" charset="0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24691630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C3B44B6-096A-0C4E-479F-EBF5C4BD2624}"/>
              </a:ext>
            </a:extLst>
          </p:cNvPr>
          <p:cNvSpPr txBox="1"/>
          <p:nvPr/>
        </p:nvSpPr>
        <p:spPr>
          <a:xfrm>
            <a:off x="685800" y="508000"/>
            <a:ext cx="10820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i-FI" sz="1300" b="1">
                <a:solidFill>
                  <a:srgbClr val="FFD65C"/>
                </a:solidFill>
                <a:latin typeface="Calibri" panose="020F0502020204030204" pitchFamily="34" charset="0"/>
              </a:rPr>
              <a:t>02  ·  YOUR FIRST DAYS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4789B11-8CF4-8855-0F12-B31FE1E3EE34}"/>
              </a:ext>
            </a:extLst>
          </p:cNvPr>
          <p:cNvSpPr txBox="1"/>
          <p:nvPr/>
        </p:nvSpPr>
        <p:spPr>
          <a:xfrm>
            <a:off x="685800" y="787400"/>
            <a:ext cx="10820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3000" b="1">
                <a:solidFill>
                  <a:srgbClr val="FFD65C"/>
                </a:solidFill>
                <a:latin typeface="Calibri" panose="020F0502020204030204" pitchFamily="34" charset="0"/>
              </a:rPr>
              <a:t>Your first week in Finland</a:t>
            </a:r>
            <a:endParaRPr lang="fi-FI" sz="3000" b="1">
              <a:solidFill>
                <a:srgbClr val="FFD65C"/>
              </a:solidFill>
              <a:latin typeface="Calibri" panose="020F05020202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D6838BC-6E09-B3F8-BFD3-524311C991FD}"/>
              </a:ext>
            </a:extLst>
          </p:cNvPr>
          <p:cNvSpPr txBox="1"/>
          <p:nvPr/>
        </p:nvSpPr>
        <p:spPr>
          <a:xfrm>
            <a:off x="685800" y="1422400"/>
            <a:ext cx="10820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400">
                <a:solidFill>
                  <a:srgbClr val="9E9E9E"/>
                </a:solidFill>
                <a:latin typeface="Calibri" panose="020F0502020204030204" pitchFamily="34" charset="0"/>
              </a:rPr>
              <a:t>What to expect when you start.</a:t>
            </a:r>
            <a:endParaRPr lang="fi-FI" sz="1400">
              <a:solidFill>
                <a:srgbClr val="9E9E9E"/>
              </a:solidFill>
              <a:latin typeface="Calibri" panose="020F0502020204030204" pitchFamily="34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96096D15-3FF4-D7DF-4A3C-381E18C84664}"/>
              </a:ext>
            </a:extLst>
          </p:cNvPr>
          <p:cNvSpPr/>
          <p:nvPr/>
        </p:nvSpPr>
        <p:spPr>
          <a:xfrm>
            <a:off x="685800" y="2057400"/>
            <a:ext cx="3471333" cy="1917700"/>
          </a:xfrm>
          <a:prstGeom prst="roundRect">
            <a:avLst>
              <a:gd name="adj" fmla="val 7000"/>
            </a:avLst>
          </a:prstGeom>
          <a:solidFill>
            <a:srgbClr val="1A1A1B"/>
          </a:solidFill>
          <a:ln w="12700">
            <a:solidFill>
              <a:srgbClr val="3838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77800" tIns="114300" rIns="152400" bIns="101600" rtlCol="0" anchor="t"/>
          <a:lstStyle/>
          <a:p>
            <a:r>
              <a:rPr lang="en-US" sz="1400" b="1">
                <a:solidFill>
                  <a:srgbClr val="FFD65C"/>
                </a:solidFill>
                <a:latin typeface="Calibri" panose="020F0502020204030204" pitchFamily="34" charset="0"/>
              </a:rPr>
              <a:t>Arrival</a:t>
            </a:r>
          </a:p>
          <a:p>
            <a:r>
              <a:rPr lang="en-US" sz="1150">
                <a:solidFill>
                  <a:srgbClr val="E6E6E6"/>
                </a:solidFill>
                <a:latin typeface="Calibri" panose="020F0502020204030204" pitchFamily="34" charset="0"/>
              </a:rPr>
              <a:t>Airport pickup and first-day instructions.</a:t>
            </a:r>
            <a:endParaRPr lang="fi-FI" sz="1150">
              <a:solidFill>
                <a:srgbClr val="E6E6E6"/>
              </a:solidFill>
              <a:latin typeface="Calibri" panose="020F0502020204030204" pitchFamily="34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1780464-55A9-6F0D-B1CB-B17E342BBCCD}"/>
              </a:ext>
            </a:extLst>
          </p:cNvPr>
          <p:cNvSpPr/>
          <p:nvPr/>
        </p:nvSpPr>
        <p:spPr>
          <a:xfrm>
            <a:off x="4360333" y="2057400"/>
            <a:ext cx="3471334" cy="1917700"/>
          </a:xfrm>
          <a:prstGeom prst="roundRect">
            <a:avLst>
              <a:gd name="adj" fmla="val 7000"/>
            </a:avLst>
          </a:prstGeom>
          <a:solidFill>
            <a:srgbClr val="1A1A1B"/>
          </a:solidFill>
          <a:ln w="12700">
            <a:solidFill>
              <a:srgbClr val="3838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77800" tIns="114300" rIns="152400" bIns="101600" rtlCol="0" anchor="t"/>
          <a:lstStyle/>
          <a:p>
            <a:r>
              <a:rPr lang="en-US" sz="1400" b="1">
                <a:solidFill>
                  <a:srgbClr val="FFD65C"/>
                </a:solidFill>
                <a:latin typeface="Calibri" panose="020F0502020204030204" pitchFamily="34" charset="0"/>
              </a:rPr>
              <a:t>Office &amp; IT</a:t>
            </a:r>
          </a:p>
          <a:p>
            <a:r>
              <a:rPr lang="en-US" sz="1150">
                <a:solidFill>
                  <a:srgbClr val="E6E6E6"/>
                </a:solidFill>
                <a:latin typeface="Calibri" panose="020F0502020204030204" pitchFamily="34" charset="0"/>
              </a:rPr>
              <a:t>ID and keys, laptop and account set-up.</a:t>
            </a:r>
            <a:endParaRPr lang="fi-FI" sz="1150">
              <a:solidFill>
                <a:srgbClr val="E6E6E6"/>
              </a:solidFill>
              <a:latin typeface="Calibri" panose="020F0502020204030204" pitchFamily="34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36AFCF8C-4432-DB33-03A0-45B80D0B59C6}"/>
              </a:ext>
            </a:extLst>
          </p:cNvPr>
          <p:cNvSpPr/>
          <p:nvPr/>
        </p:nvSpPr>
        <p:spPr>
          <a:xfrm>
            <a:off x="8034867" y="2057400"/>
            <a:ext cx="3471333" cy="1917700"/>
          </a:xfrm>
          <a:prstGeom prst="roundRect">
            <a:avLst>
              <a:gd name="adj" fmla="val 7000"/>
            </a:avLst>
          </a:prstGeom>
          <a:solidFill>
            <a:srgbClr val="1A1A1B"/>
          </a:solidFill>
          <a:ln w="12700">
            <a:solidFill>
              <a:srgbClr val="3838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77800" tIns="114300" rIns="152400" bIns="101600" rtlCol="0" anchor="t"/>
          <a:lstStyle/>
          <a:p>
            <a:r>
              <a:rPr lang="en-US" sz="1400" b="1">
                <a:solidFill>
                  <a:srgbClr val="FFD65C"/>
                </a:solidFill>
                <a:latin typeface="Calibri" panose="020F0502020204030204" pitchFamily="34" charset="0"/>
              </a:rPr>
              <a:t>Welcome meeting</a:t>
            </a:r>
          </a:p>
          <a:p>
            <a:r>
              <a:rPr lang="en-US" sz="1150">
                <a:solidFill>
                  <a:srgbClr val="E6E6E6"/>
                </a:solidFill>
                <a:latin typeface="Calibri" panose="020F0502020204030204" pitchFamily="34" charset="0"/>
              </a:rPr>
              <a:t>Company mission, departments and key people.</a:t>
            </a:r>
            <a:endParaRPr lang="fi-FI" sz="1150">
              <a:solidFill>
                <a:srgbClr val="E6E6E6"/>
              </a:solidFill>
              <a:latin typeface="Calibri" panose="020F0502020204030204" pitchFamily="34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70AD4E5-FDF4-091C-B74E-4721892AEB3B}"/>
              </a:ext>
            </a:extLst>
          </p:cNvPr>
          <p:cNvSpPr/>
          <p:nvPr/>
        </p:nvSpPr>
        <p:spPr>
          <a:xfrm>
            <a:off x="685800" y="4152900"/>
            <a:ext cx="3471333" cy="1917700"/>
          </a:xfrm>
          <a:prstGeom prst="roundRect">
            <a:avLst>
              <a:gd name="adj" fmla="val 7000"/>
            </a:avLst>
          </a:prstGeom>
          <a:solidFill>
            <a:srgbClr val="1A1A1B"/>
          </a:solidFill>
          <a:ln w="12700">
            <a:solidFill>
              <a:srgbClr val="3838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77800" tIns="114300" rIns="152400" bIns="101600" rtlCol="0" anchor="t"/>
          <a:lstStyle/>
          <a:p>
            <a:r>
              <a:rPr lang="en-US" sz="1400" b="1">
                <a:solidFill>
                  <a:srgbClr val="FFD65C"/>
                </a:solidFill>
                <a:latin typeface="Calibri" panose="020F0502020204030204" pitchFamily="34" charset="0"/>
              </a:rPr>
              <a:t>Get registered</a:t>
            </a:r>
          </a:p>
          <a:p>
            <a:r>
              <a:rPr lang="en-US" sz="1150">
                <a:solidFill>
                  <a:srgbClr val="E6E6E6"/>
                </a:solidFill>
                <a:latin typeface="Calibri" panose="020F0502020204030204" pitchFamily="34" charset="0"/>
              </a:rPr>
              <a:t>Personal identity code, bank account and tax card.</a:t>
            </a:r>
            <a:endParaRPr lang="fi-FI" sz="1150">
              <a:solidFill>
                <a:srgbClr val="E6E6E6"/>
              </a:solidFill>
              <a:latin typeface="Calibri" panose="020F0502020204030204" pitchFamily="34" charset="0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AA5A4C8A-D58A-1C1E-11D8-D349ADC0A7F3}"/>
              </a:ext>
            </a:extLst>
          </p:cNvPr>
          <p:cNvSpPr/>
          <p:nvPr/>
        </p:nvSpPr>
        <p:spPr>
          <a:xfrm>
            <a:off x="4360333" y="4152900"/>
            <a:ext cx="3471334" cy="1917700"/>
          </a:xfrm>
          <a:prstGeom prst="roundRect">
            <a:avLst>
              <a:gd name="adj" fmla="val 7000"/>
            </a:avLst>
          </a:prstGeom>
          <a:solidFill>
            <a:srgbClr val="1A1A1B"/>
          </a:solidFill>
          <a:ln w="12700">
            <a:solidFill>
              <a:srgbClr val="3838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77800" tIns="114300" rIns="152400" bIns="101600" rtlCol="0" anchor="t"/>
          <a:lstStyle/>
          <a:p>
            <a:r>
              <a:rPr lang="en-US" sz="1400" b="1">
                <a:solidFill>
                  <a:srgbClr val="FFD65C"/>
                </a:solidFill>
                <a:latin typeface="Calibri" panose="020F0502020204030204" pitchFamily="34" charset="0"/>
              </a:rPr>
              <a:t>Practical set-up</a:t>
            </a:r>
          </a:p>
          <a:p>
            <a:r>
              <a:rPr lang="en-US" sz="1150">
                <a:solidFill>
                  <a:srgbClr val="E6E6E6"/>
                </a:solidFill>
                <a:latin typeface="Calibri" panose="020F0502020204030204" pitchFamily="34" charset="0"/>
              </a:rPr>
              <a:t>HSL travel card, SIM card and groceries.</a:t>
            </a:r>
            <a:endParaRPr lang="fi-FI" sz="1150">
              <a:solidFill>
                <a:srgbClr val="E6E6E6"/>
              </a:solidFill>
              <a:latin typeface="Calibri" panose="020F0502020204030204" pitchFamily="34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18E51F1-0741-E37C-95AF-F4497A3FEBE6}"/>
              </a:ext>
            </a:extLst>
          </p:cNvPr>
          <p:cNvSpPr/>
          <p:nvPr/>
        </p:nvSpPr>
        <p:spPr>
          <a:xfrm>
            <a:off x="8034867" y="4152900"/>
            <a:ext cx="3471333" cy="1917700"/>
          </a:xfrm>
          <a:prstGeom prst="roundRect">
            <a:avLst>
              <a:gd name="adj" fmla="val 7000"/>
            </a:avLst>
          </a:prstGeom>
          <a:solidFill>
            <a:srgbClr val="1A1A1B"/>
          </a:solidFill>
          <a:ln w="12700">
            <a:solidFill>
              <a:srgbClr val="3838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77800" tIns="114300" rIns="152400" bIns="101600" rtlCol="0" anchor="t"/>
          <a:lstStyle/>
          <a:p>
            <a:r>
              <a:rPr lang="en-US" sz="1400" b="1">
                <a:solidFill>
                  <a:srgbClr val="FFD65C"/>
                </a:solidFill>
                <a:latin typeface="Calibri" panose="020F0502020204030204" pitchFamily="34" charset="0"/>
              </a:rPr>
              <a:t>HR practices</a:t>
            </a:r>
          </a:p>
          <a:p>
            <a:r>
              <a:rPr lang="en-US" sz="1150">
                <a:solidFill>
                  <a:srgbClr val="E6E6E6"/>
                </a:solidFill>
                <a:latin typeface="Calibri" panose="020F0502020204030204" pitchFamily="34" charset="0"/>
              </a:rPr>
              <a:t>Working hours, healthcare and where to get help.</a:t>
            </a:r>
            <a:endParaRPr lang="fi-FI" sz="1150">
              <a:solidFill>
                <a:srgbClr val="E6E6E6"/>
              </a:solidFill>
              <a:latin typeface="Calibri" panose="020F050202020403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4F47B5D-1217-F9CA-40E8-1AE78D32DBC0}"/>
              </a:ext>
            </a:extLst>
          </p:cNvPr>
          <p:cNvSpPr txBox="1"/>
          <p:nvPr/>
        </p:nvSpPr>
        <p:spPr>
          <a:xfrm>
            <a:off x="685800" y="6477000"/>
            <a:ext cx="812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i-FI" sz="1000">
                <a:solidFill>
                  <a:srgbClr val="6E6E6E"/>
                </a:solidFill>
                <a:latin typeface="Calibri" panose="020F0502020204030204" pitchFamily="34" charset="0"/>
              </a:rPr>
              <a:t>Taru HR   ·   Expat Employee Guide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15AA846-8D12-300C-D796-20E1631C27AB}"/>
              </a:ext>
            </a:extLst>
          </p:cNvPr>
          <p:cNvSpPr txBox="1"/>
          <p:nvPr/>
        </p:nvSpPr>
        <p:spPr>
          <a:xfrm>
            <a:off x="10896600" y="6451600"/>
            <a:ext cx="609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fi-FI" sz="1100" b="1">
                <a:solidFill>
                  <a:srgbClr val="FFD65C"/>
                </a:solidFill>
                <a:latin typeface="Calibri" panose="020F0502020204030204" pitchFamily="34" charset="0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9114165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648B359-C3D4-29E3-7200-19F18C2A439C}"/>
              </a:ext>
            </a:extLst>
          </p:cNvPr>
          <p:cNvSpPr txBox="1"/>
          <p:nvPr/>
        </p:nvSpPr>
        <p:spPr>
          <a:xfrm>
            <a:off x="685800" y="508000"/>
            <a:ext cx="10820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i-FI" sz="1300" b="1">
                <a:solidFill>
                  <a:srgbClr val="FFD65C"/>
                </a:solidFill>
                <a:latin typeface="Calibri" panose="020F0502020204030204" pitchFamily="34" charset="0"/>
              </a:rPr>
              <a:t>02  ·  YOUR FIRST DAYS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28DA401-65D9-BBF6-C443-21942B1F03C7}"/>
              </a:ext>
            </a:extLst>
          </p:cNvPr>
          <p:cNvSpPr txBox="1"/>
          <p:nvPr/>
        </p:nvSpPr>
        <p:spPr>
          <a:xfrm>
            <a:off x="685800" y="787400"/>
            <a:ext cx="10820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i-FI" sz="3000" b="1">
                <a:solidFill>
                  <a:srgbClr val="FFD65C"/>
                </a:solidFill>
                <a:latin typeface="Calibri" panose="020F0502020204030204" pitchFamily="34" charset="0"/>
              </a:rPr>
              <a:t>Opening a bank account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54A9DF2-D5E3-EB7F-8638-C918E9419391}"/>
              </a:ext>
            </a:extLst>
          </p:cNvPr>
          <p:cNvSpPr txBox="1"/>
          <p:nvPr/>
        </p:nvSpPr>
        <p:spPr>
          <a:xfrm>
            <a:off x="685800" y="1422400"/>
            <a:ext cx="10820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400">
                <a:solidFill>
                  <a:srgbClr val="9E9E9E"/>
                </a:solidFill>
                <a:latin typeface="Calibri" panose="020F0502020204030204" pitchFamily="34" charset="0"/>
              </a:rPr>
              <a:t>You need a Finnish account to receive your salary and prove your identity online.</a:t>
            </a:r>
            <a:endParaRPr lang="fi-FI" sz="1400">
              <a:solidFill>
                <a:srgbClr val="9E9E9E"/>
              </a:solidFill>
              <a:latin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8200186-D5F0-3507-6166-9D97BBA10624}"/>
              </a:ext>
            </a:extLst>
          </p:cNvPr>
          <p:cNvSpPr txBox="1"/>
          <p:nvPr/>
        </p:nvSpPr>
        <p:spPr>
          <a:xfrm>
            <a:off x="685800" y="1905000"/>
            <a:ext cx="10820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i-FI" sz="1200" b="1">
                <a:solidFill>
                  <a:srgbClr val="FFD65C"/>
                </a:solidFill>
                <a:latin typeface="Calibri" panose="020F0502020204030204" pitchFamily="34" charset="0"/>
              </a:rPr>
              <a:t>WHAT TO BRING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37B2387-2B6C-E631-B502-9442053719FC}"/>
              </a:ext>
            </a:extLst>
          </p:cNvPr>
          <p:cNvSpPr/>
          <p:nvPr/>
        </p:nvSpPr>
        <p:spPr>
          <a:xfrm>
            <a:off x="685800" y="2184400"/>
            <a:ext cx="2552700" cy="965200"/>
          </a:xfrm>
          <a:prstGeom prst="roundRect">
            <a:avLst>
              <a:gd name="adj" fmla="val 7000"/>
            </a:avLst>
          </a:prstGeom>
          <a:solidFill>
            <a:srgbClr val="1A1A1B"/>
          </a:solidFill>
          <a:ln w="12700">
            <a:solidFill>
              <a:srgbClr val="3838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65100" tIns="88900" rIns="127000" bIns="88900" rtlCol="0" anchor="ctr"/>
          <a:lstStyle/>
          <a:p>
            <a:r>
              <a:rPr lang="fi-FI" sz="1300" b="1">
                <a:solidFill>
                  <a:srgbClr val="FFD65C"/>
                </a:solidFill>
                <a:latin typeface="Calibri" panose="020F0502020204030204" pitchFamily="34" charset="0"/>
              </a:rPr>
              <a:t>01</a:t>
            </a:r>
            <a:r>
              <a:rPr lang="fi-FI" sz="1300">
                <a:solidFill>
                  <a:srgbClr val="E6E6E6"/>
                </a:solidFill>
                <a:latin typeface="Calibri" panose="020F0502020204030204" pitchFamily="34" charset="0"/>
              </a:rPr>
              <a:t>    Passport or ID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E9E6308-411D-69DD-E49F-19853E2A0815}"/>
              </a:ext>
            </a:extLst>
          </p:cNvPr>
          <p:cNvSpPr/>
          <p:nvPr/>
        </p:nvSpPr>
        <p:spPr>
          <a:xfrm>
            <a:off x="3441700" y="2184400"/>
            <a:ext cx="2552700" cy="965200"/>
          </a:xfrm>
          <a:prstGeom prst="roundRect">
            <a:avLst>
              <a:gd name="adj" fmla="val 7000"/>
            </a:avLst>
          </a:prstGeom>
          <a:solidFill>
            <a:srgbClr val="1A1A1B"/>
          </a:solidFill>
          <a:ln w="12700">
            <a:solidFill>
              <a:srgbClr val="3838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65100" tIns="88900" rIns="127000" bIns="88900" rtlCol="0" anchor="ctr"/>
          <a:lstStyle/>
          <a:p>
            <a:r>
              <a:rPr lang="en-US" sz="1300" b="1">
                <a:solidFill>
                  <a:srgbClr val="FFD65C"/>
                </a:solidFill>
                <a:latin typeface="Calibri" panose="020F0502020204030204" pitchFamily="34" charset="0"/>
              </a:rPr>
              <a:t>02</a:t>
            </a:r>
            <a:r>
              <a:rPr lang="en-US" sz="1300">
                <a:solidFill>
                  <a:srgbClr val="E6E6E6"/>
                </a:solidFill>
                <a:latin typeface="Calibri" panose="020F0502020204030204" pitchFamily="34" charset="0"/>
              </a:rPr>
              <a:t>    Residence permit (if applicable)</a:t>
            </a:r>
            <a:endParaRPr lang="fi-FI" sz="1300">
              <a:solidFill>
                <a:srgbClr val="E6E6E6"/>
              </a:solidFill>
              <a:latin typeface="Calibri" panose="020F0502020204030204" pitchFamily="34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CC0DC3A-980C-1C63-9E19-AA0861D20251}"/>
              </a:ext>
            </a:extLst>
          </p:cNvPr>
          <p:cNvSpPr/>
          <p:nvPr/>
        </p:nvSpPr>
        <p:spPr>
          <a:xfrm>
            <a:off x="6197600" y="2184400"/>
            <a:ext cx="2552700" cy="965200"/>
          </a:xfrm>
          <a:prstGeom prst="roundRect">
            <a:avLst>
              <a:gd name="adj" fmla="val 7000"/>
            </a:avLst>
          </a:prstGeom>
          <a:solidFill>
            <a:srgbClr val="1A1A1B"/>
          </a:solidFill>
          <a:ln w="12700">
            <a:solidFill>
              <a:srgbClr val="3838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65100" tIns="88900" rIns="127000" bIns="88900" rtlCol="0" anchor="ctr"/>
          <a:lstStyle/>
          <a:p>
            <a:r>
              <a:rPr lang="fi-FI" sz="1300" b="1">
                <a:solidFill>
                  <a:srgbClr val="FFD65C"/>
                </a:solidFill>
                <a:latin typeface="Calibri" panose="020F0502020204030204" pitchFamily="34" charset="0"/>
              </a:rPr>
              <a:t>03</a:t>
            </a:r>
            <a:r>
              <a:rPr lang="fi-FI" sz="1300">
                <a:solidFill>
                  <a:srgbClr val="E6E6E6"/>
                </a:solidFill>
                <a:latin typeface="Calibri" panose="020F0502020204030204" pitchFamily="34" charset="0"/>
              </a:rPr>
              <a:t>    Personal identity code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499ECA8-83F3-C430-394A-CED617CC3843}"/>
              </a:ext>
            </a:extLst>
          </p:cNvPr>
          <p:cNvSpPr/>
          <p:nvPr/>
        </p:nvSpPr>
        <p:spPr>
          <a:xfrm>
            <a:off x="8953500" y="2184400"/>
            <a:ext cx="2552700" cy="965200"/>
          </a:xfrm>
          <a:prstGeom prst="roundRect">
            <a:avLst>
              <a:gd name="adj" fmla="val 7000"/>
            </a:avLst>
          </a:prstGeom>
          <a:solidFill>
            <a:srgbClr val="1A1A1B"/>
          </a:solidFill>
          <a:ln w="12700">
            <a:solidFill>
              <a:srgbClr val="3838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65100" tIns="88900" rIns="127000" bIns="88900" rtlCol="0" anchor="ctr"/>
          <a:lstStyle/>
          <a:p>
            <a:r>
              <a:rPr lang="fi-FI" sz="1300" b="1">
                <a:solidFill>
                  <a:srgbClr val="FFD65C"/>
                </a:solidFill>
                <a:latin typeface="Calibri" panose="020F0502020204030204" pitchFamily="34" charset="0"/>
              </a:rPr>
              <a:t>04</a:t>
            </a:r>
            <a:r>
              <a:rPr lang="fi-FI" sz="1300">
                <a:solidFill>
                  <a:srgbClr val="E6E6E6"/>
                </a:solidFill>
                <a:latin typeface="Calibri" panose="020F0502020204030204" pitchFamily="34" charset="0"/>
              </a:rPr>
              <a:t>    Employment / salary certificate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9E0D5ED-5191-EA7A-3305-76A02BBF0828}"/>
              </a:ext>
            </a:extLst>
          </p:cNvPr>
          <p:cNvSpPr txBox="1"/>
          <p:nvPr/>
        </p:nvSpPr>
        <p:spPr>
          <a:xfrm>
            <a:off x="685800" y="3327400"/>
            <a:ext cx="10820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i-FI" sz="1200" b="1">
                <a:solidFill>
                  <a:srgbClr val="FFD65C"/>
                </a:solidFill>
                <a:latin typeface="Calibri" panose="020F0502020204030204" pitchFamily="34" charset="0"/>
              </a:rPr>
              <a:t>HOW IT WORKS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E7F07A2-0C83-FEE5-74A1-892E4B7EF553}"/>
              </a:ext>
            </a:extLst>
          </p:cNvPr>
          <p:cNvSpPr/>
          <p:nvPr/>
        </p:nvSpPr>
        <p:spPr>
          <a:xfrm>
            <a:off x="685800" y="3606800"/>
            <a:ext cx="3471333" cy="965200"/>
          </a:xfrm>
          <a:prstGeom prst="roundRect">
            <a:avLst>
              <a:gd name="adj" fmla="val 7000"/>
            </a:avLst>
          </a:prstGeom>
          <a:solidFill>
            <a:srgbClr val="1A1A1B"/>
          </a:solidFill>
          <a:ln w="12700">
            <a:solidFill>
              <a:srgbClr val="3838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65100" tIns="88900" rIns="127000" bIns="88900" rtlCol="0" anchor="ctr"/>
          <a:lstStyle/>
          <a:p>
            <a:r>
              <a:rPr lang="fi-FI" sz="1300" b="1">
                <a:solidFill>
                  <a:srgbClr val="FFD65C"/>
                </a:solidFill>
                <a:latin typeface="Calibri" panose="020F0502020204030204" pitchFamily="34" charset="0"/>
              </a:rPr>
              <a:t>01</a:t>
            </a:r>
            <a:r>
              <a:rPr lang="fi-FI" sz="1300">
                <a:solidFill>
                  <a:srgbClr val="E6E6E6"/>
                </a:solidFill>
                <a:latin typeface="Calibri" panose="020F0502020204030204" pitchFamily="34" charset="0"/>
              </a:rPr>
              <a:t>    Prepare your documents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89C8ECD2-A7CA-0512-72B6-9215163F3B3F}"/>
              </a:ext>
            </a:extLst>
          </p:cNvPr>
          <p:cNvSpPr/>
          <p:nvPr/>
        </p:nvSpPr>
        <p:spPr>
          <a:xfrm>
            <a:off x="4360333" y="3606800"/>
            <a:ext cx="3471334" cy="965200"/>
          </a:xfrm>
          <a:prstGeom prst="roundRect">
            <a:avLst>
              <a:gd name="adj" fmla="val 7000"/>
            </a:avLst>
          </a:prstGeom>
          <a:solidFill>
            <a:srgbClr val="1A1A1B"/>
          </a:solidFill>
          <a:ln w="12700">
            <a:solidFill>
              <a:srgbClr val="3838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65100" tIns="88900" rIns="127000" bIns="88900" rtlCol="0" anchor="ctr"/>
          <a:lstStyle/>
          <a:p>
            <a:r>
              <a:rPr lang="en-US" sz="1300" b="1">
                <a:solidFill>
                  <a:srgbClr val="FFD65C"/>
                </a:solidFill>
                <a:latin typeface="Calibri" panose="020F0502020204030204" pitchFamily="34" charset="0"/>
              </a:rPr>
              <a:t>02</a:t>
            </a:r>
            <a:r>
              <a:rPr lang="en-US" sz="1300">
                <a:solidFill>
                  <a:srgbClr val="E6E6E6"/>
                </a:solidFill>
                <a:latin typeface="Calibri" panose="020F0502020204030204" pitchFamily="34" charset="0"/>
              </a:rPr>
              <a:t>    Book and attend a bank appointment</a:t>
            </a:r>
            <a:endParaRPr lang="fi-FI" sz="1300">
              <a:solidFill>
                <a:srgbClr val="E6E6E6"/>
              </a:solidFill>
              <a:latin typeface="Calibri" panose="020F0502020204030204" pitchFamily="34" charset="0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70F5F34A-7EB8-AF27-1F98-AD3A00D8476C}"/>
              </a:ext>
            </a:extLst>
          </p:cNvPr>
          <p:cNvSpPr/>
          <p:nvPr/>
        </p:nvSpPr>
        <p:spPr>
          <a:xfrm>
            <a:off x="8034867" y="3606800"/>
            <a:ext cx="3471333" cy="965200"/>
          </a:xfrm>
          <a:prstGeom prst="roundRect">
            <a:avLst>
              <a:gd name="adj" fmla="val 7000"/>
            </a:avLst>
          </a:prstGeom>
          <a:solidFill>
            <a:srgbClr val="1A1A1B"/>
          </a:solidFill>
          <a:ln w="12700">
            <a:solidFill>
              <a:srgbClr val="3838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65100" tIns="88900" rIns="127000" bIns="88900" rtlCol="0" anchor="ctr"/>
          <a:lstStyle/>
          <a:p>
            <a:r>
              <a:rPr lang="en-US" sz="1300" b="1">
                <a:solidFill>
                  <a:srgbClr val="FFD65C"/>
                </a:solidFill>
                <a:latin typeface="Calibri" panose="020F0502020204030204" pitchFamily="34" charset="0"/>
              </a:rPr>
              <a:t>03</a:t>
            </a:r>
            <a:r>
              <a:rPr lang="en-US" sz="1300">
                <a:solidFill>
                  <a:srgbClr val="E6E6E6"/>
                </a:solidFill>
                <a:latin typeface="Calibri" panose="020F0502020204030204" pitchFamily="34" charset="0"/>
              </a:rPr>
              <a:t>    Share your IBAN with HR before payday</a:t>
            </a:r>
            <a:endParaRPr lang="fi-FI" sz="1300">
              <a:solidFill>
                <a:srgbClr val="E6E6E6"/>
              </a:solidFill>
              <a:latin typeface="Calibri" panose="020F0502020204030204" pitchFamily="34" charset="0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D6B0E475-1ADD-EBE6-BEA2-2B6AE928062F}"/>
              </a:ext>
            </a:extLst>
          </p:cNvPr>
          <p:cNvSpPr/>
          <p:nvPr/>
        </p:nvSpPr>
        <p:spPr>
          <a:xfrm>
            <a:off x="685800" y="4800600"/>
            <a:ext cx="7112000" cy="584200"/>
          </a:xfrm>
          <a:prstGeom prst="roundRect">
            <a:avLst>
              <a:gd name="adj" fmla="val 7000"/>
            </a:avLst>
          </a:prstGeom>
          <a:solidFill>
            <a:srgbClr val="1A1A1B"/>
          </a:solidFill>
          <a:ln w="15875">
            <a:solidFill>
              <a:srgbClr val="FFD6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03200" tIns="101600" rIns="177800" bIns="101600" rtlCol="0" anchor="ctr"/>
          <a:lstStyle/>
          <a:p>
            <a:r>
              <a:rPr lang="en-US" sz="1300" b="1">
                <a:solidFill>
                  <a:srgbClr val="FFD65C"/>
                </a:solidFill>
                <a:latin typeface="Calibri" panose="020F0502020204030204" pitchFamily="34" charset="0"/>
              </a:rPr>
              <a:t>Common banks</a:t>
            </a:r>
            <a:r>
              <a:rPr lang="en-US" sz="1300">
                <a:solidFill>
                  <a:srgbClr val="E6E6E6"/>
                </a:solidFill>
                <a:latin typeface="Calibri" panose="020F0502020204030204" pitchFamily="34" charset="0"/>
              </a:rPr>
              <a:t>   Nordea, OP Financial Group and Danske Bank.</a:t>
            </a:r>
            <a:endParaRPr lang="fi-FI" sz="1300">
              <a:solidFill>
                <a:srgbClr val="E6E6E6"/>
              </a:solidFill>
              <a:latin typeface="Calibri" panose="020F0502020204030204" pitchFamily="34" charset="0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29FB6A34-0FE5-B433-CACA-6F872AAEF77E}"/>
              </a:ext>
            </a:extLst>
          </p:cNvPr>
          <p:cNvSpPr/>
          <p:nvPr/>
        </p:nvSpPr>
        <p:spPr>
          <a:xfrm>
            <a:off x="7975600" y="4800600"/>
            <a:ext cx="3530600" cy="584200"/>
          </a:xfrm>
          <a:prstGeom prst="roundRect">
            <a:avLst>
              <a:gd name="adj" fmla="val 7000"/>
            </a:avLst>
          </a:prstGeom>
          <a:solidFill>
            <a:srgbClr val="1A1A1B"/>
          </a:solidFill>
          <a:ln w="15875">
            <a:solidFill>
              <a:srgbClr val="FFD6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03200" tIns="101600" rIns="177800" bIns="101600" rtlCol="0" anchor="ctr"/>
          <a:lstStyle/>
          <a:p>
            <a:r>
              <a:rPr lang="en-US" sz="1300" b="1">
                <a:solidFill>
                  <a:srgbClr val="FFD65C"/>
                </a:solidFill>
                <a:latin typeface="Calibri" panose="020F0502020204030204" pitchFamily="34" charset="0"/>
              </a:rPr>
              <a:t>Timeline</a:t>
            </a:r>
            <a:r>
              <a:rPr lang="en-US" sz="1300">
                <a:solidFill>
                  <a:srgbClr val="E6E6E6"/>
                </a:solidFill>
                <a:latin typeface="Calibri" panose="020F0502020204030204" pitchFamily="34" charset="0"/>
              </a:rPr>
              <a:t>   Same day up to 1-2 weeks.</a:t>
            </a:r>
            <a:endParaRPr lang="fi-FI" sz="1300">
              <a:solidFill>
                <a:srgbClr val="E6E6E6"/>
              </a:solidFill>
              <a:latin typeface="Calibri" panose="020F050202020403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6ED509E-5801-5FA8-30F3-4582435E1D1B}"/>
              </a:ext>
            </a:extLst>
          </p:cNvPr>
          <p:cNvSpPr txBox="1"/>
          <p:nvPr/>
        </p:nvSpPr>
        <p:spPr>
          <a:xfrm>
            <a:off x="685800" y="6477000"/>
            <a:ext cx="812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i-FI" sz="1000">
                <a:solidFill>
                  <a:srgbClr val="6E6E6E"/>
                </a:solidFill>
                <a:latin typeface="Calibri" panose="020F0502020204030204" pitchFamily="34" charset="0"/>
              </a:rPr>
              <a:t>Taru HR   ·   Expat Employee Guide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A9999D7-445F-C046-25AE-43A5CAF9F1E4}"/>
              </a:ext>
            </a:extLst>
          </p:cNvPr>
          <p:cNvSpPr txBox="1"/>
          <p:nvPr/>
        </p:nvSpPr>
        <p:spPr>
          <a:xfrm>
            <a:off x="10896600" y="6451600"/>
            <a:ext cx="609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fi-FI" sz="1100" b="1">
                <a:solidFill>
                  <a:srgbClr val="FFD65C"/>
                </a:solidFill>
                <a:latin typeface="Calibri" panose="020F0502020204030204" pitchFamily="34" charset="0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38999019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0F4B836-057B-C2F4-D655-0C13AB63969B}"/>
              </a:ext>
            </a:extLst>
          </p:cNvPr>
          <p:cNvSpPr txBox="1"/>
          <p:nvPr/>
        </p:nvSpPr>
        <p:spPr>
          <a:xfrm>
            <a:off x="685800" y="508000"/>
            <a:ext cx="10820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i-FI" sz="1300" b="1">
                <a:solidFill>
                  <a:srgbClr val="FFD65C"/>
                </a:solidFill>
                <a:latin typeface="Calibri" panose="020F0502020204030204" pitchFamily="34" charset="0"/>
              </a:rPr>
              <a:t>03  ·  MONEY &amp; PAY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B521D19-36BA-3DFA-0BC7-A694EE186E30}"/>
              </a:ext>
            </a:extLst>
          </p:cNvPr>
          <p:cNvSpPr txBox="1"/>
          <p:nvPr/>
        </p:nvSpPr>
        <p:spPr>
          <a:xfrm>
            <a:off x="685800" y="787400"/>
            <a:ext cx="10820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i-FI" sz="3000" b="1">
                <a:solidFill>
                  <a:srgbClr val="FFD65C"/>
                </a:solidFill>
                <a:latin typeface="Calibri" panose="020F0502020204030204" pitchFamily="34" charset="0"/>
              </a:rPr>
              <a:t>Tax card (Verokortti)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068A418-5FAD-3419-F1BC-46CB36F2B38E}"/>
              </a:ext>
            </a:extLst>
          </p:cNvPr>
          <p:cNvSpPr txBox="1"/>
          <p:nvPr/>
        </p:nvSpPr>
        <p:spPr>
          <a:xfrm>
            <a:off x="685800" y="1422400"/>
            <a:ext cx="10820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400">
                <a:solidFill>
                  <a:srgbClr val="9E9E9E"/>
                </a:solidFill>
                <a:latin typeface="Calibri" panose="020F0502020204030204" pitchFamily="34" charset="0"/>
              </a:rPr>
              <a:t>Your tax card sets how much income tax is withheld from your pay.</a:t>
            </a:r>
            <a:endParaRPr lang="fi-FI" sz="1400">
              <a:solidFill>
                <a:srgbClr val="9E9E9E"/>
              </a:solidFill>
              <a:latin typeface="Calibri" panose="020F0502020204030204" pitchFamily="34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760B3073-429B-562B-A337-16DE03D3B695}"/>
              </a:ext>
            </a:extLst>
          </p:cNvPr>
          <p:cNvSpPr/>
          <p:nvPr/>
        </p:nvSpPr>
        <p:spPr>
          <a:xfrm>
            <a:off x="685800" y="2006600"/>
            <a:ext cx="5308600" cy="1892300"/>
          </a:xfrm>
          <a:prstGeom prst="roundRect">
            <a:avLst>
              <a:gd name="adj" fmla="val 7000"/>
            </a:avLst>
          </a:prstGeom>
          <a:solidFill>
            <a:srgbClr val="1A1A1B"/>
          </a:solidFill>
          <a:ln w="12700">
            <a:solidFill>
              <a:srgbClr val="3838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77800" tIns="114300" rIns="152400" bIns="101600" rtlCol="0" anchor="t"/>
          <a:lstStyle/>
          <a:p>
            <a:r>
              <a:rPr lang="en-US" sz="1400" b="1">
                <a:solidFill>
                  <a:srgbClr val="FFD65C"/>
                </a:solidFill>
                <a:latin typeface="Calibri" panose="020F0502020204030204" pitchFamily="34" charset="0"/>
              </a:rPr>
              <a:t>What it is</a:t>
            </a:r>
          </a:p>
          <a:p>
            <a:r>
              <a:rPr lang="en-US" sz="1200">
                <a:solidFill>
                  <a:srgbClr val="E6E6E6"/>
                </a:solidFill>
                <a:latin typeface="Calibri" panose="020F0502020204030204" pitchFamily="34" charset="0"/>
              </a:rPr>
              <a:t>Issued by the Finnish Tax Administration with your personal tax rate.</a:t>
            </a:r>
            <a:endParaRPr lang="fi-FI" sz="1200">
              <a:solidFill>
                <a:srgbClr val="E6E6E6"/>
              </a:solidFill>
              <a:latin typeface="Calibri" panose="020F0502020204030204" pitchFamily="34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8220FD4-C170-1871-FB92-1102B4A5C9D9}"/>
              </a:ext>
            </a:extLst>
          </p:cNvPr>
          <p:cNvSpPr/>
          <p:nvPr/>
        </p:nvSpPr>
        <p:spPr>
          <a:xfrm>
            <a:off x="6197600" y="2006600"/>
            <a:ext cx="5308600" cy="1892300"/>
          </a:xfrm>
          <a:prstGeom prst="roundRect">
            <a:avLst>
              <a:gd name="adj" fmla="val 7000"/>
            </a:avLst>
          </a:prstGeom>
          <a:solidFill>
            <a:srgbClr val="1A1A1B"/>
          </a:solidFill>
          <a:ln w="12700">
            <a:solidFill>
              <a:srgbClr val="3838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77800" tIns="114300" rIns="152400" bIns="101600" rtlCol="0" anchor="t"/>
          <a:lstStyle/>
          <a:p>
            <a:r>
              <a:rPr lang="en-US" sz="1400" b="1">
                <a:solidFill>
                  <a:srgbClr val="FFD65C"/>
                </a:solidFill>
                <a:latin typeface="Calibri" panose="020F0502020204030204" pitchFamily="34" charset="0"/>
              </a:rPr>
              <a:t>How to get one</a:t>
            </a:r>
          </a:p>
          <a:p>
            <a:r>
              <a:rPr lang="en-US" sz="1200">
                <a:solidFill>
                  <a:srgbClr val="E6E6E6"/>
                </a:solidFill>
                <a:latin typeface="Calibri" panose="020F0502020204030204" pitchFamily="34" charset="0"/>
              </a:rPr>
              <a:t>Apply with your ID, personal identity code and estimated annual salary.</a:t>
            </a:r>
            <a:endParaRPr lang="fi-FI" sz="1200">
              <a:solidFill>
                <a:srgbClr val="E6E6E6"/>
              </a:solidFill>
              <a:latin typeface="Calibri" panose="020F0502020204030204" pitchFamily="34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FE2C1F9-6B10-CFFF-25A3-75050738DDD1}"/>
              </a:ext>
            </a:extLst>
          </p:cNvPr>
          <p:cNvSpPr/>
          <p:nvPr/>
        </p:nvSpPr>
        <p:spPr>
          <a:xfrm>
            <a:off x="685800" y="4076700"/>
            <a:ext cx="5308600" cy="1892300"/>
          </a:xfrm>
          <a:prstGeom prst="roundRect">
            <a:avLst>
              <a:gd name="adj" fmla="val 7000"/>
            </a:avLst>
          </a:prstGeom>
          <a:solidFill>
            <a:srgbClr val="1A1A1B"/>
          </a:solidFill>
          <a:ln w="12700">
            <a:solidFill>
              <a:srgbClr val="3838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77800" tIns="114300" rIns="152400" bIns="101600" rtlCol="0" anchor="t"/>
          <a:lstStyle/>
          <a:p>
            <a:r>
              <a:rPr lang="en-US" sz="1400" b="1">
                <a:solidFill>
                  <a:srgbClr val="FFD65C"/>
                </a:solidFill>
                <a:latin typeface="Calibri" panose="020F0502020204030204" pitchFamily="34" charset="0"/>
              </a:rPr>
              <a:t>Give it to HR</a:t>
            </a:r>
          </a:p>
          <a:p>
            <a:r>
              <a:rPr lang="en-US" sz="1200">
                <a:solidFill>
                  <a:srgbClr val="E6E6E6"/>
                </a:solidFill>
                <a:latin typeface="Calibri" panose="020F0502020204030204" pitchFamily="34" charset="0"/>
              </a:rPr>
              <a:t>Submit it to HR / Payroll before your first payday.</a:t>
            </a:r>
            <a:endParaRPr lang="fi-FI" sz="1200">
              <a:solidFill>
                <a:srgbClr val="E6E6E6"/>
              </a:solidFill>
              <a:latin typeface="Calibri" panose="020F0502020204030204" pitchFamily="34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6193477-86E1-294E-52C4-D8C7CD8AB8A6}"/>
              </a:ext>
            </a:extLst>
          </p:cNvPr>
          <p:cNvSpPr/>
          <p:nvPr/>
        </p:nvSpPr>
        <p:spPr>
          <a:xfrm>
            <a:off x="6197600" y="4076700"/>
            <a:ext cx="5308600" cy="1892300"/>
          </a:xfrm>
          <a:prstGeom prst="roundRect">
            <a:avLst>
              <a:gd name="adj" fmla="val 7000"/>
            </a:avLst>
          </a:prstGeom>
          <a:solidFill>
            <a:srgbClr val="1A1A1B"/>
          </a:solidFill>
          <a:ln w="12700">
            <a:solidFill>
              <a:srgbClr val="3838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77800" tIns="114300" rIns="152400" bIns="101600" rtlCol="0" anchor="t"/>
          <a:lstStyle/>
          <a:p>
            <a:r>
              <a:rPr lang="en-US" sz="1400" b="1">
                <a:solidFill>
                  <a:srgbClr val="FFD65C"/>
                </a:solidFill>
                <a:latin typeface="Calibri" panose="020F0502020204030204" pitchFamily="34" charset="0"/>
              </a:rPr>
              <a:t>If it is missing</a:t>
            </a:r>
          </a:p>
          <a:p>
            <a:r>
              <a:rPr lang="en-US" sz="1200">
                <a:solidFill>
                  <a:srgbClr val="E6E6E6"/>
                </a:solidFill>
                <a:latin typeface="Calibri" panose="020F0502020204030204" pitchFamily="34" charset="0"/>
              </a:rPr>
              <a:t>Payroll may withhold tax at a much higher rate until it arrives.</a:t>
            </a:r>
            <a:endParaRPr lang="fi-FI" sz="1200">
              <a:solidFill>
                <a:srgbClr val="E6E6E6"/>
              </a:solidFill>
              <a:latin typeface="Calibri" panose="020F050202020403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263118A-D82C-1EF2-60ED-B1B96AC40F52}"/>
              </a:ext>
            </a:extLst>
          </p:cNvPr>
          <p:cNvSpPr txBox="1"/>
          <p:nvPr/>
        </p:nvSpPr>
        <p:spPr>
          <a:xfrm>
            <a:off x="685800" y="6477000"/>
            <a:ext cx="812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i-FI" sz="1000">
                <a:solidFill>
                  <a:srgbClr val="6E6E6E"/>
                </a:solidFill>
                <a:latin typeface="Calibri" panose="020F0502020204030204" pitchFamily="34" charset="0"/>
              </a:rPr>
              <a:t>Taru HR   ·   Expat Employee Guide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B50361B-E146-D69B-CDA6-42FC2D48E20C}"/>
              </a:ext>
            </a:extLst>
          </p:cNvPr>
          <p:cNvSpPr txBox="1"/>
          <p:nvPr/>
        </p:nvSpPr>
        <p:spPr>
          <a:xfrm>
            <a:off x="10896600" y="6451600"/>
            <a:ext cx="609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fi-FI" sz="1100" b="1">
                <a:solidFill>
                  <a:srgbClr val="FFD65C"/>
                </a:solidFill>
                <a:latin typeface="Calibri" panose="020F0502020204030204" pitchFamily="34" charset="0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2672806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A1B939D-6402-3890-6AAE-124A109187EC}"/>
              </a:ext>
            </a:extLst>
          </p:cNvPr>
          <p:cNvSpPr txBox="1"/>
          <p:nvPr/>
        </p:nvSpPr>
        <p:spPr>
          <a:xfrm>
            <a:off x="685800" y="508000"/>
            <a:ext cx="10820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i-FI" sz="1300" b="1">
                <a:solidFill>
                  <a:srgbClr val="FFD65C"/>
                </a:solidFill>
                <a:latin typeface="Calibri" panose="020F0502020204030204" pitchFamily="34" charset="0"/>
              </a:rPr>
              <a:t>03  ·  MONEY &amp; PAY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7555353-B22C-8B11-5B59-E6CD5F80B0F8}"/>
              </a:ext>
            </a:extLst>
          </p:cNvPr>
          <p:cNvSpPr txBox="1"/>
          <p:nvPr/>
        </p:nvSpPr>
        <p:spPr>
          <a:xfrm>
            <a:off x="685800" y="787400"/>
            <a:ext cx="10820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i-FI" sz="3000" b="1">
                <a:solidFill>
                  <a:srgbClr val="FFD65C"/>
                </a:solidFill>
                <a:latin typeface="Calibri" panose="020F0502020204030204" pitchFamily="34" charset="0"/>
              </a:rPr>
              <a:t>Common tax card types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579414D-4B2D-1EF6-4259-D8DCE9F79FDF}"/>
              </a:ext>
            </a:extLst>
          </p:cNvPr>
          <p:cNvSpPr txBox="1"/>
          <p:nvPr/>
        </p:nvSpPr>
        <p:spPr>
          <a:xfrm>
            <a:off x="685800" y="1422400"/>
            <a:ext cx="10820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400">
                <a:solidFill>
                  <a:srgbClr val="9E9E9E"/>
                </a:solidFill>
                <a:latin typeface="Calibri" panose="020F0502020204030204" pitchFamily="34" charset="0"/>
              </a:rPr>
              <a:t>Which one applies depends on how long you stay and your situation.</a:t>
            </a:r>
            <a:endParaRPr lang="fi-FI" sz="1400">
              <a:solidFill>
                <a:srgbClr val="9E9E9E"/>
              </a:solidFill>
              <a:latin typeface="Calibri" panose="020F0502020204030204" pitchFamily="34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C4D6CCB-0624-9E5B-E5F3-0ABAC0817CB2}"/>
              </a:ext>
            </a:extLst>
          </p:cNvPr>
          <p:cNvSpPr/>
          <p:nvPr/>
        </p:nvSpPr>
        <p:spPr>
          <a:xfrm>
            <a:off x="685800" y="2057400"/>
            <a:ext cx="3454400" cy="3810000"/>
          </a:xfrm>
          <a:prstGeom prst="roundRect">
            <a:avLst>
              <a:gd name="adj" fmla="val 7000"/>
            </a:avLst>
          </a:prstGeom>
          <a:solidFill>
            <a:srgbClr val="1A1A1B"/>
          </a:solidFill>
          <a:ln w="12700">
            <a:solidFill>
              <a:srgbClr val="3838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03200" tIns="177800" rIns="177800" bIns="152400" rtlCol="0" anchor="t"/>
          <a:lstStyle/>
          <a:p>
            <a:r>
              <a:rPr lang="en-US" sz="1600" b="1">
                <a:solidFill>
                  <a:srgbClr val="FFD65C"/>
                </a:solidFill>
                <a:latin typeface="Calibri" panose="020F0502020204030204" pitchFamily="34" charset="0"/>
              </a:rPr>
              <a:t>Standard tax card</a:t>
            </a:r>
          </a:p>
          <a:p>
            <a:endParaRPr lang="en-US" sz="1300">
              <a:solidFill>
                <a:srgbClr val="E6E6E6"/>
              </a:solidFill>
              <a:latin typeface="Calibri" panose="020F0502020204030204" pitchFamily="34" charset="0"/>
            </a:endParaRPr>
          </a:p>
          <a:p>
            <a:r>
              <a:rPr lang="en-US" sz="1300">
                <a:solidFill>
                  <a:srgbClr val="E6E6E6"/>
                </a:solidFill>
                <a:latin typeface="Calibri" panose="020F0502020204030204" pitchFamily="34" charset="0"/>
              </a:rPr>
              <a:t>Staying over 6 months</a:t>
            </a:r>
          </a:p>
          <a:p>
            <a:endParaRPr lang="en-US" sz="1300">
              <a:solidFill>
                <a:srgbClr val="E6E6E6"/>
              </a:solidFill>
              <a:latin typeface="Calibri" panose="020F0502020204030204" pitchFamily="34" charset="0"/>
            </a:endParaRPr>
          </a:p>
          <a:p>
            <a:r>
              <a:rPr lang="en-US" sz="1300">
                <a:solidFill>
                  <a:srgbClr val="E6E6E6"/>
                </a:solidFill>
                <a:latin typeface="Calibri" panose="020F0502020204030204" pitchFamily="34" charset="0"/>
              </a:rPr>
              <a:t>Progressive taxation</a:t>
            </a:r>
          </a:p>
          <a:p>
            <a:endParaRPr lang="en-US" sz="1300">
              <a:solidFill>
                <a:srgbClr val="E6E6E6"/>
              </a:solidFill>
              <a:latin typeface="Calibri" panose="020F0502020204030204" pitchFamily="34" charset="0"/>
            </a:endParaRPr>
          </a:p>
          <a:p>
            <a:r>
              <a:rPr lang="en-US" sz="1300">
                <a:solidFill>
                  <a:srgbClr val="E6E6E6"/>
                </a:solidFill>
                <a:latin typeface="Calibri" panose="020F0502020204030204" pitchFamily="34" charset="0"/>
              </a:rPr>
              <a:t>Income estimate needed</a:t>
            </a:r>
          </a:p>
          <a:p>
            <a:endParaRPr lang="en-US" sz="1300">
              <a:solidFill>
                <a:srgbClr val="E6E6E6"/>
              </a:solidFill>
              <a:latin typeface="Calibri" panose="020F0502020204030204" pitchFamily="34" charset="0"/>
            </a:endParaRPr>
          </a:p>
          <a:p>
            <a:r>
              <a:rPr lang="en-US" sz="1300">
                <a:solidFill>
                  <a:srgbClr val="E6E6E6"/>
                </a:solidFill>
                <a:latin typeface="Calibri" panose="020F0502020204030204" pitchFamily="34" charset="0"/>
              </a:rPr>
              <a:t>Payroll withholds per card %</a:t>
            </a:r>
            <a:endParaRPr lang="fi-FI" sz="1300">
              <a:solidFill>
                <a:srgbClr val="E6E6E6"/>
              </a:solidFill>
              <a:latin typeface="Calibri" panose="020F0502020204030204" pitchFamily="34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1FCC0E5-908A-AD71-9A32-07613F3214F0}"/>
              </a:ext>
            </a:extLst>
          </p:cNvPr>
          <p:cNvSpPr/>
          <p:nvPr/>
        </p:nvSpPr>
        <p:spPr>
          <a:xfrm>
            <a:off x="4368800" y="2057400"/>
            <a:ext cx="3454400" cy="3810000"/>
          </a:xfrm>
          <a:prstGeom prst="roundRect">
            <a:avLst>
              <a:gd name="adj" fmla="val 7000"/>
            </a:avLst>
          </a:prstGeom>
          <a:solidFill>
            <a:srgbClr val="1A1A1B"/>
          </a:solidFill>
          <a:ln w="12700">
            <a:solidFill>
              <a:srgbClr val="3838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03200" tIns="177800" rIns="177800" bIns="152400" rtlCol="0" anchor="t"/>
          <a:lstStyle/>
          <a:p>
            <a:r>
              <a:rPr lang="en-US" sz="1600" b="1">
                <a:solidFill>
                  <a:srgbClr val="FFD65C"/>
                </a:solidFill>
                <a:latin typeface="Calibri" panose="020F0502020204030204" pitchFamily="34" charset="0"/>
              </a:rPr>
              <a:t>Source tax card</a:t>
            </a:r>
          </a:p>
          <a:p>
            <a:endParaRPr lang="en-US" sz="1300">
              <a:solidFill>
                <a:srgbClr val="E6E6E6"/>
              </a:solidFill>
              <a:latin typeface="Calibri" panose="020F0502020204030204" pitchFamily="34" charset="0"/>
            </a:endParaRPr>
          </a:p>
          <a:p>
            <a:r>
              <a:rPr lang="en-US" sz="1300">
                <a:solidFill>
                  <a:srgbClr val="E6E6E6"/>
                </a:solidFill>
                <a:latin typeface="Calibri" panose="020F0502020204030204" pitchFamily="34" charset="0"/>
              </a:rPr>
              <a:t>Staying up to 6 months</a:t>
            </a:r>
          </a:p>
          <a:p>
            <a:endParaRPr lang="en-US" sz="1300">
              <a:solidFill>
                <a:srgbClr val="E6E6E6"/>
              </a:solidFill>
              <a:latin typeface="Calibri" panose="020F0502020204030204" pitchFamily="34" charset="0"/>
            </a:endParaRPr>
          </a:p>
          <a:p>
            <a:r>
              <a:rPr lang="en-US" sz="1300">
                <a:solidFill>
                  <a:srgbClr val="E6E6E6"/>
                </a:solidFill>
                <a:latin typeface="Calibri" panose="020F0502020204030204" pitchFamily="34" charset="0"/>
              </a:rPr>
              <a:t>Flat source tax</a:t>
            </a:r>
          </a:p>
          <a:p>
            <a:endParaRPr lang="en-US" sz="1300">
              <a:solidFill>
                <a:srgbClr val="E6E6E6"/>
              </a:solidFill>
              <a:latin typeface="Calibri" panose="020F0502020204030204" pitchFamily="34" charset="0"/>
            </a:endParaRPr>
          </a:p>
          <a:p>
            <a:r>
              <a:rPr lang="en-US" sz="1300">
                <a:solidFill>
                  <a:srgbClr val="E6E6E6"/>
                </a:solidFill>
                <a:latin typeface="Calibri" panose="020F0502020204030204" pitchFamily="34" charset="0"/>
              </a:rPr>
              <a:t>Usually no estimate</a:t>
            </a:r>
          </a:p>
          <a:p>
            <a:endParaRPr lang="en-US" sz="1300">
              <a:solidFill>
                <a:srgbClr val="E6E6E6"/>
              </a:solidFill>
              <a:latin typeface="Calibri" panose="020F0502020204030204" pitchFamily="34" charset="0"/>
            </a:endParaRPr>
          </a:p>
          <a:p>
            <a:r>
              <a:rPr lang="en-US" sz="1300">
                <a:solidFill>
                  <a:srgbClr val="E6E6E6"/>
                </a:solidFill>
                <a:latin typeface="Calibri" panose="020F0502020204030204" pitchFamily="34" charset="0"/>
              </a:rPr>
              <a:t>Payroll withholds source tax</a:t>
            </a:r>
            <a:endParaRPr lang="fi-FI" sz="1300">
              <a:solidFill>
                <a:srgbClr val="E6E6E6"/>
              </a:solidFill>
              <a:latin typeface="Calibri" panose="020F0502020204030204" pitchFamily="34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1176348-2F45-6DF6-DC27-95B91173CDE7}"/>
              </a:ext>
            </a:extLst>
          </p:cNvPr>
          <p:cNvSpPr/>
          <p:nvPr/>
        </p:nvSpPr>
        <p:spPr>
          <a:xfrm>
            <a:off x="8051800" y="2057400"/>
            <a:ext cx="3454400" cy="3810000"/>
          </a:xfrm>
          <a:prstGeom prst="roundRect">
            <a:avLst>
              <a:gd name="adj" fmla="val 7000"/>
            </a:avLst>
          </a:prstGeom>
          <a:solidFill>
            <a:srgbClr val="1A1A1B"/>
          </a:solidFill>
          <a:ln w="12700">
            <a:solidFill>
              <a:srgbClr val="3838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03200" tIns="177800" rIns="177800" bIns="152400" rtlCol="0" anchor="t"/>
          <a:lstStyle/>
          <a:p>
            <a:r>
              <a:rPr lang="en-US" sz="1600" b="1">
                <a:solidFill>
                  <a:srgbClr val="FFD65C"/>
                </a:solidFill>
                <a:latin typeface="Calibri" panose="020F0502020204030204" pitchFamily="34" charset="0"/>
              </a:rPr>
              <a:t>Special expat regime</a:t>
            </a:r>
          </a:p>
          <a:p>
            <a:endParaRPr lang="en-US" sz="1300">
              <a:solidFill>
                <a:srgbClr val="E6E6E6"/>
              </a:solidFill>
              <a:latin typeface="Calibri" panose="020F0502020204030204" pitchFamily="34" charset="0"/>
            </a:endParaRPr>
          </a:p>
          <a:p>
            <a:r>
              <a:rPr lang="en-US" sz="1300">
                <a:solidFill>
                  <a:srgbClr val="E6E6E6"/>
                </a:solidFill>
                <a:latin typeface="Calibri" panose="020F0502020204030204" pitchFamily="34" charset="0"/>
              </a:rPr>
              <a:t>Eligible foreign experts</a:t>
            </a:r>
          </a:p>
          <a:p>
            <a:endParaRPr lang="en-US" sz="1300">
              <a:solidFill>
                <a:srgbClr val="E6E6E6"/>
              </a:solidFill>
              <a:latin typeface="Calibri" panose="020F0502020204030204" pitchFamily="34" charset="0"/>
            </a:endParaRPr>
          </a:p>
          <a:p>
            <a:r>
              <a:rPr lang="en-US" sz="1300">
                <a:solidFill>
                  <a:srgbClr val="E6E6E6"/>
                </a:solidFill>
                <a:latin typeface="Calibri" panose="020F0502020204030204" pitchFamily="34" charset="0"/>
              </a:rPr>
              <a:t>Fixed special tax rate</a:t>
            </a:r>
          </a:p>
          <a:p>
            <a:endParaRPr lang="en-US" sz="1300">
              <a:solidFill>
                <a:srgbClr val="E6E6E6"/>
              </a:solidFill>
              <a:latin typeface="Calibri" panose="020F0502020204030204" pitchFamily="34" charset="0"/>
            </a:endParaRPr>
          </a:p>
          <a:p>
            <a:r>
              <a:rPr lang="en-US" sz="1300">
                <a:solidFill>
                  <a:srgbClr val="E6E6E6"/>
                </a:solidFill>
                <a:latin typeface="Calibri" panose="020F0502020204030204" pitchFamily="34" charset="0"/>
              </a:rPr>
              <a:t>Income estimate needed</a:t>
            </a:r>
          </a:p>
          <a:p>
            <a:endParaRPr lang="en-US" sz="1300">
              <a:solidFill>
                <a:srgbClr val="E6E6E6"/>
              </a:solidFill>
              <a:latin typeface="Calibri" panose="020F0502020204030204" pitchFamily="34" charset="0"/>
            </a:endParaRPr>
          </a:p>
          <a:p>
            <a:r>
              <a:rPr lang="en-US" sz="1300">
                <a:solidFill>
                  <a:srgbClr val="E6E6E6"/>
                </a:solidFill>
                <a:latin typeface="Calibri" panose="020F0502020204030204" pitchFamily="34" charset="0"/>
              </a:rPr>
              <a:t>Payroll applies approved rate</a:t>
            </a:r>
            <a:endParaRPr lang="fi-FI" sz="1300">
              <a:solidFill>
                <a:srgbClr val="E6E6E6"/>
              </a:solidFill>
              <a:latin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01F1548-6221-A05D-06BD-7B5F034E730F}"/>
              </a:ext>
            </a:extLst>
          </p:cNvPr>
          <p:cNvSpPr txBox="1"/>
          <p:nvPr/>
        </p:nvSpPr>
        <p:spPr>
          <a:xfrm>
            <a:off x="685800" y="6477000"/>
            <a:ext cx="812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i-FI" sz="1000">
                <a:solidFill>
                  <a:srgbClr val="6E6E6E"/>
                </a:solidFill>
                <a:latin typeface="Calibri" panose="020F0502020204030204" pitchFamily="34" charset="0"/>
              </a:rPr>
              <a:t>Taru HR   ·   Expat Employee Guide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07052F6-DD3B-36D7-5EE1-1A0144564BFB}"/>
              </a:ext>
            </a:extLst>
          </p:cNvPr>
          <p:cNvSpPr txBox="1"/>
          <p:nvPr/>
        </p:nvSpPr>
        <p:spPr>
          <a:xfrm>
            <a:off x="10896600" y="6451600"/>
            <a:ext cx="609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fi-FI" sz="1100" b="1">
                <a:solidFill>
                  <a:srgbClr val="FFD65C"/>
                </a:solidFill>
                <a:latin typeface="Calibri" panose="020F0502020204030204" pitchFamily="34" charset="0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39340536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AC6A1DF-A01F-B8F6-D661-AC62C17BED45}"/>
              </a:ext>
            </a:extLst>
          </p:cNvPr>
          <p:cNvSpPr txBox="1"/>
          <p:nvPr/>
        </p:nvSpPr>
        <p:spPr>
          <a:xfrm>
            <a:off x="685800" y="508000"/>
            <a:ext cx="10820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i-FI" sz="1300" b="1">
                <a:solidFill>
                  <a:srgbClr val="FFD65C"/>
                </a:solidFill>
                <a:latin typeface="Calibri" panose="020F0502020204030204" pitchFamily="34" charset="0"/>
              </a:rPr>
              <a:t>03  ·  MONEY &amp; PAY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AD029CD-187F-7B71-7540-BEF1ACD07CE7}"/>
              </a:ext>
            </a:extLst>
          </p:cNvPr>
          <p:cNvSpPr txBox="1"/>
          <p:nvPr/>
        </p:nvSpPr>
        <p:spPr>
          <a:xfrm>
            <a:off x="685800" y="787400"/>
            <a:ext cx="10820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i-FI" sz="3000" b="1">
                <a:solidFill>
                  <a:srgbClr val="FFD65C"/>
                </a:solidFill>
                <a:latin typeface="Calibri" panose="020F0502020204030204" pitchFamily="34" charset="0"/>
              </a:rPr>
              <a:t>Salary &amp; payslip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0C1B43B-C0B7-F6FC-CF96-2AF3017CFB20}"/>
              </a:ext>
            </a:extLst>
          </p:cNvPr>
          <p:cNvSpPr txBox="1"/>
          <p:nvPr/>
        </p:nvSpPr>
        <p:spPr>
          <a:xfrm>
            <a:off x="685800" y="1422400"/>
            <a:ext cx="10820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400">
                <a:solidFill>
                  <a:srgbClr val="9E9E9E"/>
                </a:solidFill>
                <a:latin typeface="Calibri" panose="020F0502020204030204" pitchFamily="34" charset="0"/>
              </a:rPr>
              <a:t>How and when you are paid.</a:t>
            </a:r>
            <a:endParaRPr lang="fi-FI" sz="1400">
              <a:solidFill>
                <a:srgbClr val="9E9E9E"/>
              </a:solidFill>
              <a:latin typeface="Calibri" panose="020F0502020204030204" pitchFamily="34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9A31104-7723-66F0-83A2-F6AC2E6D4CCF}"/>
              </a:ext>
            </a:extLst>
          </p:cNvPr>
          <p:cNvSpPr/>
          <p:nvPr/>
        </p:nvSpPr>
        <p:spPr>
          <a:xfrm>
            <a:off x="685800" y="1905000"/>
            <a:ext cx="5308600" cy="1549400"/>
          </a:xfrm>
          <a:prstGeom prst="roundRect">
            <a:avLst>
              <a:gd name="adj" fmla="val 7000"/>
            </a:avLst>
          </a:prstGeom>
          <a:solidFill>
            <a:srgbClr val="1A1A1B"/>
          </a:solidFill>
          <a:ln w="12700">
            <a:solidFill>
              <a:srgbClr val="3838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77800" tIns="114300" rIns="152400" bIns="101600" rtlCol="0" anchor="t"/>
          <a:lstStyle/>
          <a:p>
            <a:r>
              <a:rPr lang="en-US" sz="1400" b="1">
                <a:solidFill>
                  <a:srgbClr val="FFD65C"/>
                </a:solidFill>
                <a:latin typeface="Calibri" panose="020F0502020204030204" pitchFamily="34" charset="0"/>
              </a:rPr>
              <a:t>Pay day</a:t>
            </a:r>
          </a:p>
          <a:p>
            <a:r>
              <a:rPr lang="en-US" sz="1200">
                <a:solidFill>
                  <a:srgbClr val="E6E6E6"/>
                </a:solidFill>
                <a:latin typeface="Calibri" panose="020F0502020204030204" pitchFamily="34" charset="0"/>
              </a:rPr>
              <a:t>Usually once a month on the agreed date (e.g. the 15th or last banking day).</a:t>
            </a:r>
            <a:endParaRPr lang="fi-FI" sz="1200">
              <a:solidFill>
                <a:srgbClr val="E6E6E6"/>
              </a:solidFill>
              <a:latin typeface="Calibri" panose="020F0502020204030204" pitchFamily="34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CA3C5E7-41EC-CFFE-07C6-24C9D1D9F6A6}"/>
              </a:ext>
            </a:extLst>
          </p:cNvPr>
          <p:cNvSpPr/>
          <p:nvPr/>
        </p:nvSpPr>
        <p:spPr>
          <a:xfrm>
            <a:off x="6197600" y="1905000"/>
            <a:ext cx="5308600" cy="1549400"/>
          </a:xfrm>
          <a:prstGeom prst="roundRect">
            <a:avLst>
              <a:gd name="adj" fmla="val 7000"/>
            </a:avLst>
          </a:prstGeom>
          <a:solidFill>
            <a:srgbClr val="1A1A1B"/>
          </a:solidFill>
          <a:ln w="12700">
            <a:solidFill>
              <a:srgbClr val="3838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77800" tIns="114300" rIns="152400" bIns="101600" rtlCol="0" anchor="t"/>
          <a:lstStyle/>
          <a:p>
            <a:r>
              <a:rPr lang="en-US" sz="1400" b="1">
                <a:solidFill>
                  <a:srgbClr val="FFD65C"/>
                </a:solidFill>
                <a:latin typeface="Calibri" panose="020F0502020204030204" pitchFamily="34" charset="0"/>
              </a:rPr>
              <a:t>What it includes</a:t>
            </a:r>
          </a:p>
          <a:p>
            <a:r>
              <a:rPr lang="en-US" sz="1200">
                <a:solidFill>
                  <a:srgbClr val="E6E6E6"/>
                </a:solidFill>
                <a:latin typeface="Calibri" panose="020F0502020204030204" pitchFamily="34" charset="0"/>
              </a:rPr>
              <a:t>Base salary, any overtime, bonuses and taxable benefits.</a:t>
            </a:r>
            <a:endParaRPr lang="fi-FI" sz="1200">
              <a:solidFill>
                <a:srgbClr val="E6E6E6"/>
              </a:solidFill>
              <a:latin typeface="Calibri" panose="020F0502020204030204" pitchFamily="34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EC97BAE-8E83-9095-5B4E-5EAF365B8651}"/>
              </a:ext>
            </a:extLst>
          </p:cNvPr>
          <p:cNvSpPr/>
          <p:nvPr/>
        </p:nvSpPr>
        <p:spPr>
          <a:xfrm>
            <a:off x="685800" y="3632200"/>
            <a:ext cx="5308600" cy="1549400"/>
          </a:xfrm>
          <a:prstGeom prst="roundRect">
            <a:avLst>
              <a:gd name="adj" fmla="val 7000"/>
            </a:avLst>
          </a:prstGeom>
          <a:solidFill>
            <a:srgbClr val="1A1A1B"/>
          </a:solidFill>
          <a:ln w="12700">
            <a:solidFill>
              <a:srgbClr val="3838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77800" tIns="114300" rIns="152400" bIns="101600" rtlCol="0" anchor="t"/>
          <a:lstStyle/>
          <a:p>
            <a:r>
              <a:rPr lang="en-US" sz="1400" b="1">
                <a:solidFill>
                  <a:srgbClr val="FFD65C"/>
                </a:solidFill>
                <a:latin typeface="Calibri" panose="020F0502020204030204" pitchFamily="34" charset="0"/>
              </a:rPr>
              <a:t>Gross vs net</a:t>
            </a:r>
          </a:p>
          <a:p>
            <a:r>
              <a:rPr lang="en-US" sz="1200">
                <a:solidFill>
                  <a:srgbClr val="E6E6E6"/>
                </a:solidFill>
                <a:latin typeface="Calibri" panose="020F0502020204030204" pitchFamily="34" charset="0"/>
              </a:rPr>
              <a:t>Gross is before deductions; net is what reaches your bank account.</a:t>
            </a:r>
            <a:endParaRPr lang="fi-FI" sz="1200">
              <a:solidFill>
                <a:srgbClr val="E6E6E6"/>
              </a:solidFill>
              <a:latin typeface="Calibri" panose="020F0502020204030204" pitchFamily="34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BE2724E-4E0E-9799-265C-B975592C9C1E}"/>
              </a:ext>
            </a:extLst>
          </p:cNvPr>
          <p:cNvSpPr/>
          <p:nvPr/>
        </p:nvSpPr>
        <p:spPr>
          <a:xfrm>
            <a:off x="6197600" y="3632200"/>
            <a:ext cx="5308600" cy="1549400"/>
          </a:xfrm>
          <a:prstGeom prst="roundRect">
            <a:avLst>
              <a:gd name="adj" fmla="val 7000"/>
            </a:avLst>
          </a:prstGeom>
          <a:solidFill>
            <a:srgbClr val="1A1A1B"/>
          </a:solidFill>
          <a:ln w="12700">
            <a:solidFill>
              <a:srgbClr val="3838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77800" tIns="114300" rIns="152400" bIns="101600" rtlCol="0" anchor="t"/>
          <a:lstStyle/>
          <a:p>
            <a:r>
              <a:rPr lang="en-US" sz="1400" b="1">
                <a:solidFill>
                  <a:srgbClr val="FFD65C"/>
                </a:solidFill>
                <a:latin typeface="Calibri" panose="020F0502020204030204" pitchFamily="34" charset="0"/>
              </a:rPr>
              <a:t>Deductions</a:t>
            </a:r>
          </a:p>
          <a:p>
            <a:r>
              <a:rPr lang="en-US" sz="1200">
                <a:solidFill>
                  <a:srgbClr val="E6E6E6"/>
                </a:solidFill>
                <a:latin typeface="Calibri" panose="020F0502020204030204" pitchFamily="34" charset="0"/>
              </a:rPr>
              <a:t>Income tax, pension and unemployment insurance and other statutory items.</a:t>
            </a:r>
            <a:endParaRPr lang="fi-FI" sz="1200">
              <a:solidFill>
                <a:srgbClr val="E6E6E6"/>
              </a:solidFill>
              <a:latin typeface="Calibri" panose="020F0502020204030204" pitchFamily="34" charset="0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A79C2E4-8C2F-6437-E73F-0A9D1DE9B049}"/>
              </a:ext>
            </a:extLst>
          </p:cNvPr>
          <p:cNvSpPr/>
          <p:nvPr/>
        </p:nvSpPr>
        <p:spPr>
          <a:xfrm>
            <a:off x="685800" y="5308600"/>
            <a:ext cx="10820400" cy="508000"/>
          </a:xfrm>
          <a:prstGeom prst="roundRect">
            <a:avLst>
              <a:gd name="adj" fmla="val 7000"/>
            </a:avLst>
          </a:prstGeom>
          <a:solidFill>
            <a:srgbClr val="1A1A1B"/>
          </a:solidFill>
          <a:ln w="15875">
            <a:solidFill>
              <a:srgbClr val="FFD6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03200" tIns="101600" rIns="177800" bIns="101600" rtlCol="0" anchor="ctr"/>
          <a:lstStyle/>
          <a:p>
            <a:r>
              <a:rPr lang="en-US" sz="1300" b="1">
                <a:solidFill>
                  <a:srgbClr val="FFD65C"/>
                </a:solidFill>
                <a:latin typeface="Calibri" panose="020F0502020204030204" pitchFamily="34" charset="0"/>
              </a:rPr>
              <a:t>Questions?</a:t>
            </a:r>
            <a:r>
              <a:rPr lang="en-US" sz="1300">
                <a:solidFill>
                  <a:srgbClr val="E6E6E6"/>
                </a:solidFill>
                <a:latin typeface="Calibri" panose="020F0502020204030204" pitchFamily="34" charset="0"/>
              </a:rPr>
              <a:t>   Spot an issue on your payslip? Contact Payroll or HR as soon as possible.</a:t>
            </a:r>
            <a:endParaRPr lang="fi-FI" sz="1300">
              <a:solidFill>
                <a:srgbClr val="E6E6E6"/>
              </a:solidFill>
              <a:latin typeface="Calibri" panose="020F050202020403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84F680E-839D-9A64-7BAA-94AF679822F4}"/>
              </a:ext>
            </a:extLst>
          </p:cNvPr>
          <p:cNvSpPr txBox="1"/>
          <p:nvPr/>
        </p:nvSpPr>
        <p:spPr>
          <a:xfrm>
            <a:off x="685800" y="6477000"/>
            <a:ext cx="812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i-FI" sz="1000">
                <a:solidFill>
                  <a:srgbClr val="6E6E6E"/>
                </a:solidFill>
                <a:latin typeface="Calibri" panose="020F0502020204030204" pitchFamily="34" charset="0"/>
              </a:rPr>
              <a:t>Taru HR   ·   Expat Employee Guide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ECAF7D6-4E88-E8CD-9C2D-82995B25B144}"/>
              </a:ext>
            </a:extLst>
          </p:cNvPr>
          <p:cNvSpPr txBox="1"/>
          <p:nvPr/>
        </p:nvSpPr>
        <p:spPr>
          <a:xfrm>
            <a:off x="10896600" y="6451600"/>
            <a:ext cx="609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fi-FI" sz="1100" b="1">
                <a:solidFill>
                  <a:srgbClr val="FFD65C"/>
                </a:solidFill>
                <a:latin typeface="Calibri" panose="020F0502020204030204" pitchFamily="34" charset="0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4226814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635BA77-5C92-6FC2-A331-12D8DB3A99E5}"/>
              </a:ext>
            </a:extLst>
          </p:cNvPr>
          <p:cNvSpPr txBox="1"/>
          <p:nvPr/>
        </p:nvSpPr>
        <p:spPr>
          <a:xfrm>
            <a:off x="685800" y="508000"/>
            <a:ext cx="10820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i-FI" sz="1300" b="1">
                <a:solidFill>
                  <a:srgbClr val="FFD65C"/>
                </a:solidFill>
                <a:latin typeface="Calibri" panose="020F0502020204030204" pitchFamily="34" charset="0"/>
              </a:rPr>
              <a:t>04  ·  WORKING LIFE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D56524B-10F7-1F7C-4283-3FE4E666036A}"/>
              </a:ext>
            </a:extLst>
          </p:cNvPr>
          <p:cNvSpPr txBox="1"/>
          <p:nvPr/>
        </p:nvSpPr>
        <p:spPr>
          <a:xfrm>
            <a:off x="685800" y="787400"/>
            <a:ext cx="10820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i-FI" sz="3000" b="1">
                <a:solidFill>
                  <a:srgbClr val="FFD65C"/>
                </a:solidFill>
                <a:latin typeface="Calibri" panose="020F0502020204030204" pitchFamily="34" charset="0"/>
              </a:rPr>
              <a:t>Working hours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48C3C36-BDC7-B7FF-CEF5-7BC3F01FABB1}"/>
              </a:ext>
            </a:extLst>
          </p:cNvPr>
          <p:cNvSpPr txBox="1"/>
          <p:nvPr/>
        </p:nvSpPr>
        <p:spPr>
          <a:xfrm>
            <a:off x="685800" y="1422400"/>
            <a:ext cx="10820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400">
                <a:solidFill>
                  <a:srgbClr val="9E9E9E"/>
                </a:solidFill>
                <a:latin typeface="Calibri" panose="020F0502020204030204" pitchFamily="34" charset="0"/>
              </a:rPr>
              <a:t>Standard full-time hours are 37.5 per week.</a:t>
            </a:r>
            <a:endParaRPr lang="fi-FI" sz="1400">
              <a:solidFill>
                <a:srgbClr val="9E9E9E"/>
              </a:solidFill>
              <a:latin typeface="Calibri" panose="020F0502020204030204" pitchFamily="34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4973D40-9717-4709-6FCE-9126530DD525}"/>
              </a:ext>
            </a:extLst>
          </p:cNvPr>
          <p:cNvSpPr/>
          <p:nvPr/>
        </p:nvSpPr>
        <p:spPr>
          <a:xfrm>
            <a:off x="685800" y="2032000"/>
            <a:ext cx="5308600" cy="1917700"/>
          </a:xfrm>
          <a:prstGeom prst="roundRect">
            <a:avLst>
              <a:gd name="adj" fmla="val 7000"/>
            </a:avLst>
          </a:prstGeom>
          <a:solidFill>
            <a:srgbClr val="1A1A1B"/>
          </a:solidFill>
          <a:ln w="12700">
            <a:solidFill>
              <a:srgbClr val="3838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77800" tIns="114300" rIns="152400" bIns="101600" rtlCol="0" anchor="t"/>
          <a:lstStyle/>
          <a:p>
            <a:r>
              <a:rPr lang="en-US" sz="1400" b="1">
                <a:solidFill>
                  <a:srgbClr val="FFD65C"/>
                </a:solidFill>
                <a:latin typeface="Calibri" panose="020F0502020204030204" pitchFamily="34" charset="0"/>
              </a:rPr>
              <a:t>Daily hours</a:t>
            </a:r>
          </a:p>
          <a:p>
            <a:r>
              <a:rPr lang="en-US" sz="1200">
                <a:solidFill>
                  <a:srgbClr val="E6E6E6"/>
                </a:solidFill>
                <a:latin typeface="Calibri" panose="020F0502020204030204" pitchFamily="34" charset="0"/>
              </a:rPr>
              <a:t>About 7.5 hours per day, Monday to Friday.</a:t>
            </a:r>
            <a:endParaRPr lang="fi-FI" sz="1200">
              <a:solidFill>
                <a:srgbClr val="E6E6E6"/>
              </a:solidFill>
              <a:latin typeface="Calibri" panose="020F0502020204030204" pitchFamily="34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EDE8552-D1C0-33A3-83F8-C2FEC59217BF}"/>
              </a:ext>
            </a:extLst>
          </p:cNvPr>
          <p:cNvSpPr/>
          <p:nvPr/>
        </p:nvSpPr>
        <p:spPr>
          <a:xfrm>
            <a:off x="6197600" y="2032000"/>
            <a:ext cx="5308600" cy="1917700"/>
          </a:xfrm>
          <a:prstGeom prst="roundRect">
            <a:avLst>
              <a:gd name="adj" fmla="val 7000"/>
            </a:avLst>
          </a:prstGeom>
          <a:solidFill>
            <a:srgbClr val="1A1A1B"/>
          </a:solidFill>
          <a:ln w="12700">
            <a:solidFill>
              <a:srgbClr val="3838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77800" tIns="114300" rIns="152400" bIns="101600" rtlCol="0" anchor="t"/>
          <a:lstStyle/>
          <a:p>
            <a:r>
              <a:rPr lang="en-US" sz="1400" b="1">
                <a:solidFill>
                  <a:srgbClr val="FFD65C"/>
                </a:solidFill>
                <a:latin typeface="Calibri" panose="020F0502020204030204" pitchFamily="34" charset="0"/>
              </a:rPr>
              <a:t>Flexible times</a:t>
            </a:r>
          </a:p>
          <a:p>
            <a:r>
              <a:rPr lang="en-US" sz="1200">
                <a:solidFill>
                  <a:srgbClr val="E6E6E6"/>
                </a:solidFill>
                <a:latin typeface="Calibri" panose="020F0502020204030204" pitchFamily="34" charset="0"/>
              </a:rPr>
              <a:t>Flexible start and finish, depending on your role and team.</a:t>
            </a:r>
            <a:endParaRPr lang="fi-FI" sz="1200">
              <a:solidFill>
                <a:srgbClr val="E6E6E6"/>
              </a:solidFill>
              <a:latin typeface="Calibri" panose="020F0502020204030204" pitchFamily="34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EE92021-C1BA-37D3-8F7F-4D60524EA9A0}"/>
              </a:ext>
            </a:extLst>
          </p:cNvPr>
          <p:cNvSpPr/>
          <p:nvPr/>
        </p:nvSpPr>
        <p:spPr>
          <a:xfrm>
            <a:off x="685800" y="4127500"/>
            <a:ext cx="5308600" cy="1917700"/>
          </a:xfrm>
          <a:prstGeom prst="roundRect">
            <a:avLst>
              <a:gd name="adj" fmla="val 7000"/>
            </a:avLst>
          </a:prstGeom>
          <a:solidFill>
            <a:srgbClr val="1A1A1B"/>
          </a:solidFill>
          <a:ln w="12700">
            <a:solidFill>
              <a:srgbClr val="3838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77800" tIns="114300" rIns="152400" bIns="101600" rtlCol="0" anchor="t"/>
          <a:lstStyle/>
          <a:p>
            <a:r>
              <a:rPr lang="en-US" sz="1400" b="1">
                <a:solidFill>
                  <a:srgbClr val="FFD65C"/>
                </a:solidFill>
                <a:latin typeface="Calibri" panose="020F0502020204030204" pitchFamily="34" charset="0"/>
              </a:rPr>
              <a:t>Core hours</a:t>
            </a:r>
          </a:p>
          <a:p>
            <a:r>
              <a:rPr lang="en-US" sz="1200">
                <a:solidFill>
                  <a:srgbClr val="E6E6E6"/>
                </a:solidFill>
                <a:latin typeface="Calibri" panose="020F0502020204030204" pitchFamily="34" charset="0"/>
              </a:rPr>
              <a:t>Be available 9-15 for meetings and team coordination.</a:t>
            </a:r>
            <a:endParaRPr lang="fi-FI" sz="1200">
              <a:solidFill>
                <a:srgbClr val="E6E6E6"/>
              </a:solidFill>
              <a:latin typeface="Calibri" panose="020F0502020204030204" pitchFamily="34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C5EE786-7A71-CDFB-B85D-EC00D78BD2A7}"/>
              </a:ext>
            </a:extLst>
          </p:cNvPr>
          <p:cNvSpPr/>
          <p:nvPr/>
        </p:nvSpPr>
        <p:spPr>
          <a:xfrm>
            <a:off x="6197600" y="4127500"/>
            <a:ext cx="5308600" cy="1917700"/>
          </a:xfrm>
          <a:prstGeom prst="roundRect">
            <a:avLst>
              <a:gd name="adj" fmla="val 7000"/>
            </a:avLst>
          </a:prstGeom>
          <a:solidFill>
            <a:srgbClr val="1A1A1B"/>
          </a:solidFill>
          <a:ln w="12700">
            <a:solidFill>
              <a:srgbClr val="3838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77800" tIns="114300" rIns="152400" bIns="101600" rtlCol="0" anchor="t"/>
          <a:lstStyle/>
          <a:p>
            <a:r>
              <a:rPr lang="en-US" sz="1400" b="1">
                <a:solidFill>
                  <a:srgbClr val="FFD65C"/>
                </a:solidFill>
                <a:latin typeface="Calibri" panose="020F0502020204030204" pitchFamily="34" charset="0"/>
              </a:rPr>
              <a:t>Hybrid &amp; remote</a:t>
            </a:r>
          </a:p>
          <a:p>
            <a:r>
              <a:rPr lang="en-US" sz="1200">
                <a:solidFill>
                  <a:srgbClr val="E6E6E6"/>
                </a:solidFill>
                <a:latin typeface="Calibri" panose="020F0502020204030204" pitchFamily="34" charset="0"/>
              </a:rPr>
              <a:t>May be available, subject to manager approval and business needs.</a:t>
            </a:r>
            <a:endParaRPr lang="fi-FI" sz="1200">
              <a:solidFill>
                <a:srgbClr val="E6E6E6"/>
              </a:solidFill>
              <a:latin typeface="Calibri" panose="020F050202020403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34D62BB-A868-888F-CC52-3419DB82A760}"/>
              </a:ext>
            </a:extLst>
          </p:cNvPr>
          <p:cNvSpPr txBox="1"/>
          <p:nvPr/>
        </p:nvSpPr>
        <p:spPr>
          <a:xfrm>
            <a:off x="685800" y="6477000"/>
            <a:ext cx="812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i-FI" sz="1000">
                <a:solidFill>
                  <a:srgbClr val="6E6E6E"/>
                </a:solidFill>
                <a:latin typeface="Calibri" panose="020F0502020204030204" pitchFamily="34" charset="0"/>
              </a:rPr>
              <a:t>Taru HR   ·   Expat Employee Guide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B5CED38-4F08-82FE-825A-8C75BD497692}"/>
              </a:ext>
            </a:extLst>
          </p:cNvPr>
          <p:cNvSpPr txBox="1"/>
          <p:nvPr/>
        </p:nvSpPr>
        <p:spPr>
          <a:xfrm>
            <a:off x="10896600" y="6451600"/>
            <a:ext cx="609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fi-FI" sz="1100" b="1">
                <a:solidFill>
                  <a:srgbClr val="FFD65C"/>
                </a:solidFill>
                <a:latin typeface="Calibri" panose="020F0502020204030204" pitchFamily="34" charset="0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22245721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FC731D7-4F3A-14FC-B67D-CE643AAC3A0D}"/>
              </a:ext>
            </a:extLst>
          </p:cNvPr>
          <p:cNvSpPr txBox="1"/>
          <p:nvPr/>
        </p:nvSpPr>
        <p:spPr>
          <a:xfrm>
            <a:off x="685800" y="508000"/>
            <a:ext cx="10820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i-FI" sz="1300" b="1">
                <a:solidFill>
                  <a:srgbClr val="FFD65C"/>
                </a:solidFill>
                <a:latin typeface="Calibri" panose="020F0502020204030204" pitchFamily="34" charset="0"/>
              </a:rPr>
              <a:t>04  ·  WORKING LIFE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0487EFD-D735-B034-CB27-312B8AFBA446}"/>
              </a:ext>
            </a:extLst>
          </p:cNvPr>
          <p:cNvSpPr txBox="1"/>
          <p:nvPr/>
        </p:nvSpPr>
        <p:spPr>
          <a:xfrm>
            <a:off x="685800" y="787400"/>
            <a:ext cx="10820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i-FI" sz="3000" b="1">
                <a:solidFill>
                  <a:srgbClr val="FFD65C"/>
                </a:solidFill>
                <a:latin typeface="Calibri" panose="020F0502020204030204" pitchFamily="34" charset="0"/>
              </a:rPr>
              <a:t>Annual leave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0F590B3-DD13-A4CB-A3A4-83E9408CEB16}"/>
              </a:ext>
            </a:extLst>
          </p:cNvPr>
          <p:cNvSpPr txBox="1"/>
          <p:nvPr/>
        </p:nvSpPr>
        <p:spPr>
          <a:xfrm>
            <a:off x="685800" y="1422400"/>
            <a:ext cx="10820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400">
                <a:solidFill>
                  <a:srgbClr val="9E9E9E"/>
                </a:solidFill>
                <a:latin typeface="Calibri" panose="020F0502020204030204" pitchFamily="34" charset="0"/>
              </a:rPr>
              <a:t>Your holiday entitlement and how it works.</a:t>
            </a:r>
            <a:endParaRPr lang="fi-FI" sz="1400">
              <a:solidFill>
                <a:srgbClr val="9E9E9E"/>
              </a:solidFill>
              <a:latin typeface="Calibri" panose="020F0502020204030204" pitchFamily="34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94AD7DBC-0718-A9B2-ED61-31742942FEB6}"/>
              </a:ext>
            </a:extLst>
          </p:cNvPr>
          <p:cNvSpPr/>
          <p:nvPr/>
        </p:nvSpPr>
        <p:spPr>
          <a:xfrm>
            <a:off x="685800" y="1905000"/>
            <a:ext cx="5308600" cy="1270000"/>
          </a:xfrm>
          <a:prstGeom prst="roundRect">
            <a:avLst>
              <a:gd name="adj" fmla="val 7000"/>
            </a:avLst>
          </a:prstGeom>
          <a:solidFill>
            <a:srgbClr val="1A1A1B"/>
          </a:solidFill>
          <a:ln w="12700">
            <a:solidFill>
              <a:srgbClr val="3838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77800" tIns="114300" rIns="152400" bIns="101600" rtlCol="0" anchor="t"/>
          <a:lstStyle/>
          <a:p>
            <a:r>
              <a:rPr lang="en-US" sz="1400" b="1">
                <a:solidFill>
                  <a:srgbClr val="FFD65C"/>
                </a:solidFill>
                <a:latin typeface="Calibri" panose="020F0502020204030204" pitchFamily="34" charset="0"/>
              </a:rPr>
              <a:t>How it accrues</a:t>
            </a:r>
          </a:p>
          <a:p>
            <a:r>
              <a:rPr lang="en-US" sz="1200">
                <a:solidFill>
                  <a:srgbClr val="E6E6E6"/>
                </a:solidFill>
                <a:latin typeface="Calibri" panose="020F0502020204030204" pitchFamily="34" charset="0"/>
              </a:rPr>
              <a:t>Earned by months worked; depends on service and the applicable agreement.</a:t>
            </a:r>
            <a:endParaRPr lang="fi-FI" sz="1200">
              <a:solidFill>
                <a:srgbClr val="E6E6E6"/>
              </a:solidFill>
              <a:latin typeface="Calibri" panose="020F0502020204030204" pitchFamily="34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EBA4C64-3554-C8EF-8C77-68D390F34621}"/>
              </a:ext>
            </a:extLst>
          </p:cNvPr>
          <p:cNvSpPr/>
          <p:nvPr/>
        </p:nvSpPr>
        <p:spPr>
          <a:xfrm>
            <a:off x="6197600" y="1905000"/>
            <a:ext cx="5308600" cy="1270000"/>
          </a:xfrm>
          <a:prstGeom prst="roundRect">
            <a:avLst>
              <a:gd name="adj" fmla="val 7000"/>
            </a:avLst>
          </a:prstGeom>
          <a:solidFill>
            <a:srgbClr val="1A1A1B"/>
          </a:solidFill>
          <a:ln w="12700">
            <a:solidFill>
              <a:srgbClr val="3838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77800" tIns="114300" rIns="152400" bIns="101600" rtlCol="0" anchor="t"/>
          <a:lstStyle/>
          <a:p>
            <a:r>
              <a:rPr lang="en-US" sz="1400" b="1">
                <a:solidFill>
                  <a:srgbClr val="FFD65C"/>
                </a:solidFill>
                <a:latin typeface="Calibri" panose="020F0502020204030204" pitchFamily="34" charset="0"/>
              </a:rPr>
              <a:t>Holiday year</a:t>
            </a:r>
          </a:p>
          <a:p>
            <a:r>
              <a:rPr lang="en-US" sz="1200">
                <a:solidFill>
                  <a:srgbClr val="E6E6E6"/>
                </a:solidFill>
                <a:latin typeface="Calibri" panose="020F0502020204030204" pitchFamily="34" charset="0"/>
              </a:rPr>
              <a:t>Runs 1 April to 31 March; leave is usually taken the following season.</a:t>
            </a:r>
            <a:endParaRPr lang="fi-FI" sz="1200">
              <a:solidFill>
                <a:srgbClr val="E6E6E6"/>
              </a:solidFill>
              <a:latin typeface="Calibri" panose="020F0502020204030204" pitchFamily="34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9E4520B-3DAB-3440-85FB-9AAAC8960AB1}"/>
              </a:ext>
            </a:extLst>
          </p:cNvPr>
          <p:cNvSpPr/>
          <p:nvPr/>
        </p:nvSpPr>
        <p:spPr>
          <a:xfrm>
            <a:off x="685800" y="3352800"/>
            <a:ext cx="5308600" cy="1270000"/>
          </a:xfrm>
          <a:prstGeom prst="roundRect">
            <a:avLst>
              <a:gd name="adj" fmla="val 7000"/>
            </a:avLst>
          </a:prstGeom>
          <a:solidFill>
            <a:srgbClr val="1A1A1B"/>
          </a:solidFill>
          <a:ln w="12700">
            <a:solidFill>
              <a:srgbClr val="3838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77800" tIns="114300" rIns="152400" bIns="101600" rtlCol="0" anchor="t"/>
          <a:lstStyle/>
          <a:p>
            <a:r>
              <a:rPr lang="en-US" sz="1400" b="1">
                <a:solidFill>
                  <a:srgbClr val="FFD65C"/>
                </a:solidFill>
                <a:latin typeface="Calibri" panose="020F0502020204030204" pitchFamily="34" charset="0"/>
              </a:rPr>
              <a:t>Requesting leave</a:t>
            </a:r>
          </a:p>
          <a:p>
            <a:r>
              <a:rPr lang="en-US" sz="1200">
                <a:solidFill>
                  <a:srgbClr val="E6E6E6"/>
                </a:solidFill>
                <a:latin typeface="Calibri" panose="020F0502020204030204" pitchFamily="34" charset="0"/>
              </a:rPr>
              <a:t>Agree and approve leave in advance via HR / your manager.</a:t>
            </a:r>
            <a:endParaRPr lang="fi-FI" sz="1200">
              <a:solidFill>
                <a:srgbClr val="E6E6E6"/>
              </a:solidFill>
              <a:latin typeface="Calibri" panose="020F0502020204030204" pitchFamily="34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9FF0680-A60C-8C59-2191-64508AE24CB9}"/>
              </a:ext>
            </a:extLst>
          </p:cNvPr>
          <p:cNvSpPr/>
          <p:nvPr/>
        </p:nvSpPr>
        <p:spPr>
          <a:xfrm>
            <a:off x="6197600" y="3352800"/>
            <a:ext cx="5308600" cy="1270000"/>
          </a:xfrm>
          <a:prstGeom prst="roundRect">
            <a:avLst>
              <a:gd name="adj" fmla="val 7000"/>
            </a:avLst>
          </a:prstGeom>
          <a:solidFill>
            <a:srgbClr val="1A1A1B"/>
          </a:solidFill>
          <a:ln w="12700">
            <a:solidFill>
              <a:srgbClr val="3838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77800" tIns="114300" rIns="152400" bIns="101600" rtlCol="0" anchor="t"/>
          <a:lstStyle/>
          <a:p>
            <a:r>
              <a:rPr lang="en-US" sz="1400" b="1">
                <a:solidFill>
                  <a:srgbClr val="FFD65C"/>
                </a:solidFill>
                <a:latin typeface="Calibri" panose="020F0502020204030204" pitchFamily="34" charset="0"/>
              </a:rPr>
              <a:t>Carry-over</a:t>
            </a:r>
          </a:p>
          <a:p>
            <a:r>
              <a:rPr lang="en-US" sz="1200">
                <a:solidFill>
                  <a:srgbClr val="E6E6E6"/>
                </a:solidFill>
                <a:latin typeface="Calibri" panose="020F0502020204030204" pitchFamily="34" charset="0"/>
              </a:rPr>
              <a:t>Unused leave may carry over or be compensated per policy and the TES.</a:t>
            </a:r>
            <a:endParaRPr lang="fi-FI" sz="1200">
              <a:solidFill>
                <a:srgbClr val="E6E6E6"/>
              </a:solidFill>
              <a:latin typeface="Calibri" panose="020F0502020204030204" pitchFamily="34" charset="0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9E4B9940-3AE4-D110-7A12-6576B5FE55CD}"/>
              </a:ext>
            </a:extLst>
          </p:cNvPr>
          <p:cNvSpPr/>
          <p:nvPr/>
        </p:nvSpPr>
        <p:spPr>
          <a:xfrm>
            <a:off x="685800" y="4749800"/>
            <a:ext cx="5270500" cy="685800"/>
          </a:xfrm>
          <a:prstGeom prst="roundRect">
            <a:avLst>
              <a:gd name="adj" fmla="val 7000"/>
            </a:avLst>
          </a:prstGeom>
          <a:solidFill>
            <a:srgbClr val="1A1A1B"/>
          </a:solidFill>
          <a:ln w="15875">
            <a:solidFill>
              <a:srgbClr val="FFD6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03200" tIns="101600" rIns="177800" bIns="101600" rtlCol="0" anchor="ctr"/>
          <a:lstStyle/>
          <a:p>
            <a:r>
              <a:rPr lang="en-US" sz="1300" b="1">
                <a:solidFill>
                  <a:srgbClr val="FFD65C"/>
                </a:solidFill>
                <a:latin typeface="Calibri" panose="020F0502020204030204" pitchFamily="34" charset="0"/>
              </a:rPr>
              <a:t>Summer</a:t>
            </a:r>
            <a:r>
              <a:rPr lang="en-US" sz="1300">
                <a:solidFill>
                  <a:srgbClr val="E6E6E6"/>
                </a:solidFill>
                <a:latin typeface="Calibri" panose="020F0502020204030204" pitchFamily="34" charset="0"/>
              </a:rPr>
              <a:t>   Around 24 days of summer holiday (May-September).</a:t>
            </a:r>
            <a:endParaRPr lang="fi-FI" sz="1300">
              <a:solidFill>
                <a:srgbClr val="E6E6E6"/>
              </a:solidFill>
              <a:latin typeface="Calibri" panose="020F0502020204030204" pitchFamily="34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D4AF1EF-7D12-4047-60D5-E75A52F8299B}"/>
              </a:ext>
            </a:extLst>
          </p:cNvPr>
          <p:cNvSpPr/>
          <p:nvPr/>
        </p:nvSpPr>
        <p:spPr>
          <a:xfrm>
            <a:off x="6235700" y="4749800"/>
            <a:ext cx="5270500" cy="685800"/>
          </a:xfrm>
          <a:prstGeom prst="roundRect">
            <a:avLst>
              <a:gd name="adj" fmla="val 7000"/>
            </a:avLst>
          </a:prstGeom>
          <a:solidFill>
            <a:srgbClr val="1A1A1B"/>
          </a:solidFill>
          <a:ln w="15875">
            <a:solidFill>
              <a:srgbClr val="FFD6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03200" tIns="101600" rIns="177800" bIns="101600" rtlCol="0" anchor="ctr"/>
          <a:lstStyle/>
          <a:p>
            <a:r>
              <a:rPr lang="en-US" sz="1300" b="1">
                <a:solidFill>
                  <a:srgbClr val="FFD65C"/>
                </a:solidFill>
                <a:latin typeface="Calibri" panose="020F0502020204030204" pitchFamily="34" charset="0"/>
              </a:rPr>
              <a:t>Winter</a:t>
            </a:r>
            <a:r>
              <a:rPr lang="en-US" sz="1300">
                <a:solidFill>
                  <a:srgbClr val="E6E6E6"/>
                </a:solidFill>
                <a:latin typeface="Calibri" panose="020F0502020204030204" pitchFamily="34" charset="0"/>
              </a:rPr>
              <a:t>   Around 6 days of winter holiday (October-April).</a:t>
            </a:r>
            <a:endParaRPr lang="fi-FI" sz="1300">
              <a:solidFill>
                <a:srgbClr val="E6E6E6"/>
              </a:solidFill>
              <a:latin typeface="Calibri" panose="020F050202020403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5BF8EAC-1618-C633-651B-3FCA6AEA592A}"/>
              </a:ext>
            </a:extLst>
          </p:cNvPr>
          <p:cNvSpPr txBox="1"/>
          <p:nvPr/>
        </p:nvSpPr>
        <p:spPr>
          <a:xfrm>
            <a:off x="685800" y="6477000"/>
            <a:ext cx="812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i-FI" sz="1000">
                <a:solidFill>
                  <a:srgbClr val="6E6E6E"/>
                </a:solidFill>
                <a:latin typeface="Calibri" panose="020F0502020204030204" pitchFamily="34" charset="0"/>
              </a:rPr>
              <a:t>Taru HR   ·   Expat Employee Guide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8504477-3833-150E-62BE-990DF48128E2}"/>
              </a:ext>
            </a:extLst>
          </p:cNvPr>
          <p:cNvSpPr txBox="1"/>
          <p:nvPr/>
        </p:nvSpPr>
        <p:spPr>
          <a:xfrm>
            <a:off x="10896600" y="6451600"/>
            <a:ext cx="609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fi-FI" sz="1100" b="1">
                <a:solidFill>
                  <a:srgbClr val="FFD65C"/>
                </a:solidFill>
                <a:latin typeface="Calibri" panose="020F0502020204030204" pitchFamily="34" charset="0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3703416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FC31D69-9B68-566E-5612-0FAA42DFF754}"/>
              </a:ext>
            </a:extLst>
          </p:cNvPr>
          <p:cNvSpPr txBox="1"/>
          <p:nvPr/>
        </p:nvSpPr>
        <p:spPr>
          <a:xfrm>
            <a:off x="685800" y="508000"/>
            <a:ext cx="10820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i-FI" sz="1300" b="1">
                <a:solidFill>
                  <a:srgbClr val="FFD65C"/>
                </a:solidFill>
                <a:latin typeface="Calibri" panose="020F0502020204030204" pitchFamily="34" charset="0"/>
              </a:rPr>
              <a:t>04  ·  WORKING LIFE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6B57915-BD43-6D87-F3ED-EBD71352BEA4}"/>
              </a:ext>
            </a:extLst>
          </p:cNvPr>
          <p:cNvSpPr txBox="1"/>
          <p:nvPr/>
        </p:nvSpPr>
        <p:spPr>
          <a:xfrm>
            <a:off x="685800" y="787400"/>
            <a:ext cx="10820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i-FI" sz="3000" b="1">
                <a:solidFill>
                  <a:srgbClr val="FFD65C"/>
                </a:solidFill>
                <a:latin typeface="Calibri" panose="020F0502020204030204" pitchFamily="34" charset="0"/>
              </a:rPr>
              <a:t>Other types of leave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526043B-D7AE-D604-C30D-93314BFA2B3E}"/>
              </a:ext>
            </a:extLst>
          </p:cNvPr>
          <p:cNvSpPr txBox="1"/>
          <p:nvPr/>
        </p:nvSpPr>
        <p:spPr>
          <a:xfrm>
            <a:off x="685800" y="1422400"/>
            <a:ext cx="10820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400">
                <a:solidFill>
                  <a:srgbClr val="9E9E9E"/>
                </a:solidFill>
                <a:latin typeface="Calibri" panose="020F0502020204030204" pitchFamily="34" charset="0"/>
              </a:rPr>
              <a:t>Beyond annual leave, other absences may apply.</a:t>
            </a:r>
            <a:endParaRPr lang="fi-FI" sz="1400">
              <a:solidFill>
                <a:srgbClr val="9E9E9E"/>
              </a:solidFill>
              <a:latin typeface="Calibri" panose="020F0502020204030204" pitchFamily="34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1B7FB5B-9498-4CC1-8848-A47F2F4B66E5}"/>
              </a:ext>
            </a:extLst>
          </p:cNvPr>
          <p:cNvSpPr/>
          <p:nvPr/>
        </p:nvSpPr>
        <p:spPr>
          <a:xfrm>
            <a:off x="685800" y="2006600"/>
            <a:ext cx="3471333" cy="1892300"/>
          </a:xfrm>
          <a:prstGeom prst="roundRect">
            <a:avLst>
              <a:gd name="adj" fmla="val 7000"/>
            </a:avLst>
          </a:prstGeom>
          <a:solidFill>
            <a:srgbClr val="1A1A1B"/>
          </a:solidFill>
          <a:ln w="12700">
            <a:solidFill>
              <a:srgbClr val="3838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77800" tIns="114300" rIns="152400" bIns="101600" rtlCol="0" anchor="t"/>
          <a:lstStyle/>
          <a:p>
            <a:r>
              <a:rPr lang="en-US" sz="1400" b="1">
                <a:solidFill>
                  <a:srgbClr val="FFD65C"/>
                </a:solidFill>
                <a:latin typeface="Calibri" panose="020F0502020204030204" pitchFamily="34" charset="0"/>
              </a:rPr>
              <a:t>Sick leave</a:t>
            </a:r>
          </a:p>
          <a:p>
            <a:r>
              <a:rPr lang="en-US" sz="1150">
                <a:solidFill>
                  <a:srgbClr val="E6E6E6"/>
                </a:solidFill>
                <a:latin typeface="Calibri" panose="020F0502020204030204" pitchFamily="34" charset="0"/>
              </a:rPr>
              <a:t>Tell your manager on day one; certificate rules follow policy and the TES.</a:t>
            </a:r>
            <a:endParaRPr lang="fi-FI" sz="1150">
              <a:solidFill>
                <a:srgbClr val="E6E6E6"/>
              </a:solidFill>
              <a:latin typeface="Calibri" panose="020F0502020204030204" pitchFamily="34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C00E533-8F7F-7649-D0F5-50DCF4D1DA5B}"/>
              </a:ext>
            </a:extLst>
          </p:cNvPr>
          <p:cNvSpPr/>
          <p:nvPr/>
        </p:nvSpPr>
        <p:spPr>
          <a:xfrm>
            <a:off x="4360333" y="2006600"/>
            <a:ext cx="3471334" cy="1892300"/>
          </a:xfrm>
          <a:prstGeom prst="roundRect">
            <a:avLst>
              <a:gd name="adj" fmla="val 7000"/>
            </a:avLst>
          </a:prstGeom>
          <a:solidFill>
            <a:srgbClr val="1A1A1B"/>
          </a:solidFill>
          <a:ln w="12700">
            <a:solidFill>
              <a:srgbClr val="3838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77800" tIns="114300" rIns="152400" bIns="101600" rtlCol="0" anchor="t"/>
          <a:lstStyle/>
          <a:p>
            <a:r>
              <a:rPr lang="en-US" sz="1400" b="1">
                <a:solidFill>
                  <a:srgbClr val="FFD65C"/>
                </a:solidFill>
                <a:latin typeface="Calibri" panose="020F0502020204030204" pitchFamily="34" charset="0"/>
              </a:rPr>
              <a:t>Family leave</a:t>
            </a:r>
          </a:p>
          <a:p>
            <a:r>
              <a:rPr lang="en-US" sz="1150">
                <a:solidFill>
                  <a:srgbClr val="E6E6E6"/>
                </a:solidFill>
                <a:latin typeface="Calibri" panose="020F0502020204030204" pitchFamily="34" charset="0"/>
              </a:rPr>
              <a:t>Pregnancy, parental and family leave under the law and Kela.</a:t>
            </a:r>
            <a:endParaRPr lang="fi-FI" sz="1150">
              <a:solidFill>
                <a:srgbClr val="E6E6E6"/>
              </a:solidFill>
              <a:latin typeface="Calibri" panose="020F0502020204030204" pitchFamily="34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DAB6D3D-2ACE-10FF-9C3E-0D44064901DA}"/>
              </a:ext>
            </a:extLst>
          </p:cNvPr>
          <p:cNvSpPr/>
          <p:nvPr/>
        </p:nvSpPr>
        <p:spPr>
          <a:xfrm>
            <a:off x="8034867" y="2006600"/>
            <a:ext cx="3471333" cy="1892300"/>
          </a:xfrm>
          <a:prstGeom prst="roundRect">
            <a:avLst>
              <a:gd name="adj" fmla="val 7000"/>
            </a:avLst>
          </a:prstGeom>
          <a:solidFill>
            <a:srgbClr val="1A1A1B"/>
          </a:solidFill>
          <a:ln w="12700">
            <a:solidFill>
              <a:srgbClr val="3838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77800" tIns="114300" rIns="152400" bIns="101600" rtlCol="0" anchor="t"/>
          <a:lstStyle/>
          <a:p>
            <a:r>
              <a:rPr lang="en-US" sz="1400" b="1">
                <a:solidFill>
                  <a:srgbClr val="FFD65C"/>
                </a:solidFill>
                <a:latin typeface="Calibri" panose="020F0502020204030204" pitchFamily="34" charset="0"/>
              </a:rPr>
              <a:t>Child care leave</a:t>
            </a:r>
          </a:p>
          <a:p>
            <a:r>
              <a:rPr lang="en-US" sz="1150">
                <a:solidFill>
                  <a:srgbClr val="E6E6E6"/>
                </a:solidFill>
                <a:latin typeface="Calibri" panose="020F0502020204030204" pitchFamily="34" charset="0"/>
              </a:rPr>
              <a:t>To care for a sick child under 10, usually up to a few days.</a:t>
            </a:r>
            <a:endParaRPr lang="fi-FI" sz="1150">
              <a:solidFill>
                <a:srgbClr val="E6E6E6"/>
              </a:solidFill>
              <a:latin typeface="Calibri" panose="020F0502020204030204" pitchFamily="34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5F91DE2-73A0-FC83-3778-0B3F857CD321}"/>
              </a:ext>
            </a:extLst>
          </p:cNvPr>
          <p:cNvSpPr/>
          <p:nvPr/>
        </p:nvSpPr>
        <p:spPr>
          <a:xfrm>
            <a:off x="685800" y="4076700"/>
            <a:ext cx="3471333" cy="1892300"/>
          </a:xfrm>
          <a:prstGeom prst="roundRect">
            <a:avLst>
              <a:gd name="adj" fmla="val 7000"/>
            </a:avLst>
          </a:prstGeom>
          <a:solidFill>
            <a:srgbClr val="1A1A1B"/>
          </a:solidFill>
          <a:ln w="12700">
            <a:solidFill>
              <a:srgbClr val="3838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77800" tIns="114300" rIns="152400" bIns="101600" rtlCol="0" anchor="t"/>
          <a:lstStyle/>
          <a:p>
            <a:r>
              <a:rPr lang="en-US" sz="1400" b="1">
                <a:solidFill>
                  <a:srgbClr val="FFD65C"/>
                </a:solidFill>
                <a:latin typeface="Calibri" panose="020F0502020204030204" pitchFamily="34" charset="0"/>
              </a:rPr>
              <a:t>Study &amp; job-alternation</a:t>
            </a:r>
          </a:p>
          <a:p>
            <a:r>
              <a:rPr lang="en-US" sz="1150">
                <a:solidFill>
                  <a:srgbClr val="E6E6E6"/>
                </a:solidFill>
                <a:latin typeface="Calibri" panose="020F0502020204030204" pitchFamily="34" charset="0"/>
              </a:rPr>
              <a:t>May be available by agreement in certain situations.</a:t>
            </a:r>
            <a:endParaRPr lang="fi-FI" sz="1150">
              <a:solidFill>
                <a:srgbClr val="E6E6E6"/>
              </a:solidFill>
              <a:latin typeface="Calibri" panose="020F0502020204030204" pitchFamily="34" charset="0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C4EBB252-57DF-9AF3-A911-AD152B02DADF}"/>
              </a:ext>
            </a:extLst>
          </p:cNvPr>
          <p:cNvSpPr/>
          <p:nvPr/>
        </p:nvSpPr>
        <p:spPr>
          <a:xfrm>
            <a:off x="4360333" y="4076700"/>
            <a:ext cx="3471334" cy="1892300"/>
          </a:xfrm>
          <a:prstGeom prst="roundRect">
            <a:avLst>
              <a:gd name="adj" fmla="val 7000"/>
            </a:avLst>
          </a:prstGeom>
          <a:solidFill>
            <a:srgbClr val="1A1A1B"/>
          </a:solidFill>
          <a:ln w="12700">
            <a:solidFill>
              <a:srgbClr val="3838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77800" tIns="114300" rIns="152400" bIns="101600" rtlCol="0" anchor="t"/>
          <a:lstStyle/>
          <a:p>
            <a:r>
              <a:rPr lang="en-US" sz="1400" b="1">
                <a:solidFill>
                  <a:srgbClr val="FFD65C"/>
                </a:solidFill>
                <a:latin typeface="Calibri" panose="020F0502020204030204" pitchFamily="34" charset="0"/>
              </a:rPr>
              <a:t>Unpaid leave</a:t>
            </a:r>
          </a:p>
          <a:p>
            <a:r>
              <a:rPr lang="en-US" sz="1150">
                <a:solidFill>
                  <a:srgbClr val="E6E6E6"/>
                </a:solidFill>
                <a:latin typeface="Calibri" panose="020F0502020204030204" pitchFamily="34" charset="0"/>
              </a:rPr>
              <a:t>Possible by agreement with your employer.</a:t>
            </a:r>
            <a:endParaRPr lang="fi-FI" sz="1150">
              <a:solidFill>
                <a:srgbClr val="E6E6E6"/>
              </a:solidFill>
              <a:latin typeface="Calibri" panose="020F050202020403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A7B747D-5651-6D9A-C0CB-5C506AD8A192}"/>
              </a:ext>
            </a:extLst>
          </p:cNvPr>
          <p:cNvSpPr txBox="1"/>
          <p:nvPr/>
        </p:nvSpPr>
        <p:spPr>
          <a:xfrm>
            <a:off x="685800" y="6477000"/>
            <a:ext cx="812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i-FI" sz="1000">
                <a:solidFill>
                  <a:srgbClr val="6E6E6E"/>
                </a:solidFill>
                <a:latin typeface="Calibri" panose="020F0502020204030204" pitchFamily="34" charset="0"/>
              </a:rPr>
              <a:t>Taru HR   ·   Expat Employee Guide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1BB7ABA-F35F-B0B1-12D8-15230C927177}"/>
              </a:ext>
            </a:extLst>
          </p:cNvPr>
          <p:cNvSpPr txBox="1"/>
          <p:nvPr/>
        </p:nvSpPr>
        <p:spPr>
          <a:xfrm>
            <a:off x="10896600" y="6451600"/>
            <a:ext cx="609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fi-FI" sz="1100" b="1">
                <a:solidFill>
                  <a:srgbClr val="FFD65C"/>
                </a:solidFill>
                <a:latin typeface="Calibri" panose="020F0502020204030204" pitchFamily="34" charset="0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35955877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57DBAF2-9514-04CD-DDE7-52297BDC1B33}"/>
              </a:ext>
            </a:extLst>
          </p:cNvPr>
          <p:cNvSpPr txBox="1"/>
          <p:nvPr/>
        </p:nvSpPr>
        <p:spPr>
          <a:xfrm>
            <a:off x="685800" y="508000"/>
            <a:ext cx="10820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i-FI" sz="1300" b="1">
                <a:solidFill>
                  <a:srgbClr val="FFD65C"/>
                </a:solidFill>
                <a:latin typeface="Calibri" panose="020F0502020204030204" pitchFamily="34" charset="0"/>
              </a:rPr>
              <a:t>05  ·  SOCIAL SECURITY &amp; HEALTH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419C22E-72CA-5259-D6B6-1761F94BF141}"/>
              </a:ext>
            </a:extLst>
          </p:cNvPr>
          <p:cNvSpPr txBox="1"/>
          <p:nvPr/>
        </p:nvSpPr>
        <p:spPr>
          <a:xfrm>
            <a:off x="685800" y="787400"/>
            <a:ext cx="10820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i-FI" sz="3000" b="1">
                <a:solidFill>
                  <a:srgbClr val="FFD65C"/>
                </a:solidFill>
                <a:latin typeface="Calibri" panose="020F0502020204030204" pitchFamily="34" charset="0"/>
              </a:rPr>
              <a:t>Social security &amp; Kela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23742D1-D7CB-B689-23F6-95579FA1CD3C}"/>
              </a:ext>
            </a:extLst>
          </p:cNvPr>
          <p:cNvSpPr txBox="1"/>
          <p:nvPr/>
        </p:nvSpPr>
        <p:spPr>
          <a:xfrm>
            <a:off x="685800" y="1422400"/>
            <a:ext cx="10820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400">
                <a:solidFill>
                  <a:srgbClr val="9E9E9E"/>
                </a:solidFill>
                <a:latin typeface="Calibri" panose="020F0502020204030204" pitchFamily="34" charset="0"/>
              </a:rPr>
              <a:t>Finland's social security is residence-based and run mainly by Kela.</a:t>
            </a:r>
            <a:endParaRPr lang="fi-FI" sz="1400">
              <a:solidFill>
                <a:srgbClr val="9E9E9E"/>
              </a:solidFill>
              <a:latin typeface="Calibri" panose="020F0502020204030204" pitchFamily="34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AA3724B-22F5-328A-C179-825E607A0E05}"/>
              </a:ext>
            </a:extLst>
          </p:cNvPr>
          <p:cNvSpPr/>
          <p:nvPr/>
        </p:nvSpPr>
        <p:spPr>
          <a:xfrm>
            <a:off x="685800" y="2006600"/>
            <a:ext cx="5308600" cy="1892300"/>
          </a:xfrm>
          <a:prstGeom prst="roundRect">
            <a:avLst>
              <a:gd name="adj" fmla="val 7000"/>
            </a:avLst>
          </a:prstGeom>
          <a:solidFill>
            <a:srgbClr val="1A1A1B"/>
          </a:solidFill>
          <a:ln w="12700">
            <a:solidFill>
              <a:srgbClr val="3838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77800" tIns="114300" rIns="152400" bIns="101600" rtlCol="0" anchor="t"/>
          <a:lstStyle/>
          <a:p>
            <a:r>
              <a:rPr lang="en-US" sz="1400" b="1">
                <a:solidFill>
                  <a:srgbClr val="FFD65C"/>
                </a:solidFill>
                <a:latin typeface="Calibri" panose="020F0502020204030204" pitchFamily="34" charset="0"/>
              </a:rPr>
              <a:t>How coverage works</a:t>
            </a:r>
          </a:p>
          <a:p>
            <a:r>
              <a:rPr lang="en-US" sz="1200">
                <a:solidFill>
                  <a:srgbClr val="E6E6E6"/>
                </a:solidFill>
                <a:latin typeface="Calibri" panose="020F0502020204030204" pitchFamily="34" charset="0"/>
              </a:rPr>
              <a:t>Usually based on living in Finland, or working here under certain conditions.</a:t>
            </a:r>
            <a:endParaRPr lang="fi-FI" sz="1200">
              <a:solidFill>
                <a:srgbClr val="E6E6E6"/>
              </a:solidFill>
              <a:latin typeface="Calibri" panose="020F0502020204030204" pitchFamily="34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BD0797A-8C4A-9309-CFF1-91C820682BC6}"/>
              </a:ext>
            </a:extLst>
          </p:cNvPr>
          <p:cNvSpPr/>
          <p:nvPr/>
        </p:nvSpPr>
        <p:spPr>
          <a:xfrm>
            <a:off x="6197600" y="2006600"/>
            <a:ext cx="5308600" cy="1892300"/>
          </a:xfrm>
          <a:prstGeom prst="roundRect">
            <a:avLst>
              <a:gd name="adj" fmla="val 7000"/>
            </a:avLst>
          </a:prstGeom>
          <a:solidFill>
            <a:srgbClr val="1A1A1B"/>
          </a:solidFill>
          <a:ln w="12700">
            <a:solidFill>
              <a:srgbClr val="3838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77800" tIns="114300" rIns="152400" bIns="101600" rtlCol="0" anchor="t"/>
          <a:lstStyle/>
          <a:p>
            <a:r>
              <a:rPr lang="en-US" sz="1400" b="1">
                <a:solidFill>
                  <a:srgbClr val="FFD65C"/>
                </a:solidFill>
                <a:latin typeface="Calibri" panose="020F0502020204030204" pitchFamily="34" charset="0"/>
              </a:rPr>
              <a:t>Kela</a:t>
            </a:r>
          </a:p>
          <a:p>
            <a:r>
              <a:rPr lang="en-US" sz="1200">
                <a:solidFill>
                  <a:srgbClr val="E6E6E6"/>
                </a:solidFill>
                <a:latin typeface="Calibri" panose="020F0502020204030204" pitchFamily="34" charset="0"/>
              </a:rPr>
              <a:t>Administers benefits such as healthcare reimbursements and family benefits.</a:t>
            </a:r>
            <a:endParaRPr lang="fi-FI" sz="1200">
              <a:solidFill>
                <a:srgbClr val="E6E6E6"/>
              </a:solidFill>
              <a:latin typeface="Calibri" panose="020F0502020204030204" pitchFamily="34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FD59CB3-8549-EFC4-C3BB-F514F40A59A5}"/>
              </a:ext>
            </a:extLst>
          </p:cNvPr>
          <p:cNvSpPr/>
          <p:nvPr/>
        </p:nvSpPr>
        <p:spPr>
          <a:xfrm>
            <a:off x="685800" y="4076700"/>
            <a:ext cx="5308600" cy="1892300"/>
          </a:xfrm>
          <a:prstGeom prst="roundRect">
            <a:avLst>
              <a:gd name="adj" fmla="val 7000"/>
            </a:avLst>
          </a:prstGeom>
          <a:solidFill>
            <a:srgbClr val="1A1A1B"/>
          </a:solidFill>
          <a:ln w="12700">
            <a:solidFill>
              <a:srgbClr val="3838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77800" tIns="114300" rIns="152400" bIns="101600" rtlCol="0" anchor="t"/>
          <a:lstStyle/>
          <a:p>
            <a:r>
              <a:rPr lang="en-US" sz="1400" b="1">
                <a:solidFill>
                  <a:srgbClr val="FFD65C"/>
                </a:solidFill>
                <a:latin typeface="Calibri" panose="020F0502020204030204" pitchFamily="34" charset="0"/>
              </a:rPr>
              <a:t>International agreements</a:t>
            </a:r>
          </a:p>
          <a:p>
            <a:r>
              <a:rPr lang="en-US" sz="1200">
                <a:solidFill>
                  <a:srgbClr val="E6E6E6"/>
                </a:solidFill>
                <a:latin typeface="Calibri" panose="020F0502020204030204" pitchFamily="34" charset="0"/>
              </a:rPr>
              <a:t>Agreements with some countries affect where contributions are paid.</a:t>
            </a:r>
            <a:endParaRPr lang="fi-FI" sz="1200">
              <a:solidFill>
                <a:srgbClr val="E6E6E6"/>
              </a:solidFill>
              <a:latin typeface="Calibri" panose="020F0502020204030204" pitchFamily="34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D8E3CC2-BA22-8F32-C488-D3EED5624195}"/>
              </a:ext>
            </a:extLst>
          </p:cNvPr>
          <p:cNvSpPr/>
          <p:nvPr/>
        </p:nvSpPr>
        <p:spPr>
          <a:xfrm>
            <a:off x="6197600" y="4076700"/>
            <a:ext cx="5308600" cy="1892300"/>
          </a:xfrm>
          <a:prstGeom prst="roundRect">
            <a:avLst>
              <a:gd name="adj" fmla="val 7000"/>
            </a:avLst>
          </a:prstGeom>
          <a:solidFill>
            <a:srgbClr val="1A1A1B"/>
          </a:solidFill>
          <a:ln w="12700">
            <a:solidFill>
              <a:srgbClr val="3838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77800" tIns="114300" rIns="152400" bIns="101600" rtlCol="0" anchor="t"/>
          <a:lstStyle/>
          <a:p>
            <a:r>
              <a:rPr lang="en-US" sz="1400" b="1">
                <a:solidFill>
                  <a:srgbClr val="FFD65C"/>
                </a:solidFill>
                <a:latin typeface="Calibri" panose="020F0502020204030204" pitchFamily="34" charset="0"/>
              </a:rPr>
              <a:t>Ask early</a:t>
            </a:r>
          </a:p>
          <a:p>
            <a:r>
              <a:rPr lang="en-US" sz="1200">
                <a:solidFill>
                  <a:srgbClr val="E6E6E6"/>
                </a:solidFill>
                <a:latin typeface="Calibri" panose="020F0502020204030204" pitchFamily="34" charset="0"/>
              </a:rPr>
              <a:t>On an assignment or unsure? Contact HR before you relocate.</a:t>
            </a:r>
            <a:endParaRPr lang="fi-FI" sz="1200">
              <a:solidFill>
                <a:srgbClr val="E6E6E6"/>
              </a:solidFill>
              <a:latin typeface="Calibri" panose="020F050202020403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5CAEBFE-8504-89D0-AEA3-F0F3A13287EC}"/>
              </a:ext>
            </a:extLst>
          </p:cNvPr>
          <p:cNvSpPr txBox="1"/>
          <p:nvPr/>
        </p:nvSpPr>
        <p:spPr>
          <a:xfrm>
            <a:off x="685800" y="6477000"/>
            <a:ext cx="812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i-FI" sz="1000">
                <a:solidFill>
                  <a:srgbClr val="6E6E6E"/>
                </a:solidFill>
                <a:latin typeface="Calibri" panose="020F0502020204030204" pitchFamily="34" charset="0"/>
              </a:rPr>
              <a:t>Taru HR   ·   Expat Employee Guide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7102EC7-AF62-6F57-3D03-B8D8FCBA0C75}"/>
              </a:ext>
            </a:extLst>
          </p:cNvPr>
          <p:cNvSpPr txBox="1"/>
          <p:nvPr/>
        </p:nvSpPr>
        <p:spPr>
          <a:xfrm>
            <a:off x="10896600" y="6451600"/>
            <a:ext cx="609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fi-FI" sz="1100" b="1">
                <a:solidFill>
                  <a:srgbClr val="FFD65C"/>
                </a:solidFill>
                <a:latin typeface="Calibri" panose="020F0502020204030204" pitchFamily="34" charset="0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36325230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E053379-5A91-8395-BA9C-CA5A19A2EB43}"/>
              </a:ext>
            </a:extLst>
          </p:cNvPr>
          <p:cNvSpPr txBox="1"/>
          <p:nvPr/>
        </p:nvSpPr>
        <p:spPr>
          <a:xfrm>
            <a:off x="685800" y="508000"/>
            <a:ext cx="10820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i-FI" sz="1300" b="1">
                <a:solidFill>
                  <a:srgbClr val="FFD65C"/>
                </a:solidFill>
                <a:latin typeface="Calibri" panose="020F0502020204030204" pitchFamily="34" charset="0"/>
              </a:rPr>
              <a:t>05  ·  SOCIAL SECURITY &amp; HEALTH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F9C7B79-D84C-4906-6665-271EC090E2F7}"/>
              </a:ext>
            </a:extLst>
          </p:cNvPr>
          <p:cNvSpPr txBox="1"/>
          <p:nvPr/>
        </p:nvSpPr>
        <p:spPr>
          <a:xfrm>
            <a:off x="685800" y="787400"/>
            <a:ext cx="10820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i-FI" sz="3000" b="1">
                <a:solidFill>
                  <a:srgbClr val="FFD65C"/>
                </a:solidFill>
                <a:latin typeface="Calibri" panose="020F0502020204030204" pitchFamily="34" charset="0"/>
              </a:rPr>
              <a:t>Occupational healthcare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E08C81F-A75F-D20B-2242-3B4E91AD793A}"/>
              </a:ext>
            </a:extLst>
          </p:cNvPr>
          <p:cNvSpPr txBox="1"/>
          <p:nvPr/>
        </p:nvSpPr>
        <p:spPr>
          <a:xfrm>
            <a:off x="685800" y="1422400"/>
            <a:ext cx="10820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400">
                <a:solidFill>
                  <a:srgbClr val="9E9E9E"/>
                </a:solidFill>
                <a:latin typeface="Calibri" panose="020F0502020204030204" pitchFamily="34" charset="0"/>
              </a:rPr>
              <a:t>The company provides occupational healthcare as required by Finnish law.</a:t>
            </a:r>
            <a:endParaRPr lang="fi-FI" sz="1400">
              <a:solidFill>
                <a:srgbClr val="9E9E9E"/>
              </a:solidFill>
              <a:latin typeface="Calibri" panose="020F0502020204030204" pitchFamily="34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F186F32-F3E7-7DFF-C915-8D6B4AC6C6CC}"/>
              </a:ext>
            </a:extLst>
          </p:cNvPr>
          <p:cNvSpPr/>
          <p:nvPr/>
        </p:nvSpPr>
        <p:spPr>
          <a:xfrm>
            <a:off x="685800" y="2032000"/>
            <a:ext cx="5308600" cy="1498600"/>
          </a:xfrm>
          <a:prstGeom prst="roundRect">
            <a:avLst>
              <a:gd name="adj" fmla="val 7000"/>
            </a:avLst>
          </a:prstGeom>
          <a:solidFill>
            <a:srgbClr val="1A1A1B"/>
          </a:solidFill>
          <a:ln w="12700">
            <a:solidFill>
              <a:srgbClr val="3838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77800" tIns="114300" rIns="152400" bIns="101600" rtlCol="0" anchor="t"/>
          <a:lstStyle/>
          <a:p>
            <a:r>
              <a:rPr lang="en-US" sz="1400" b="1">
                <a:solidFill>
                  <a:srgbClr val="FFD65C"/>
                </a:solidFill>
                <a:latin typeface="Calibri" panose="020F0502020204030204" pitchFamily="34" charset="0"/>
              </a:rPr>
              <a:t>General consultations</a:t>
            </a:r>
          </a:p>
          <a:p>
            <a:r>
              <a:rPr lang="en-US" sz="1200">
                <a:solidFill>
                  <a:srgbClr val="E6E6E6"/>
                </a:solidFill>
                <a:latin typeface="Calibri" panose="020F0502020204030204" pitchFamily="34" charset="0"/>
              </a:rPr>
              <a:t>Everyday medical appointments through the provider.</a:t>
            </a:r>
            <a:endParaRPr lang="fi-FI" sz="1200">
              <a:solidFill>
                <a:srgbClr val="E6E6E6"/>
              </a:solidFill>
              <a:latin typeface="Calibri" panose="020F0502020204030204" pitchFamily="34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921F830-27FB-C802-F34F-802D139B8976}"/>
              </a:ext>
            </a:extLst>
          </p:cNvPr>
          <p:cNvSpPr/>
          <p:nvPr/>
        </p:nvSpPr>
        <p:spPr>
          <a:xfrm>
            <a:off x="6197600" y="2032000"/>
            <a:ext cx="5308600" cy="1498600"/>
          </a:xfrm>
          <a:prstGeom prst="roundRect">
            <a:avLst>
              <a:gd name="adj" fmla="val 7000"/>
            </a:avLst>
          </a:prstGeom>
          <a:solidFill>
            <a:srgbClr val="1A1A1B"/>
          </a:solidFill>
          <a:ln w="12700">
            <a:solidFill>
              <a:srgbClr val="3838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77800" tIns="114300" rIns="152400" bIns="101600" rtlCol="0" anchor="t"/>
          <a:lstStyle/>
          <a:p>
            <a:r>
              <a:rPr lang="en-US" sz="1400" b="1">
                <a:solidFill>
                  <a:srgbClr val="FFD65C"/>
                </a:solidFill>
                <a:latin typeface="Calibri" panose="020F0502020204030204" pitchFamily="34" charset="0"/>
              </a:rPr>
              <a:t>Preventive care</a:t>
            </a:r>
          </a:p>
          <a:p>
            <a:r>
              <a:rPr lang="en-US" sz="1200">
                <a:solidFill>
                  <a:srgbClr val="E6E6E6"/>
                </a:solidFill>
                <a:latin typeface="Calibri" panose="020F0502020204030204" pitchFamily="34" charset="0"/>
              </a:rPr>
              <a:t>Health checks and preventive services.</a:t>
            </a:r>
            <a:endParaRPr lang="fi-FI" sz="1200">
              <a:solidFill>
                <a:srgbClr val="E6E6E6"/>
              </a:solidFill>
              <a:latin typeface="Calibri" panose="020F0502020204030204" pitchFamily="34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14CA1F5-FAAF-4F4B-3891-64F226AF4FDB}"/>
              </a:ext>
            </a:extLst>
          </p:cNvPr>
          <p:cNvSpPr/>
          <p:nvPr/>
        </p:nvSpPr>
        <p:spPr>
          <a:xfrm>
            <a:off x="685800" y="3708400"/>
            <a:ext cx="5308600" cy="1498600"/>
          </a:xfrm>
          <a:prstGeom prst="roundRect">
            <a:avLst>
              <a:gd name="adj" fmla="val 7000"/>
            </a:avLst>
          </a:prstGeom>
          <a:solidFill>
            <a:srgbClr val="1A1A1B"/>
          </a:solidFill>
          <a:ln w="12700">
            <a:solidFill>
              <a:srgbClr val="3838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77800" tIns="114300" rIns="152400" bIns="101600" rtlCol="0" anchor="t"/>
          <a:lstStyle/>
          <a:p>
            <a:r>
              <a:rPr lang="en-US" sz="1400" b="1">
                <a:solidFill>
                  <a:srgbClr val="FFD65C"/>
                </a:solidFill>
                <a:latin typeface="Calibri" panose="020F0502020204030204" pitchFamily="34" charset="0"/>
              </a:rPr>
              <a:t>Mental health support</a:t>
            </a:r>
          </a:p>
          <a:p>
            <a:r>
              <a:rPr lang="en-US" sz="1200">
                <a:solidFill>
                  <a:srgbClr val="E6E6E6"/>
                </a:solidFill>
                <a:latin typeface="Calibri" panose="020F0502020204030204" pitchFamily="34" charset="0"/>
              </a:rPr>
              <a:t>Support services for wellbeing.</a:t>
            </a:r>
            <a:endParaRPr lang="fi-FI" sz="1200">
              <a:solidFill>
                <a:srgbClr val="E6E6E6"/>
              </a:solidFill>
              <a:latin typeface="Calibri" panose="020F0502020204030204" pitchFamily="34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78DB5DB-1F91-8A3B-99B2-AEC231D6ACAB}"/>
              </a:ext>
            </a:extLst>
          </p:cNvPr>
          <p:cNvSpPr/>
          <p:nvPr/>
        </p:nvSpPr>
        <p:spPr>
          <a:xfrm>
            <a:off x="6197600" y="3708400"/>
            <a:ext cx="5308600" cy="1498600"/>
          </a:xfrm>
          <a:prstGeom prst="roundRect">
            <a:avLst>
              <a:gd name="adj" fmla="val 7000"/>
            </a:avLst>
          </a:prstGeom>
          <a:solidFill>
            <a:srgbClr val="1A1A1B"/>
          </a:solidFill>
          <a:ln w="12700">
            <a:solidFill>
              <a:srgbClr val="3838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77800" tIns="114300" rIns="152400" bIns="101600" rtlCol="0" anchor="t"/>
          <a:lstStyle/>
          <a:p>
            <a:r>
              <a:rPr lang="fi-FI" sz="1400" b="1">
                <a:solidFill>
                  <a:srgbClr val="FFD65C"/>
                </a:solidFill>
                <a:latin typeface="Calibri" panose="020F0502020204030204" pitchFamily="34" charset="0"/>
              </a:rPr>
              <a:t>Physiotherapy</a:t>
            </a:r>
          </a:p>
          <a:p>
            <a:r>
              <a:rPr lang="fi-FI" sz="1200">
                <a:solidFill>
                  <a:srgbClr val="E6E6E6"/>
                </a:solidFill>
                <a:latin typeface="Calibri" panose="020F0502020204030204" pitchFamily="34" charset="0"/>
              </a:rPr>
              <a:t>Available as applicable.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995DCD8B-A435-CE58-CC2E-E88878A3E48D}"/>
              </a:ext>
            </a:extLst>
          </p:cNvPr>
          <p:cNvSpPr/>
          <p:nvPr/>
        </p:nvSpPr>
        <p:spPr>
          <a:xfrm>
            <a:off x="685800" y="5334000"/>
            <a:ext cx="10820400" cy="508000"/>
          </a:xfrm>
          <a:prstGeom prst="roundRect">
            <a:avLst>
              <a:gd name="adj" fmla="val 7000"/>
            </a:avLst>
          </a:prstGeom>
          <a:solidFill>
            <a:srgbClr val="1A1A1B"/>
          </a:solidFill>
          <a:ln w="15875">
            <a:solidFill>
              <a:srgbClr val="E573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03200" tIns="101600" rIns="177800" bIns="101600" rtlCol="0" anchor="ctr"/>
          <a:lstStyle/>
          <a:p>
            <a:r>
              <a:rPr lang="en-US" sz="1300" b="1">
                <a:solidFill>
                  <a:srgbClr val="E5735C"/>
                </a:solidFill>
                <a:latin typeface="Calibri" panose="020F0502020204030204" pitchFamily="34" charset="0"/>
              </a:rPr>
              <a:t>In an emergency</a:t>
            </a:r>
            <a:r>
              <a:rPr lang="en-US" sz="1300">
                <a:solidFill>
                  <a:srgbClr val="E6E6E6"/>
                </a:solidFill>
                <a:latin typeface="Calibri" panose="020F0502020204030204" pitchFamily="34" charset="0"/>
              </a:rPr>
              <a:t>   Use national emergency services (112) when it is urgent - see the next slide.</a:t>
            </a:r>
            <a:endParaRPr lang="fi-FI" sz="1300">
              <a:solidFill>
                <a:srgbClr val="E6E6E6"/>
              </a:solidFill>
              <a:latin typeface="Calibri" panose="020F050202020403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8C7C6AB-A21F-F639-D030-896E2C5D57F0}"/>
              </a:ext>
            </a:extLst>
          </p:cNvPr>
          <p:cNvSpPr txBox="1"/>
          <p:nvPr/>
        </p:nvSpPr>
        <p:spPr>
          <a:xfrm>
            <a:off x="685800" y="6477000"/>
            <a:ext cx="812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i-FI" sz="1000">
                <a:solidFill>
                  <a:srgbClr val="6E6E6E"/>
                </a:solidFill>
                <a:latin typeface="Calibri" panose="020F0502020204030204" pitchFamily="34" charset="0"/>
              </a:rPr>
              <a:t>Taru HR   ·   Expat Employee Guide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ED65A17-1FCA-BE9F-9FD7-D258E9A99CE4}"/>
              </a:ext>
            </a:extLst>
          </p:cNvPr>
          <p:cNvSpPr txBox="1"/>
          <p:nvPr/>
        </p:nvSpPr>
        <p:spPr>
          <a:xfrm>
            <a:off x="10896600" y="6451600"/>
            <a:ext cx="609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fi-FI" sz="1100" b="1">
                <a:solidFill>
                  <a:srgbClr val="FFD65C"/>
                </a:solidFill>
                <a:latin typeface="Calibri" panose="020F0502020204030204" pitchFamily="34" charset="0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1814975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E94240C-BA63-49FF-2C24-3393DF50E08E}"/>
              </a:ext>
            </a:extLst>
          </p:cNvPr>
          <p:cNvSpPr txBox="1"/>
          <p:nvPr/>
        </p:nvSpPr>
        <p:spPr>
          <a:xfrm>
            <a:off x="685800" y="508000"/>
            <a:ext cx="10820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i-FI" sz="1300" b="1">
                <a:solidFill>
                  <a:srgbClr val="FFD65C"/>
                </a:solidFill>
                <a:latin typeface="Calibri" panose="020F0502020204030204" pitchFamily="34" charset="0"/>
              </a:rPr>
              <a:t>05  ·  SOCIAL SECURITY &amp; HEALTH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3EDA8E0-6D9E-3101-D008-1D472B96FAB0}"/>
              </a:ext>
            </a:extLst>
          </p:cNvPr>
          <p:cNvSpPr txBox="1"/>
          <p:nvPr/>
        </p:nvSpPr>
        <p:spPr>
          <a:xfrm>
            <a:off x="685800" y="787400"/>
            <a:ext cx="10820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i-FI" sz="3000" b="1">
                <a:solidFill>
                  <a:srgbClr val="FFD65C"/>
                </a:solidFill>
                <a:latin typeface="Calibri" panose="020F0502020204030204" pitchFamily="34" charset="0"/>
              </a:rPr>
              <a:t>Emergency essentials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8385898-B47C-B543-3B17-3F476899955B}"/>
              </a:ext>
            </a:extLst>
          </p:cNvPr>
          <p:cNvSpPr txBox="1"/>
          <p:nvPr/>
        </p:nvSpPr>
        <p:spPr>
          <a:xfrm>
            <a:off x="685800" y="1422400"/>
            <a:ext cx="10820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400">
                <a:solidFill>
                  <a:srgbClr val="9E9E9E"/>
                </a:solidFill>
                <a:latin typeface="Calibri" panose="020F0502020204030204" pitchFamily="34" charset="0"/>
              </a:rPr>
              <a:t>Know what to do if something urgent happens.</a:t>
            </a:r>
            <a:endParaRPr lang="fi-FI" sz="1400">
              <a:solidFill>
                <a:srgbClr val="9E9E9E"/>
              </a:solidFill>
              <a:latin typeface="Calibri" panose="020F0502020204030204" pitchFamily="34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94894591-F2FE-706A-127A-A4B5E1B58BA2}"/>
              </a:ext>
            </a:extLst>
          </p:cNvPr>
          <p:cNvSpPr/>
          <p:nvPr/>
        </p:nvSpPr>
        <p:spPr>
          <a:xfrm>
            <a:off x="685800" y="2006600"/>
            <a:ext cx="3471333" cy="1892300"/>
          </a:xfrm>
          <a:prstGeom prst="roundRect">
            <a:avLst>
              <a:gd name="adj" fmla="val 7000"/>
            </a:avLst>
          </a:prstGeom>
          <a:solidFill>
            <a:srgbClr val="1A1A1B"/>
          </a:solidFill>
          <a:ln w="12700">
            <a:solidFill>
              <a:srgbClr val="3838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77800" tIns="114300" rIns="152400" bIns="101600" rtlCol="0" anchor="t"/>
          <a:lstStyle/>
          <a:p>
            <a:r>
              <a:rPr lang="en-US" sz="1400" b="1">
                <a:solidFill>
                  <a:srgbClr val="FFD65C"/>
                </a:solidFill>
                <a:latin typeface="Calibri" panose="020F0502020204030204" pitchFamily="34" charset="0"/>
              </a:rPr>
              <a:t>Call 112</a:t>
            </a:r>
          </a:p>
          <a:p>
            <a:r>
              <a:rPr lang="en-US" sz="1150">
                <a:solidFill>
                  <a:srgbClr val="E6E6E6"/>
                </a:solidFill>
                <a:latin typeface="Calibri" panose="020F0502020204030204" pitchFamily="34" charset="0"/>
              </a:rPr>
              <a:t>One number for police, ambulance and fire - free, and works without a SIM.</a:t>
            </a:r>
            <a:endParaRPr lang="fi-FI" sz="1150">
              <a:solidFill>
                <a:srgbClr val="E6E6E6"/>
              </a:solidFill>
              <a:latin typeface="Calibri" panose="020F0502020204030204" pitchFamily="34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AF158BF-1280-A27C-B915-EFB19E70AB4F}"/>
              </a:ext>
            </a:extLst>
          </p:cNvPr>
          <p:cNvSpPr/>
          <p:nvPr/>
        </p:nvSpPr>
        <p:spPr>
          <a:xfrm>
            <a:off x="4360333" y="2006600"/>
            <a:ext cx="3471334" cy="1892300"/>
          </a:xfrm>
          <a:prstGeom prst="roundRect">
            <a:avLst>
              <a:gd name="adj" fmla="val 7000"/>
            </a:avLst>
          </a:prstGeom>
          <a:solidFill>
            <a:srgbClr val="1A1A1B"/>
          </a:solidFill>
          <a:ln w="12700">
            <a:solidFill>
              <a:srgbClr val="3838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77800" tIns="114300" rIns="152400" bIns="101600" rtlCol="0" anchor="t"/>
          <a:lstStyle/>
          <a:p>
            <a:r>
              <a:rPr lang="en-US" sz="1400" b="1">
                <a:solidFill>
                  <a:srgbClr val="FFD65C"/>
                </a:solidFill>
                <a:latin typeface="Calibri" panose="020F0502020204030204" pitchFamily="34" charset="0"/>
              </a:rPr>
              <a:t>What to say</a:t>
            </a:r>
          </a:p>
          <a:p>
            <a:r>
              <a:rPr lang="en-US" sz="1150">
                <a:solidFill>
                  <a:srgbClr val="E6E6E6"/>
                </a:solidFill>
                <a:latin typeface="Calibri" panose="020F0502020204030204" pitchFamily="34" charset="0"/>
              </a:rPr>
              <a:t>Give your location and what happened, then follow the operator.</a:t>
            </a:r>
            <a:endParaRPr lang="fi-FI" sz="1150">
              <a:solidFill>
                <a:srgbClr val="E6E6E6"/>
              </a:solidFill>
              <a:latin typeface="Calibri" panose="020F0502020204030204" pitchFamily="34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62ED6DD-22C3-029A-7BFA-DAE85F628656}"/>
              </a:ext>
            </a:extLst>
          </p:cNvPr>
          <p:cNvSpPr/>
          <p:nvPr/>
        </p:nvSpPr>
        <p:spPr>
          <a:xfrm>
            <a:off x="8034867" y="2006600"/>
            <a:ext cx="3471333" cy="1892300"/>
          </a:xfrm>
          <a:prstGeom prst="roundRect">
            <a:avLst>
              <a:gd name="adj" fmla="val 7000"/>
            </a:avLst>
          </a:prstGeom>
          <a:solidFill>
            <a:srgbClr val="1A1A1B"/>
          </a:solidFill>
          <a:ln w="12700">
            <a:solidFill>
              <a:srgbClr val="3838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77800" tIns="114300" rIns="152400" bIns="101600" rtlCol="0" anchor="t"/>
          <a:lstStyle/>
          <a:p>
            <a:r>
              <a:rPr lang="en-US" sz="1400" b="1">
                <a:solidFill>
                  <a:srgbClr val="FFD65C"/>
                </a:solidFill>
                <a:latin typeface="Calibri" panose="020F0502020204030204" pitchFamily="34" charset="0"/>
              </a:rPr>
              <a:t>Medical helpline</a:t>
            </a:r>
          </a:p>
          <a:p>
            <a:r>
              <a:rPr lang="en-US" sz="1150">
                <a:solidFill>
                  <a:srgbClr val="E6E6E6"/>
                </a:solidFill>
                <a:latin typeface="Calibri" panose="020F0502020204030204" pitchFamily="34" charset="0"/>
              </a:rPr>
              <a:t>Call 116117 for urgent, non-emergency health advice.</a:t>
            </a:r>
            <a:endParaRPr lang="fi-FI" sz="1150">
              <a:solidFill>
                <a:srgbClr val="E6E6E6"/>
              </a:solidFill>
              <a:latin typeface="Calibri" panose="020F0502020204030204" pitchFamily="34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E566859-3849-9E84-5DF4-84B6BC015BA3}"/>
              </a:ext>
            </a:extLst>
          </p:cNvPr>
          <p:cNvSpPr/>
          <p:nvPr/>
        </p:nvSpPr>
        <p:spPr>
          <a:xfrm>
            <a:off x="685800" y="4076700"/>
            <a:ext cx="3471333" cy="1892300"/>
          </a:xfrm>
          <a:prstGeom prst="roundRect">
            <a:avLst>
              <a:gd name="adj" fmla="val 7000"/>
            </a:avLst>
          </a:prstGeom>
          <a:solidFill>
            <a:srgbClr val="1A1A1B"/>
          </a:solidFill>
          <a:ln w="12700">
            <a:solidFill>
              <a:srgbClr val="3838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77800" tIns="114300" rIns="152400" bIns="101600" rtlCol="0" anchor="t"/>
          <a:lstStyle/>
          <a:p>
            <a:r>
              <a:rPr lang="fr-FR" sz="1400" b="1">
                <a:solidFill>
                  <a:srgbClr val="FFD65C"/>
                </a:solidFill>
                <a:latin typeface="Calibri" panose="020F0502020204030204" pitchFamily="34" charset="0"/>
              </a:rPr>
              <a:t>Poison information</a:t>
            </a:r>
          </a:p>
          <a:p>
            <a:r>
              <a:rPr lang="fr-FR" sz="1150">
                <a:solidFill>
                  <a:srgbClr val="E6E6E6"/>
                </a:solidFill>
                <a:latin typeface="Calibri" panose="020F0502020204030204" pitchFamily="34" charset="0"/>
              </a:rPr>
              <a:t>Poison Information Centre: 0800 147 111.</a:t>
            </a:r>
            <a:endParaRPr lang="fi-FI" sz="1150">
              <a:solidFill>
                <a:srgbClr val="E6E6E6"/>
              </a:solidFill>
              <a:latin typeface="Calibri" panose="020F0502020204030204" pitchFamily="34" charset="0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C27A6CE1-2D74-BE29-1FEF-EF92CAC31B66}"/>
              </a:ext>
            </a:extLst>
          </p:cNvPr>
          <p:cNvSpPr/>
          <p:nvPr/>
        </p:nvSpPr>
        <p:spPr>
          <a:xfrm>
            <a:off x="4360333" y="4076700"/>
            <a:ext cx="3471334" cy="1892300"/>
          </a:xfrm>
          <a:prstGeom prst="roundRect">
            <a:avLst>
              <a:gd name="adj" fmla="val 7000"/>
            </a:avLst>
          </a:prstGeom>
          <a:solidFill>
            <a:srgbClr val="1A1A1B"/>
          </a:solidFill>
          <a:ln w="12700">
            <a:solidFill>
              <a:srgbClr val="3838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77800" tIns="114300" rIns="152400" bIns="101600" rtlCol="0" anchor="t"/>
          <a:lstStyle/>
          <a:p>
            <a:r>
              <a:rPr lang="en-US" sz="1400" b="1">
                <a:solidFill>
                  <a:srgbClr val="FFD65C"/>
                </a:solidFill>
                <a:latin typeface="Calibri" panose="020F0502020204030204" pitchFamily="34" charset="0"/>
              </a:rPr>
              <a:t>Be ready</a:t>
            </a:r>
          </a:p>
          <a:p>
            <a:r>
              <a:rPr lang="en-US" sz="1150">
                <a:solidFill>
                  <a:srgbClr val="E6E6E6"/>
                </a:solidFill>
                <a:latin typeface="Calibri" panose="020F0502020204030204" pitchFamily="34" charset="0"/>
              </a:rPr>
              <a:t>Keep your address and personal ID details easy to find.</a:t>
            </a:r>
            <a:endParaRPr lang="fi-FI" sz="1150">
              <a:solidFill>
                <a:srgbClr val="E6E6E6"/>
              </a:solidFill>
              <a:latin typeface="Calibri" panose="020F050202020403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3200088-15AC-D9B1-3FF2-F623AA66BF00}"/>
              </a:ext>
            </a:extLst>
          </p:cNvPr>
          <p:cNvSpPr txBox="1"/>
          <p:nvPr/>
        </p:nvSpPr>
        <p:spPr>
          <a:xfrm>
            <a:off x="685800" y="6477000"/>
            <a:ext cx="812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i-FI" sz="1000">
                <a:solidFill>
                  <a:srgbClr val="6E6E6E"/>
                </a:solidFill>
                <a:latin typeface="Calibri" panose="020F0502020204030204" pitchFamily="34" charset="0"/>
              </a:rPr>
              <a:t>Taru HR   ·   Expat Employee Guide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6B2F30A-B913-2817-BE7F-4C9ECEFFC1F3}"/>
              </a:ext>
            </a:extLst>
          </p:cNvPr>
          <p:cNvSpPr txBox="1"/>
          <p:nvPr/>
        </p:nvSpPr>
        <p:spPr>
          <a:xfrm>
            <a:off x="10896600" y="6451600"/>
            <a:ext cx="609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fi-FI" sz="1100" b="1">
                <a:solidFill>
                  <a:srgbClr val="FFD65C"/>
                </a:solidFill>
                <a:latin typeface="Calibri" panose="020F0502020204030204" pitchFamily="34" charset="0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34937985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5561F4C-ACC8-8C7A-4423-95A514B88913}"/>
              </a:ext>
            </a:extLst>
          </p:cNvPr>
          <p:cNvSpPr txBox="1"/>
          <p:nvPr/>
        </p:nvSpPr>
        <p:spPr>
          <a:xfrm>
            <a:off x="685800" y="508000"/>
            <a:ext cx="10820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i-FI" sz="1300" b="1">
                <a:solidFill>
                  <a:srgbClr val="FFD65C"/>
                </a:solidFill>
                <a:latin typeface="Calibri" panose="020F0502020204030204" pitchFamily="34" charset="0"/>
              </a:rPr>
              <a:t>06  ·  LIVING IN FINLAND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4A5D51-3466-4AB7-C84F-9FFC28546EA5}"/>
              </a:ext>
            </a:extLst>
          </p:cNvPr>
          <p:cNvSpPr txBox="1"/>
          <p:nvPr/>
        </p:nvSpPr>
        <p:spPr>
          <a:xfrm>
            <a:off x="685800" y="787400"/>
            <a:ext cx="10820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i-FI" sz="3000" b="1">
                <a:solidFill>
                  <a:srgbClr val="FFD65C"/>
                </a:solidFill>
                <a:latin typeface="Calibri" panose="020F0502020204030204" pitchFamily="34" charset="0"/>
              </a:rPr>
              <a:t>Getting around &amp; connected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70FAD2E-BF17-F5DA-FF3B-11B8F76EF74B}"/>
              </a:ext>
            </a:extLst>
          </p:cNvPr>
          <p:cNvSpPr txBox="1"/>
          <p:nvPr/>
        </p:nvSpPr>
        <p:spPr>
          <a:xfrm>
            <a:off x="685800" y="1422400"/>
            <a:ext cx="10820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400">
                <a:solidFill>
                  <a:srgbClr val="9E9E9E"/>
                </a:solidFill>
                <a:latin typeface="Calibri" panose="020F0502020204030204" pitchFamily="34" charset="0"/>
              </a:rPr>
              <a:t>Transport and a phone number are your first practical steps.</a:t>
            </a:r>
            <a:endParaRPr lang="fi-FI" sz="1400">
              <a:solidFill>
                <a:srgbClr val="9E9E9E"/>
              </a:solidFill>
              <a:latin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E4FCA2F-7E83-55C2-8259-AC9FBDB762A1}"/>
              </a:ext>
            </a:extLst>
          </p:cNvPr>
          <p:cNvSpPr txBox="1"/>
          <p:nvPr/>
        </p:nvSpPr>
        <p:spPr>
          <a:xfrm>
            <a:off x="685800" y="1930400"/>
            <a:ext cx="5270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i-FI" sz="1200" b="1">
                <a:solidFill>
                  <a:srgbClr val="FFD65C"/>
                </a:solidFill>
                <a:latin typeface="Calibri" panose="020F0502020204030204" pitchFamily="34" charset="0"/>
              </a:rPr>
              <a:t>GETTING AROUND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9E102EF-ED86-92CF-AB57-E37D7F1FD96A}"/>
              </a:ext>
            </a:extLst>
          </p:cNvPr>
          <p:cNvSpPr/>
          <p:nvPr/>
        </p:nvSpPr>
        <p:spPr>
          <a:xfrm>
            <a:off x="685800" y="2209800"/>
            <a:ext cx="5270500" cy="1151467"/>
          </a:xfrm>
          <a:prstGeom prst="roundRect">
            <a:avLst>
              <a:gd name="adj" fmla="val 7000"/>
            </a:avLst>
          </a:prstGeom>
          <a:solidFill>
            <a:srgbClr val="1A1A1B"/>
          </a:solidFill>
          <a:ln w="12700">
            <a:solidFill>
              <a:srgbClr val="3838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77800" tIns="114300" rIns="152400" bIns="101600" rtlCol="0" anchor="t"/>
          <a:lstStyle/>
          <a:p>
            <a:r>
              <a:rPr lang="en-US" sz="1350" b="1">
                <a:solidFill>
                  <a:srgbClr val="FFD65C"/>
                </a:solidFill>
                <a:latin typeface="Calibri" panose="020F0502020204030204" pitchFamily="34" charset="0"/>
              </a:rPr>
              <a:t>HSL travel</a:t>
            </a:r>
          </a:p>
          <a:p>
            <a:r>
              <a:rPr lang="en-US" sz="1150">
                <a:solidFill>
                  <a:srgbClr val="E6E6E6"/>
                </a:solidFill>
                <a:latin typeface="Calibri" panose="020F0502020204030204" pitchFamily="34" charset="0"/>
              </a:rPr>
              <a:t>Use the HSL app or a travel card for buses, trams, metro, trains and ferries in the Helsinki region.</a:t>
            </a:r>
            <a:endParaRPr lang="fi-FI" sz="1150">
              <a:solidFill>
                <a:srgbClr val="E6E6E6"/>
              </a:solidFill>
              <a:latin typeface="Calibri" panose="020F0502020204030204" pitchFamily="34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B257D7B-89BE-2D6E-59A6-3D32CBE80657}"/>
              </a:ext>
            </a:extLst>
          </p:cNvPr>
          <p:cNvSpPr/>
          <p:nvPr/>
        </p:nvSpPr>
        <p:spPr>
          <a:xfrm>
            <a:off x="685800" y="3539067"/>
            <a:ext cx="5270500" cy="1151466"/>
          </a:xfrm>
          <a:prstGeom prst="roundRect">
            <a:avLst>
              <a:gd name="adj" fmla="val 7000"/>
            </a:avLst>
          </a:prstGeom>
          <a:solidFill>
            <a:srgbClr val="1A1A1B"/>
          </a:solidFill>
          <a:ln w="12700">
            <a:solidFill>
              <a:srgbClr val="3838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77800" tIns="114300" rIns="152400" bIns="101600" rtlCol="0" anchor="t"/>
          <a:lstStyle/>
          <a:p>
            <a:r>
              <a:rPr lang="en-US" sz="1350" b="1">
                <a:solidFill>
                  <a:srgbClr val="FFD65C"/>
                </a:solidFill>
                <a:latin typeface="Calibri" panose="020F0502020204030204" pitchFamily="34" charset="0"/>
              </a:rPr>
              <a:t>Tickets</a:t>
            </a:r>
          </a:p>
          <a:p>
            <a:r>
              <a:rPr lang="en-US" sz="1150">
                <a:solidFill>
                  <a:srgbClr val="E6E6E6"/>
                </a:solidFill>
                <a:latin typeface="Calibri" panose="020F0502020204030204" pitchFamily="34" charset="0"/>
              </a:rPr>
              <a:t>Fares are zone-based (A-D); buy single, day or season tickets.</a:t>
            </a:r>
            <a:endParaRPr lang="fi-FI" sz="1150">
              <a:solidFill>
                <a:srgbClr val="E6E6E6"/>
              </a:solidFill>
              <a:latin typeface="Calibri" panose="020F0502020204030204" pitchFamily="34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714B1EA-837F-4E32-4629-A8E9B11D4A7A}"/>
              </a:ext>
            </a:extLst>
          </p:cNvPr>
          <p:cNvSpPr/>
          <p:nvPr/>
        </p:nvSpPr>
        <p:spPr>
          <a:xfrm>
            <a:off x="685800" y="4868333"/>
            <a:ext cx="5270500" cy="1151467"/>
          </a:xfrm>
          <a:prstGeom prst="roundRect">
            <a:avLst>
              <a:gd name="adj" fmla="val 7000"/>
            </a:avLst>
          </a:prstGeom>
          <a:solidFill>
            <a:srgbClr val="1A1A1B"/>
          </a:solidFill>
          <a:ln w="12700">
            <a:solidFill>
              <a:srgbClr val="3838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77800" tIns="114300" rIns="152400" bIns="101600" rtlCol="0" anchor="t"/>
          <a:lstStyle/>
          <a:p>
            <a:r>
              <a:rPr lang="fi-FI" sz="1350" b="1">
                <a:solidFill>
                  <a:srgbClr val="FFD65C"/>
                </a:solidFill>
                <a:latin typeface="Calibri" panose="020F0502020204030204" pitchFamily="34" charset="0"/>
              </a:rPr>
              <a:t>Longer trips</a:t>
            </a:r>
          </a:p>
          <a:p>
            <a:r>
              <a:rPr lang="fi-FI" sz="1150">
                <a:solidFill>
                  <a:srgbClr val="E6E6E6"/>
                </a:solidFill>
                <a:latin typeface="Calibri" panose="020F0502020204030204" pitchFamily="34" charset="0"/>
              </a:rPr>
              <a:t>VR runs national trains; long-distance buses too.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C014FB8-4913-FD2D-148C-0EC5A3EDB62B}"/>
              </a:ext>
            </a:extLst>
          </p:cNvPr>
          <p:cNvSpPr txBox="1"/>
          <p:nvPr/>
        </p:nvSpPr>
        <p:spPr>
          <a:xfrm>
            <a:off x="6235700" y="1930400"/>
            <a:ext cx="5270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i-FI" sz="1200" b="1">
                <a:solidFill>
                  <a:srgbClr val="FFD65C"/>
                </a:solidFill>
                <a:latin typeface="Calibri" panose="020F0502020204030204" pitchFamily="34" charset="0"/>
              </a:rPr>
              <a:t>MOBILE &amp; INTERNET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2CDF607A-DA3B-EB96-6B01-71C1DA43101B}"/>
              </a:ext>
            </a:extLst>
          </p:cNvPr>
          <p:cNvSpPr/>
          <p:nvPr/>
        </p:nvSpPr>
        <p:spPr>
          <a:xfrm>
            <a:off x="6235700" y="2209800"/>
            <a:ext cx="5270500" cy="1151467"/>
          </a:xfrm>
          <a:prstGeom prst="roundRect">
            <a:avLst>
              <a:gd name="adj" fmla="val 7000"/>
            </a:avLst>
          </a:prstGeom>
          <a:solidFill>
            <a:srgbClr val="1A1A1B"/>
          </a:solidFill>
          <a:ln w="12700">
            <a:solidFill>
              <a:srgbClr val="3838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77800" tIns="114300" rIns="152400" bIns="101600" rtlCol="0" anchor="t"/>
          <a:lstStyle/>
          <a:p>
            <a:r>
              <a:rPr lang="en-US" sz="1350" b="1">
                <a:solidFill>
                  <a:srgbClr val="FFD65C"/>
                </a:solidFill>
                <a:latin typeface="Calibri" panose="020F0502020204030204" pitchFamily="34" charset="0"/>
              </a:rPr>
              <a:t>Mobile operators</a:t>
            </a:r>
          </a:p>
          <a:p>
            <a:r>
              <a:rPr lang="en-US" sz="1150">
                <a:solidFill>
                  <a:srgbClr val="E6E6E6"/>
                </a:solidFill>
                <a:latin typeface="Calibri" panose="020F0502020204030204" pitchFamily="34" charset="0"/>
              </a:rPr>
              <a:t>Main networks are DNA, Elisa and Telia.</a:t>
            </a:r>
            <a:endParaRPr lang="fi-FI" sz="1150">
              <a:solidFill>
                <a:srgbClr val="E6E6E6"/>
              </a:solidFill>
              <a:latin typeface="Calibri" panose="020F0502020204030204" pitchFamily="34" charset="0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A49F7BDD-B9C1-2201-5A2A-1160FC7FECC1}"/>
              </a:ext>
            </a:extLst>
          </p:cNvPr>
          <p:cNvSpPr/>
          <p:nvPr/>
        </p:nvSpPr>
        <p:spPr>
          <a:xfrm>
            <a:off x="6235700" y="3539067"/>
            <a:ext cx="5270500" cy="1151466"/>
          </a:xfrm>
          <a:prstGeom prst="roundRect">
            <a:avLst>
              <a:gd name="adj" fmla="val 7000"/>
            </a:avLst>
          </a:prstGeom>
          <a:solidFill>
            <a:srgbClr val="1A1A1B"/>
          </a:solidFill>
          <a:ln w="12700">
            <a:solidFill>
              <a:srgbClr val="3838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77800" tIns="114300" rIns="152400" bIns="101600" rtlCol="0" anchor="t"/>
          <a:lstStyle/>
          <a:p>
            <a:r>
              <a:rPr lang="en-US" sz="1350" b="1">
                <a:solidFill>
                  <a:srgbClr val="FFD65C"/>
                </a:solidFill>
                <a:latin typeface="Calibri" panose="020F0502020204030204" pitchFamily="34" charset="0"/>
              </a:rPr>
              <a:t>Prepaid vs contract</a:t>
            </a:r>
          </a:p>
          <a:p>
            <a:r>
              <a:rPr lang="en-US" sz="1150">
                <a:solidFill>
                  <a:srgbClr val="E6E6E6"/>
                </a:solidFill>
                <a:latin typeface="Calibri" panose="020F0502020204030204" pitchFamily="34" charset="0"/>
              </a:rPr>
              <a:t>Prepaid SIMs are sold in kiosks and shops; contracts usually need ID and a bank ID.</a:t>
            </a:r>
            <a:endParaRPr lang="fi-FI" sz="1150">
              <a:solidFill>
                <a:srgbClr val="E6E6E6"/>
              </a:solidFill>
              <a:latin typeface="Calibri" panose="020F0502020204030204" pitchFamily="34" charset="0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A345EB26-C90E-28C1-E5DE-EF04A8E3E5BE}"/>
              </a:ext>
            </a:extLst>
          </p:cNvPr>
          <p:cNvSpPr/>
          <p:nvPr/>
        </p:nvSpPr>
        <p:spPr>
          <a:xfrm>
            <a:off x="6235700" y="4868333"/>
            <a:ext cx="5270500" cy="1151467"/>
          </a:xfrm>
          <a:prstGeom prst="roundRect">
            <a:avLst>
              <a:gd name="adj" fmla="val 7000"/>
            </a:avLst>
          </a:prstGeom>
          <a:solidFill>
            <a:srgbClr val="1A1A1B"/>
          </a:solidFill>
          <a:ln w="12700">
            <a:solidFill>
              <a:srgbClr val="3838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77800" tIns="114300" rIns="152400" bIns="101600" rtlCol="0" anchor="t"/>
          <a:lstStyle/>
          <a:p>
            <a:r>
              <a:rPr lang="en-US" sz="1350" b="1">
                <a:solidFill>
                  <a:srgbClr val="FFD65C"/>
                </a:solidFill>
                <a:latin typeface="Calibri" panose="020F0502020204030204" pitchFamily="34" charset="0"/>
              </a:rPr>
              <a:t>Home internet</a:t>
            </a:r>
          </a:p>
          <a:p>
            <a:r>
              <a:rPr lang="en-US" sz="1150">
                <a:solidFill>
                  <a:srgbClr val="E6E6E6"/>
                </a:solidFill>
                <a:latin typeface="Calibri" panose="020F0502020204030204" pitchFamily="34" charset="0"/>
              </a:rPr>
              <a:t>Order broadband once you have an address and identity code.</a:t>
            </a:r>
            <a:endParaRPr lang="fi-FI" sz="1150">
              <a:solidFill>
                <a:srgbClr val="E6E6E6"/>
              </a:solidFill>
              <a:latin typeface="Calibri" panose="020F050202020403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3175A17-E82F-6721-08C1-F27BA09FA3B9}"/>
              </a:ext>
            </a:extLst>
          </p:cNvPr>
          <p:cNvSpPr txBox="1"/>
          <p:nvPr/>
        </p:nvSpPr>
        <p:spPr>
          <a:xfrm>
            <a:off x="685800" y="6477000"/>
            <a:ext cx="812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i-FI" sz="1000">
                <a:solidFill>
                  <a:srgbClr val="6E6E6E"/>
                </a:solidFill>
                <a:latin typeface="Calibri" panose="020F0502020204030204" pitchFamily="34" charset="0"/>
              </a:rPr>
              <a:t>Taru HR   ·   Expat Employee Guide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DD75DFA-6D2E-D15F-8DA8-B5A27F86D1DC}"/>
              </a:ext>
            </a:extLst>
          </p:cNvPr>
          <p:cNvSpPr txBox="1"/>
          <p:nvPr/>
        </p:nvSpPr>
        <p:spPr>
          <a:xfrm>
            <a:off x="10896600" y="6451600"/>
            <a:ext cx="609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fi-FI" sz="1100" b="1">
                <a:solidFill>
                  <a:srgbClr val="FFD65C"/>
                </a:solidFill>
                <a:latin typeface="Calibri" panose="020F0502020204030204" pitchFamily="34" charset="0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279928793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09631F7-2B6F-195F-6A55-40196A1A0DE8}"/>
              </a:ext>
            </a:extLst>
          </p:cNvPr>
          <p:cNvSpPr txBox="1"/>
          <p:nvPr/>
        </p:nvSpPr>
        <p:spPr>
          <a:xfrm>
            <a:off x="685800" y="508000"/>
            <a:ext cx="10820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i-FI" sz="1300" b="1">
                <a:solidFill>
                  <a:srgbClr val="FFD65C"/>
                </a:solidFill>
                <a:latin typeface="Calibri" panose="020F0502020204030204" pitchFamily="34" charset="0"/>
              </a:rPr>
              <a:t>06  ·  LIVING IN FINLAND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4E0E05E-55C3-0C73-F9BE-F10EEED70FEA}"/>
              </a:ext>
            </a:extLst>
          </p:cNvPr>
          <p:cNvSpPr txBox="1"/>
          <p:nvPr/>
        </p:nvSpPr>
        <p:spPr>
          <a:xfrm>
            <a:off x="685800" y="787400"/>
            <a:ext cx="10820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i-FI" sz="3000" b="1">
                <a:solidFill>
                  <a:srgbClr val="FFD65C"/>
                </a:solidFill>
                <a:latin typeface="Calibri" panose="020F0502020204030204" pitchFamily="34" charset="0"/>
              </a:rPr>
              <a:t>Everyday life &amp; costs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2C33D34-6785-CC10-9C9D-FC0F0CCC8C4B}"/>
              </a:ext>
            </a:extLst>
          </p:cNvPr>
          <p:cNvSpPr txBox="1"/>
          <p:nvPr/>
        </p:nvSpPr>
        <p:spPr>
          <a:xfrm>
            <a:off x="685800" y="1422400"/>
            <a:ext cx="10820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400">
                <a:solidFill>
                  <a:srgbClr val="9E9E9E"/>
                </a:solidFill>
                <a:latin typeface="Calibri" panose="020F0502020204030204" pitchFamily="34" charset="0"/>
              </a:rPr>
              <a:t>Housing, shopping and what to budget for.</a:t>
            </a:r>
            <a:endParaRPr lang="fi-FI" sz="1400">
              <a:solidFill>
                <a:srgbClr val="9E9E9E"/>
              </a:solidFill>
              <a:latin typeface="Calibri" panose="020F0502020204030204" pitchFamily="34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B9EED5E-5A61-D926-5F9E-1CD0BF3EE728}"/>
              </a:ext>
            </a:extLst>
          </p:cNvPr>
          <p:cNvSpPr/>
          <p:nvPr/>
        </p:nvSpPr>
        <p:spPr>
          <a:xfrm>
            <a:off x="685800" y="2006600"/>
            <a:ext cx="5308600" cy="1892300"/>
          </a:xfrm>
          <a:prstGeom prst="roundRect">
            <a:avLst>
              <a:gd name="adj" fmla="val 7000"/>
            </a:avLst>
          </a:prstGeom>
          <a:solidFill>
            <a:srgbClr val="1A1A1B"/>
          </a:solidFill>
          <a:ln w="12700">
            <a:solidFill>
              <a:srgbClr val="3838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77800" tIns="114300" rIns="152400" bIns="101600" rtlCol="0" anchor="t"/>
          <a:lstStyle/>
          <a:p>
            <a:r>
              <a:rPr lang="en-US" sz="1400" b="1">
                <a:solidFill>
                  <a:srgbClr val="FFD65C"/>
                </a:solidFill>
                <a:latin typeface="Calibri" panose="020F0502020204030204" pitchFamily="34" charset="0"/>
              </a:rPr>
              <a:t>Housing</a:t>
            </a:r>
          </a:p>
          <a:p>
            <a:r>
              <a:rPr lang="en-US" sz="1200">
                <a:solidFill>
                  <a:srgbClr val="E6E6E6"/>
                </a:solidFill>
                <a:latin typeface="Calibri" panose="020F0502020204030204" pitchFamily="34" charset="0"/>
              </a:rPr>
              <a:t>Rentals via agencies or your relocation partner; deposit is often 1-2 months. Read the lease and notice period.</a:t>
            </a:r>
            <a:endParaRPr lang="fi-FI" sz="1200">
              <a:solidFill>
                <a:srgbClr val="E6E6E6"/>
              </a:solidFill>
              <a:latin typeface="Calibri" panose="020F0502020204030204" pitchFamily="34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E0E8118-8512-CF4C-5CFD-44AAF48F8E03}"/>
              </a:ext>
            </a:extLst>
          </p:cNvPr>
          <p:cNvSpPr/>
          <p:nvPr/>
        </p:nvSpPr>
        <p:spPr>
          <a:xfrm>
            <a:off x="6197600" y="2006600"/>
            <a:ext cx="5308600" cy="1892300"/>
          </a:xfrm>
          <a:prstGeom prst="roundRect">
            <a:avLst>
              <a:gd name="adj" fmla="val 7000"/>
            </a:avLst>
          </a:prstGeom>
          <a:solidFill>
            <a:srgbClr val="1A1A1B"/>
          </a:solidFill>
          <a:ln w="12700">
            <a:solidFill>
              <a:srgbClr val="3838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77800" tIns="114300" rIns="152400" bIns="101600" rtlCol="0" anchor="t"/>
          <a:lstStyle/>
          <a:p>
            <a:r>
              <a:rPr lang="en-US" sz="1400" b="1">
                <a:solidFill>
                  <a:srgbClr val="FFD65C"/>
                </a:solidFill>
                <a:latin typeface="Calibri" panose="020F0502020204030204" pitchFamily="34" charset="0"/>
              </a:rPr>
              <a:t>Groceries</a:t>
            </a:r>
          </a:p>
          <a:p>
            <a:r>
              <a:rPr lang="en-US" sz="1200">
                <a:solidFill>
                  <a:srgbClr val="E6E6E6"/>
                </a:solidFill>
                <a:latin typeface="Calibri" panose="020F0502020204030204" pitchFamily="34" charset="0"/>
              </a:rPr>
              <a:t>Main chains are S-market / Prisma, K-Market / K-Citymarket and Lidl; loyalty cards give discounts.</a:t>
            </a:r>
            <a:endParaRPr lang="fi-FI" sz="1200">
              <a:solidFill>
                <a:srgbClr val="E6E6E6"/>
              </a:solidFill>
              <a:latin typeface="Calibri" panose="020F0502020204030204" pitchFamily="34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3508461-EDAD-D498-F273-A3B6CD08C12C}"/>
              </a:ext>
            </a:extLst>
          </p:cNvPr>
          <p:cNvSpPr/>
          <p:nvPr/>
        </p:nvSpPr>
        <p:spPr>
          <a:xfrm>
            <a:off x="685800" y="4076700"/>
            <a:ext cx="5308600" cy="1892300"/>
          </a:xfrm>
          <a:prstGeom prst="roundRect">
            <a:avLst>
              <a:gd name="adj" fmla="val 7000"/>
            </a:avLst>
          </a:prstGeom>
          <a:solidFill>
            <a:srgbClr val="1A1A1B"/>
          </a:solidFill>
          <a:ln w="12700">
            <a:solidFill>
              <a:srgbClr val="3838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77800" tIns="114300" rIns="152400" bIns="101600" rtlCol="0" anchor="t"/>
          <a:lstStyle/>
          <a:p>
            <a:r>
              <a:rPr lang="en-US" sz="1400" b="1">
                <a:solidFill>
                  <a:srgbClr val="FFD65C"/>
                </a:solidFill>
                <a:latin typeface="Calibri" panose="020F0502020204030204" pitchFamily="34" charset="0"/>
              </a:rPr>
              <a:t>Pharmacies</a:t>
            </a:r>
          </a:p>
          <a:p>
            <a:r>
              <a:rPr lang="en-US" sz="1200">
                <a:solidFill>
                  <a:srgbClr val="E6E6E6"/>
                </a:solidFill>
                <a:latin typeface="Calibri" panose="020F0502020204030204" pitchFamily="34" charset="0"/>
              </a:rPr>
              <a:t>A pharmacy is an 'Apteekki'; some medicines need a prescription.</a:t>
            </a:r>
            <a:endParaRPr lang="fi-FI" sz="1200">
              <a:solidFill>
                <a:srgbClr val="E6E6E6"/>
              </a:solidFill>
              <a:latin typeface="Calibri" panose="020F0502020204030204" pitchFamily="34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F04A49A-4531-104A-F12A-863E057E489A}"/>
              </a:ext>
            </a:extLst>
          </p:cNvPr>
          <p:cNvSpPr/>
          <p:nvPr/>
        </p:nvSpPr>
        <p:spPr>
          <a:xfrm>
            <a:off x="6197600" y="4076700"/>
            <a:ext cx="5308600" cy="1892300"/>
          </a:xfrm>
          <a:prstGeom prst="roundRect">
            <a:avLst>
              <a:gd name="adj" fmla="val 7000"/>
            </a:avLst>
          </a:prstGeom>
          <a:solidFill>
            <a:srgbClr val="1A1A1B"/>
          </a:solidFill>
          <a:ln w="12700">
            <a:solidFill>
              <a:srgbClr val="3838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77800" tIns="114300" rIns="152400" bIns="101600" rtlCol="0" anchor="t"/>
          <a:lstStyle/>
          <a:p>
            <a:r>
              <a:rPr lang="en-US" sz="1400" b="1">
                <a:solidFill>
                  <a:srgbClr val="FFD65C"/>
                </a:solidFill>
                <a:latin typeface="Calibri" panose="020F0502020204030204" pitchFamily="34" charset="0"/>
              </a:rPr>
              <a:t>Budgeting</a:t>
            </a:r>
          </a:p>
          <a:p>
            <a:r>
              <a:rPr lang="en-US" sz="1200">
                <a:solidFill>
                  <a:srgbClr val="E6E6E6"/>
                </a:solidFill>
                <a:latin typeface="Calibri" panose="020F0502020204030204" pitchFamily="34" charset="0"/>
              </a:rPr>
              <a:t>Plan for rent, utilities, transport, groceries and your phone.</a:t>
            </a:r>
            <a:endParaRPr lang="fi-FI" sz="1200">
              <a:solidFill>
                <a:srgbClr val="E6E6E6"/>
              </a:solidFill>
              <a:latin typeface="Calibri" panose="020F050202020403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9EF03B4-35A1-462F-4289-FB881A566C99}"/>
              </a:ext>
            </a:extLst>
          </p:cNvPr>
          <p:cNvSpPr txBox="1"/>
          <p:nvPr/>
        </p:nvSpPr>
        <p:spPr>
          <a:xfrm>
            <a:off x="685800" y="6477000"/>
            <a:ext cx="812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i-FI" sz="1000">
                <a:solidFill>
                  <a:srgbClr val="6E6E6E"/>
                </a:solidFill>
                <a:latin typeface="Calibri" panose="020F0502020204030204" pitchFamily="34" charset="0"/>
              </a:rPr>
              <a:t>Taru HR   ·   Expat Employee Guide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D8E3D92-373B-6CAC-E4B6-959D01CACBAA}"/>
              </a:ext>
            </a:extLst>
          </p:cNvPr>
          <p:cNvSpPr txBox="1"/>
          <p:nvPr/>
        </p:nvSpPr>
        <p:spPr>
          <a:xfrm>
            <a:off x="10896600" y="6451600"/>
            <a:ext cx="609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fi-FI" sz="1100" b="1">
                <a:solidFill>
                  <a:srgbClr val="FFD65C"/>
                </a:solidFill>
                <a:latin typeface="Calibri" panose="020F0502020204030204" pitchFamily="34" charset="0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352177330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9F6D182-A4D7-0F1A-0A7C-F9026A25B0CB}"/>
              </a:ext>
            </a:extLst>
          </p:cNvPr>
          <p:cNvSpPr txBox="1"/>
          <p:nvPr/>
        </p:nvSpPr>
        <p:spPr>
          <a:xfrm>
            <a:off x="685800" y="508000"/>
            <a:ext cx="10820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i-FI" sz="1300" b="1">
                <a:solidFill>
                  <a:srgbClr val="FFD65C"/>
                </a:solidFill>
                <a:latin typeface="Calibri" panose="020F0502020204030204" pitchFamily="34" charset="0"/>
              </a:rPr>
              <a:t>06  ·  LIVING IN FINLAND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F72BA87-8936-A994-6706-236CCACF2749}"/>
              </a:ext>
            </a:extLst>
          </p:cNvPr>
          <p:cNvSpPr txBox="1"/>
          <p:nvPr/>
        </p:nvSpPr>
        <p:spPr>
          <a:xfrm>
            <a:off x="685800" y="787400"/>
            <a:ext cx="10820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i-FI" sz="3000" b="1">
                <a:solidFill>
                  <a:srgbClr val="FFD65C"/>
                </a:solidFill>
                <a:latin typeface="Calibri" panose="020F0502020204030204" pitchFamily="34" charset="0"/>
              </a:rPr>
              <a:t>Settling in: language &amp; culture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7398DE9-14E3-BDCD-32AD-FF718A729152}"/>
              </a:ext>
            </a:extLst>
          </p:cNvPr>
          <p:cNvSpPr txBox="1"/>
          <p:nvPr/>
        </p:nvSpPr>
        <p:spPr>
          <a:xfrm>
            <a:off x="685800" y="1422400"/>
            <a:ext cx="10820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400">
                <a:solidFill>
                  <a:srgbClr val="9E9E9E"/>
                </a:solidFill>
                <a:latin typeface="Calibri" panose="020F0502020204030204" pitchFamily="34" charset="0"/>
              </a:rPr>
              <a:t>A few things that help you feel at home.</a:t>
            </a:r>
            <a:endParaRPr lang="fi-FI" sz="1400">
              <a:solidFill>
                <a:srgbClr val="9E9E9E"/>
              </a:solidFill>
              <a:latin typeface="Calibri" panose="020F0502020204030204" pitchFamily="34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25287CD0-14A7-E7B8-9F0B-A992E8841245}"/>
              </a:ext>
            </a:extLst>
          </p:cNvPr>
          <p:cNvSpPr/>
          <p:nvPr/>
        </p:nvSpPr>
        <p:spPr>
          <a:xfrm>
            <a:off x="685800" y="2006600"/>
            <a:ext cx="5308600" cy="1892300"/>
          </a:xfrm>
          <a:prstGeom prst="roundRect">
            <a:avLst>
              <a:gd name="adj" fmla="val 7000"/>
            </a:avLst>
          </a:prstGeom>
          <a:solidFill>
            <a:srgbClr val="1A1A1B"/>
          </a:solidFill>
          <a:ln w="12700">
            <a:solidFill>
              <a:srgbClr val="3838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77800" tIns="114300" rIns="152400" bIns="101600" rtlCol="0" anchor="t"/>
          <a:lstStyle/>
          <a:p>
            <a:r>
              <a:rPr lang="en-US" sz="1400" b="1">
                <a:solidFill>
                  <a:srgbClr val="FFD65C"/>
                </a:solidFill>
                <a:latin typeface="Calibri" panose="020F0502020204030204" pitchFamily="34" charset="0"/>
              </a:rPr>
              <a:t>Languages</a:t>
            </a:r>
          </a:p>
          <a:p>
            <a:r>
              <a:rPr lang="en-US" sz="1200">
                <a:solidFill>
                  <a:srgbClr val="E6E6E6"/>
                </a:solidFill>
                <a:latin typeface="Calibri" panose="020F0502020204030204" pitchFamily="34" charset="0"/>
              </a:rPr>
              <a:t>Finnish and Swedish are official; English is widely spoken at work and in cities.</a:t>
            </a:r>
            <a:endParaRPr lang="fi-FI" sz="1200">
              <a:solidFill>
                <a:srgbClr val="E6E6E6"/>
              </a:solidFill>
              <a:latin typeface="Calibri" panose="020F0502020204030204" pitchFamily="34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40A65CE-ED55-97F7-6476-A02F111C12B6}"/>
              </a:ext>
            </a:extLst>
          </p:cNvPr>
          <p:cNvSpPr/>
          <p:nvPr/>
        </p:nvSpPr>
        <p:spPr>
          <a:xfrm>
            <a:off x="6197600" y="2006600"/>
            <a:ext cx="5308600" cy="1892300"/>
          </a:xfrm>
          <a:prstGeom prst="roundRect">
            <a:avLst>
              <a:gd name="adj" fmla="val 7000"/>
            </a:avLst>
          </a:prstGeom>
          <a:solidFill>
            <a:srgbClr val="1A1A1B"/>
          </a:solidFill>
          <a:ln w="12700">
            <a:solidFill>
              <a:srgbClr val="3838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77800" tIns="114300" rIns="152400" bIns="101600" rtlCol="0" anchor="t"/>
          <a:lstStyle/>
          <a:p>
            <a:r>
              <a:rPr lang="en-US" sz="1400" b="1">
                <a:solidFill>
                  <a:srgbClr val="FFD65C"/>
                </a:solidFill>
                <a:latin typeface="Calibri" panose="020F0502020204030204" pitchFamily="34" charset="0"/>
              </a:rPr>
              <a:t>Learn Finnish</a:t>
            </a:r>
          </a:p>
          <a:p>
            <a:r>
              <a:rPr lang="en-US" sz="1200">
                <a:solidFill>
                  <a:srgbClr val="E6E6E6"/>
                </a:solidFill>
                <a:latin typeface="Calibri" panose="020F0502020204030204" pitchFamily="34" charset="0"/>
              </a:rPr>
              <a:t>Free or subsidised courses and integration (kotoutuminen) support may be available.</a:t>
            </a:r>
            <a:endParaRPr lang="fi-FI" sz="1200">
              <a:solidFill>
                <a:srgbClr val="E6E6E6"/>
              </a:solidFill>
              <a:latin typeface="Calibri" panose="020F0502020204030204" pitchFamily="34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B96F451-FEA3-C8F8-1452-A17DB04CB889}"/>
              </a:ext>
            </a:extLst>
          </p:cNvPr>
          <p:cNvSpPr/>
          <p:nvPr/>
        </p:nvSpPr>
        <p:spPr>
          <a:xfrm>
            <a:off x="685800" y="4076700"/>
            <a:ext cx="5308600" cy="1892300"/>
          </a:xfrm>
          <a:prstGeom prst="roundRect">
            <a:avLst>
              <a:gd name="adj" fmla="val 7000"/>
            </a:avLst>
          </a:prstGeom>
          <a:solidFill>
            <a:srgbClr val="1A1A1B"/>
          </a:solidFill>
          <a:ln w="12700">
            <a:solidFill>
              <a:srgbClr val="3838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77800" tIns="114300" rIns="152400" bIns="101600" rtlCol="0" anchor="t"/>
          <a:lstStyle/>
          <a:p>
            <a:r>
              <a:rPr lang="en-US" sz="1400" b="1">
                <a:solidFill>
                  <a:srgbClr val="FFD65C"/>
                </a:solidFill>
                <a:latin typeface="Calibri" panose="020F0502020204030204" pitchFamily="34" charset="0"/>
              </a:rPr>
              <a:t>Ways of working</a:t>
            </a:r>
          </a:p>
          <a:p>
            <a:r>
              <a:rPr lang="en-US" sz="1200">
                <a:solidFill>
                  <a:srgbClr val="E6E6E6"/>
                </a:solidFill>
                <a:latin typeface="Calibri" panose="020F0502020204030204" pitchFamily="34" charset="0"/>
              </a:rPr>
              <a:t>Expect punctuality, directness, personal space and real work-life balance.</a:t>
            </a:r>
            <a:endParaRPr lang="fi-FI" sz="1200">
              <a:solidFill>
                <a:srgbClr val="E6E6E6"/>
              </a:solidFill>
              <a:latin typeface="Calibri" panose="020F0502020204030204" pitchFamily="34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2FDA343-8E26-19CA-A9DD-6874DD8DBF5D}"/>
              </a:ext>
            </a:extLst>
          </p:cNvPr>
          <p:cNvSpPr/>
          <p:nvPr/>
        </p:nvSpPr>
        <p:spPr>
          <a:xfrm>
            <a:off x="6197600" y="4076700"/>
            <a:ext cx="5308600" cy="1892300"/>
          </a:xfrm>
          <a:prstGeom prst="roundRect">
            <a:avLst>
              <a:gd name="adj" fmla="val 7000"/>
            </a:avLst>
          </a:prstGeom>
          <a:solidFill>
            <a:srgbClr val="1A1A1B"/>
          </a:solidFill>
          <a:ln w="12700">
            <a:solidFill>
              <a:srgbClr val="3838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77800" tIns="114300" rIns="152400" bIns="101600" rtlCol="0" anchor="t"/>
          <a:lstStyle/>
          <a:p>
            <a:r>
              <a:rPr lang="en-US" sz="1400" b="1">
                <a:solidFill>
                  <a:srgbClr val="FFD65C"/>
                </a:solidFill>
                <a:latin typeface="Calibri" panose="020F0502020204030204" pitchFamily="34" charset="0"/>
              </a:rPr>
              <a:t>Enjoy Finland</a:t>
            </a:r>
          </a:p>
          <a:p>
            <a:r>
              <a:rPr lang="en-US" sz="1200">
                <a:solidFill>
                  <a:srgbClr val="E6E6E6"/>
                </a:solidFill>
                <a:latin typeface="Calibri" panose="020F0502020204030204" pitchFamily="34" charset="0"/>
              </a:rPr>
              <a:t>Nature, sauna and the seasons - from bright summers to snowy winters.</a:t>
            </a:r>
            <a:endParaRPr lang="fi-FI" sz="1200">
              <a:solidFill>
                <a:srgbClr val="E6E6E6"/>
              </a:solidFill>
              <a:latin typeface="Calibri" panose="020F050202020403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5BF3AAB-2166-E6C0-69B3-3B5D48058566}"/>
              </a:ext>
            </a:extLst>
          </p:cNvPr>
          <p:cNvSpPr txBox="1"/>
          <p:nvPr/>
        </p:nvSpPr>
        <p:spPr>
          <a:xfrm>
            <a:off x="685800" y="6477000"/>
            <a:ext cx="812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i-FI" sz="1000">
                <a:solidFill>
                  <a:srgbClr val="6E6E6E"/>
                </a:solidFill>
                <a:latin typeface="Calibri" panose="020F0502020204030204" pitchFamily="34" charset="0"/>
              </a:rPr>
              <a:t>Taru HR   ·   Expat Employee Guide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22F7409-38C3-465D-B5DF-0432B5C7AB7E}"/>
              </a:ext>
            </a:extLst>
          </p:cNvPr>
          <p:cNvSpPr txBox="1"/>
          <p:nvPr/>
        </p:nvSpPr>
        <p:spPr>
          <a:xfrm>
            <a:off x="10896600" y="6451600"/>
            <a:ext cx="609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fi-FI" sz="1100" b="1">
                <a:solidFill>
                  <a:srgbClr val="FFD65C"/>
                </a:solidFill>
                <a:latin typeface="Calibri" panose="020F0502020204030204" pitchFamily="34" charset="0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372146297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6C0263E-D43C-095B-9A56-DF5F2755ABE5}"/>
              </a:ext>
            </a:extLst>
          </p:cNvPr>
          <p:cNvSpPr txBox="1"/>
          <p:nvPr/>
        </p:nvSpPr>
        <p:spPr>
          <a:xfrm>
            <a:off x="685800" y="508000"/>
            <a:ext cx="10820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i-FI" sz="1300" b="1">
                <a:solidFill>
                  <a:srgbClr val="FFD65C"/>
                </a:solidFill>
                <a:latin typeface="Calibri" panose="020F0502020204030204" pitchFamily="34" charset="0"/>
              </a:rPr>
              <a:t>07  ·  KEY CONTACTS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AD96E88-ACC7-E325-9969-6060F6F2E45F}"/>
              </a:ext>
            </a:extLst>
          </p:cNvPr>
          <p:cNvSpPr txBox="1"/>
          <p:nvPr/>
        </p:nvSpPr>
        <p:spPr>
          <a:xfrm>
            <a:off x="685800" y="787400"/>
            <a:ext cx="10820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i-FI" sz="3000" b="1">
                <a:solidFill>
                  <a:srgbClr val="FFD65C"/>
                </a:solidFill>
                <a:latin typeface="Calibri" panose="020F0502020204030204" pitchFamily="34" charset="0"/>
              </a:rPr>
              <a:t>Important contacts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F9CF0A-689C-ACFD-0DD5-6B5BA6E1B446}"/>
              </a:ext>
            </a:extLst>
          </p:cNvPr>
          <p:cNvSpPr txBox="1"/>
          <p:nvPr/>
        </p:nvSpPr>
        <p:spPr>
          <a:xfrm>
            <a:off x="685800" y="1422400"/>
            <a:ext cx="10820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400">
                <a:solidFill>
                  <a:srgbClr val="9E9E9E"/>
                </a:solidFill>
                <a:latin typeface="Calibri" panose="020F0502020204030204" pitchFamily="34" charset="0"/>
              </a:rPr>
              <a:t>Save these so help is always one message away.</a:t>
            </a:r>
            <a:endParaRPr lang="fi-FI" sz="1400">
              <a:solidFill>
                <a:srgbClr val="9E9E9E"/>
              </a:solidFill>
              <a:latin typeface="Calibri" panose="020F0502020204030204" pitchFamily="34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9109E06C-8234-65DA-1071-BF1E8EA5B738}"/>
              </a:ext>
            </a:extLst>
          </p:cNvPr>
          <p:cNvSpPr/>
          <p:nvPr/>
        </p:nvSpPr>
        <p:spPr>
          <a:xfrm>
            <a:off x="685800" y="2057400"/>
            <a:ext cx="3471333" cy="1917700"/>
          </a:xfrm>
          <a:prstGeom prst="roundRect">
            <a:avLst>
              <a:gd name="adj" fmla="val 7000"/>
            </a:avLst>
          </a:prstGeom>
          <a:solidFill>
            <a:srgbClr val="1A1A1B"/>
          </a:solidFill>
          <a:ln w="12700">
            <a:solidFill>
              <a:srgbClr val="3838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77800" tIns="114300" rIns="152400" bIns="101600" rtlCol="0" anchor="t"/>
          <a:lstStyle/>
          <a:p>
            <a:r>
              <a:rPr lang="fi-FI" sz="1400" b="1">
                <a:solidFill>
                  <a:srgbClr val="FFD65C"/>
                </a:solidFill>
                <a:latin typeface="Calibri" panose="020F0502020204030204" pitchFamily="34" charset="0"/>
              </a:rPr>
              <a:t>HR</a:t>
            </a:r>
          </a:p>
          <a:p>
            <a:r>
              <a:rPr lang="fi-FI" sz="1150">
                <a:solidFill>
                  <a:srgbClr val="E6E6E6"/>
                </a:solidFill>
                <a:latin typeface="Calibri" panose="020F0502020204030204" pitchFamily="34" charset="0"/>
              </a:rPr>
              <a:t>[name, email, role]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D143581-AA2F-7F72-943B-E7AB10523E49}"/>
              </a:ext>
            </a:extLst>
          </p:cNvPr>
          <p:cNvSpPr/>
          <p:nvPr/>
        </p:nvSpPr>
        <p:spPr>
          <a:xfrm>
            <a:off x="4360333" y="2057400"/>
            <a:ext cx="3471334" cy="1917700"/>
          </a:xfrm>
          <a:prstGeom prst="roundRect">
            <a:avLst>
              <a:gd name="adj" fmla="val 7000"/>
            </a:avLst>
          </a:prstGeom>
          <a:solidFill>
            <a:srgbClr val="1A1A1B"/>
          </a:solidFill>
          <a:ln w="12700">
            <a:solidFill>
              <a:srgbClr val="3838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77800" tIns="114300" rIns="152400" bIns="101600" rtlCol="0" anchor="t"/>
          <a:lstStyle/>
          <a:p>
            <a:r>
              <a:rPr lang="fi-FI" sz="1400" b="1">
                <a:solidFill>
                  <a:srgbClr val="FFD65C"/>
                </a:solidFill>
                <a:latin typeface="Calibri" panose="020F0502020204030204" pitchFamily="34" charset="0"/>
              </a:rPr>
              <a:t>Payroll</a:t>
            </a:r>
          </a:p>
          <a:p>
            <a:r>
              <a:rPr lang="fi-FI" sz="1150">
                <a:solidFill>
                  <a:srgbClr val="E6E6E6"/>
                </a:solidFill>
                <a:latin typeface="Calibri" panose="020F0502020204030204" pitchFamily="34" charset="0"/>
              </a:rPr>
              <a:t>[name, email]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FEBC211-310D-F0A1-EEE0-6A400B2544A4}"/>
              </a:ext>
            </a:extLst>
          </p:cNvPr>
          <p:cNvSpPr/>
          <p:nvPr/>
        </p:nvSpPr>
        <p:spPr>
          <a:xfrm>
            <a:off x="8034867" y="2057400"/>
            <a:ext cx="3471333" cy="1917700"/>
          </a:xfrm>
          <a:prstGeom prst="roundRect">
            <a:avLst>
              <a:gd name="adj" fmla="val 7000"/>
            </a:avLst>
          </a:prstGeom>
          <a:solidFill>
            <a:srgbClr val="1A1A1B"/>
          </a:solidFill>
          <a:ln w="12700">
            <a:solidFill>
              <a:srgbClr val="3838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77800" tIns="114300" rIns="152400" bIns="101600" rtlCol="0" anchor="t"/>
          <a:lstStyle/>
          <a:p>
            <a:r>
              <a:rPr lang="fi-FI" sz="1400" b="1">
                <a:solidFill>
                  <a:srgbClr val="FFD65C"/>
                </a:solidFill>
                <a:latin typeface="Calibri" panose="020F0502020204030204" pitchFamily="34" charset="0"/>
              </a:rPr>
              <a:t>IT support</a:t>
            </a:r>
          </a:p>
          <a:p>
            <a:r>
              <a:rPr lang="fi-FI" sz="1150">
                <a:solidFill>
                  <a:srgbClr val="E6E6E6"/>
                </a:solidFill>
                <a:latin typeface="Calibri" panose="020F0502020204030204" pitchFamily="34" charset="0"/>
              </a:rPr>
              <a:t>[accounts &amp; equipment]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EA134F0-85A3-5487-2993-9817D15AB0DF}"/>
              </a:ext>
            </a:extLst>
          </p:cNvPr>
          <p:cNvSpPr/>
          <p:nvPr/>
        </p:nvSpPr>
        <p:spPr>
          <a:xfrm>
            <a:off x="685800" y="4152900"/>
            <a:ext cx="3471333" cy="1917700"/>
          </a:xfrm>
          <a:prstGeom prst="roundRect">
            <a:avLst>
              <a:gd name="adj" fmla="val 7000"/>
            </a:avLst>
          </a:prstGeom>
          <a:solidFill>
            <a:srgbClr val="1A1A1B"/>
          </a:solidFill>
          <a:ln w="12700">
            <a:solidFill>
              <a:srgbClr val="3838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77800" tIns="114300" rIns="152400" bIns="101600" rtlCol="0" anchor="t"/>
          <a:lstStyle/>
          <a:p>
            <a:r>
              <a:rPr lang="fi-FI" sz="1400" b="1">
                <a:solidFill>
                  <a:srgbClr val="FFD65C"/>
                </a:solidFill>
                <a:latin typeface="Calibri" panose="020F0502020204030204" pitchFamily="34" charset="0"/>
              </a:rPr>
              <a:t>Occupational healthcare</a:t>
            </a:r>
          </a:p>
          <a:p>
            <a:r>
              <a:rPr lang="fi-FI" sz="1150">
                <a:solidFill>
                  <a:srgbClr val="E6E6E6"/>
                </a:solidFill>
                <a:latin typeface="Calibri" panose="020F0502020204030204" pitchFamily="34" charset="0"/>
              </a:rPr>
              <a:t>[provider &amp; booking]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C0D42D9A-97CB-B7B9-402D-F5B55260AF34}"/>
              </a:ext>
            </a:extLst>
          </p:cNvPr>
          <p:cNvSpPr/>
          <p:nvPr/>
        </p:nvSpPr>
        <p:spPr>
          <a:xfrm>
            <a:off x="4360333" y="4152900"/>
            <a:ext cx="3471334" cy="1917700"/>
          </a:xfrm>
          <a:prstGeom prst="roundRect">
            <a:avLst>
              <a:gd name="adj" fmla="val 7000"/>
            </a:avLst>
          </a:prstGeom>
          <a:solidFill>
            <a:srgbClr val="1A1A1B"/>
          </a:solidFill>
          <a:ln w="12700">
            <a:solidFill>
              <a:srgbClr val="3838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77800" tIns="114300" rIns="152400" bIns="101600" rtlCol="0" anchor="t"/>
          <a:lstStyle/>
          <a:p>
            <a:r>
              <a:rPr lang="fi-FI" sz="1400" b="1">
                <a:solidFill>
                  <a:srgbClr val="FFD65C"/>
                </a:solidFill>
                <a:latin typeface="Calibri" panose="020F0502020204030204" pitchFamily="34" charset="0"/>
              </a:rPr>
              <a:t>Your manager</a:t>
            </a:r>
          </a:p>
          <a:p>
            <a:r>
              <a:rPr lang="fi-FI" sz="1150">
                <a:solidFill>
                  <a:srgbClr val="E6E6E6"/>
                </a:solidFill>
                <a:latin typeface="Calibri" panose="020F0502020204030204" pitchFamily="34" charset="0"/>
              </a:rPr>
              <a:t>[manager + backup]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DC07D15F-768A-0EC7-500F-E45B2F8A892E}"/>
              </a:ext>
            </a:extLst>
          </p:cNvPr>
          <p:cNvSpPr/>
          <p:nvPr/>
        </p:nvSpPr>
        <p:spPr>
          <a:xfrm>
            <a:off x="8034867" y="4152900"/>
            <a:ext cx="3471333" cy="1917700"/>
          </a:xfrm>
          <a:prstGeom prst="roundRect">
            <a:avLst>
              <a:gd name="adj" fmla="val 7000"/>
            </a:avLst>
          </a:prstGeom>
          <a:solidFill>
            <a:srgbClr val="1A1A1B"/>
          </a:solidFill>
          <a:ln w="12700">
            <a:solidFill>
              <a:srgbClr val="3838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77800" tIns="114300" rIns="152400" bIns="101600" rtlCol="0" anchor="t"/>
          <a:lstStyle/>
          <a:p>
            <a:r>
              <a:rPr lang="en-US" sz="1400" b="1">
                <a:solidFill>
                  <a:srgbClr val="FFD65C"/>
                </a:solidFill>
                <a:latin typeface="Calibri" panose="020F0502020204030204" pitchFamily="34" charset="0"/>
              </a:rPr>
              <a:t>Emergency</a:t>
            </a:r>
          </a:p>
          <a:p>
            <a:r>
              <a:rPr lang="en-US" sz="1150">
                <a:solidFill>
                  <a:srgbClr val="E6E6E6"/>
                </a:solidFill>
                <a:latin typeface="Calibri" panose="020F0502020204030204" pitchFamily="34" charset="0"/>
              </a:rPr>
              <a:t>112 (all of Finland)</a:t>
            </a:r>
            <a:endParaRPr lang="fi-FI" sz="1150">
              <a:solidFill>
                <a:srgbClr val="E6E6E6"/>
              </a:solidFill>
              <a:latin typeface="Calibri" panose="020F050202020403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BD659B9-09F4-7B3D-517B-94746F212E1C}"/>
              </a:ext>
            </a:extLst>
          </p:cNvPr>
          <p:cNvSpPr txBox="1"/>
          <p:nvPr/>
        </p:nvSpPr>
        <p:spPr>
          <a:xfrm>
            <a:off x="685800" y="6477000"/>
            <a:ext cx="812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i-FI" sz="1000">
                <a:solidFill>
                  <a:srgbClr val="6E6E6E"/>
                </a:solidFill>
                <a:latin typeface="Calibri" panose="020F0502020204030204" pitchFamily="34" charset="0"/>
              </a:rPr>
              <a:t>Taru HR   ·   Expat Employee Guide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B01FBFF-F683-14FB-5CF9-D17496C3A3A8}"/>
              </a:ext>
            </a:extLst>
          </p:cNvPr>
          <p:cNvSpPr txBox="1"/>
          <p:nvPr/>
        </p:nvSpPr>
        <p:spPr>
          <a:xfrm>
            <a:off x="10896600" y="6451600"/>
            <a:ext cx="609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fi-FI" sz="1100" b="1">
                <a:solidFill>
                  <a:srgbClr val="FFD65C"/>
                </a:solidFill>
                <a:latin typeface="Calibri" panose="020F0502020204030204" pitchFamily="34" charset="0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10438005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96CFD07-6C1A-5EDB-E529-7E6E8DC8F75A}"/>
              </a:ext>
            </a:extLst>
          </p:cNvPr>
          <p:cNvSpPr txBox="1"/>
          <p:nvPr/>
        </p:nvSpPr>
        <p:spPr>
          <a:xfrm>
            <a:off x="812800" y="2717800"/>
            <a:ext cx="10566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i-FI" sz="4400" b="1">
                <a:solidFill>
                  <a:srgbClr val="FFD65C"/>
                </a:solidFill>
                <a:latin typeface="Calibri" panose="020F0502020204030204" pitchFamily="34" charset="0"/>
              </a:rPr>
              <a:t>Tervetuloa Suomeen!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D344088-A186-1E84-AADC-8E46390AFD27}"/>
              </a:ext>
            </a:extLst>
          </p:cNvPr>
          <p:cNvSpPr txBox="1"/>
          <p:nvPr/>
        </p:nvSpPr>
        <p:spPr>
          <a:xfrm>
            <a:off x="812800" y="3810000"/>
            <a:ext cx="10566400" cy="381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700">
                <a:solidFill>
                  <a:srgbClr val="E6E6E6"/>
                </a:solidFill>
                <a:latin typeface="Calibri" panose="020F0502020204030204" pitchFamily="34" charset="0"/>
              </a:rPr>
              <a:t>Welcome to Finland. Save this guide, and reach out to HR whenever you are unsure.</a:t>
            </a:r>
            <a:endParaRPr lang="fi-FI" sz="1700">
              <a:solidFill>
                <a:srgbClr val="E6E6E6"/>
              </a:solidFill>
              <a:latin typeface="Calibri" panose="020F05020202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F59B761-8C77-22E0-C8D9-1C1E56968E5D}"/>
              </a:ext>
            </a:extLst>
          </p:cNvPr>
          <p:cNvSpPr txBox="1"/>
          <p:nvPr/>
        </p:nvSpPr>
        <p:spPr>
          <a:xfrm>
            <a:off x="812800" y="4445000"/>
            <a:ext cx="10566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i-FI" sz="1200">
                <a:solidFill>
                  <a:srgbClr val="9E9E9E"/>
                </a:solidFill>
                <a:latin typeface="Calibri" panose="020F0502020204030204" pitchFamily="34" charset="0"/>
              </a:rPr>
              <a:t>Taru HR   ·   Expat Employee Guide</a:t>
            </a:r>
          </a:p>
        </p:txBody>
      </p:sp>
    </p:spTree>
    <p:extLst>
      <p:ext uri="{BB962C8B-B14F-4D97-AF65-F5344CB8AC3E}">
        <p14:creationId xmlns:p14="http://schemas.microsoft.com/office/powerpoint/2010/main" val="42426624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1945</Words>
  <Application>Microsoft Office PowerPoint</Application>
  <PresentationFormat>Custom</PresentationFormat>
  <Paragraphs>334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Tarppaa </dc:creator>
  <cp:lastModifiedBy>Tarppaa </cp:lastModifiedBy>
  <cp:revision>1</cp:revision>
  <dcterms:created xsi:type="dcterms:W3CDTF">2026-07-02T19:52:48Z</dcterms:created>
  <dcterms:modified xsi:type="dcterms:W3CDTF">2026-07-02T19:52:48Z</dcterms:modified>
</cp:coreProperties>
</file>