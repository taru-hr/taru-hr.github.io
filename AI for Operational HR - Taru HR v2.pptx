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This is a practical, illustrative guide to using AI for everyday operational HR work. Emphasise from the start that every example is illustrative and that HR stays responsible for reviewing outputs.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nine operational areas the guide covers. Each area follows the same pattern: a scenario, an AI prompt, an AI draft, and a wider list of other scenarios. Close by noting the Prompt Library and Responsible AI sections.</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Recruitment is where AI saves the most time on first drafts. Show how a single prompt produces a usable job advertisement, then stress that HR tailors tone, requirements and compliance before it goes live.</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Onboarding benefits from consistency. The AI draft is a ready-to-use first-week schedule the manager can adapt. Point out that HR confirms times, training links and system access before day one.</a:t>
            </a:r>
            <a:endParaRPr/>
          </a:p>
        </p:txBody>
      </p:sp>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Documentation is about consistency and speed. AI drafts a clean SOP structure with clear ownership across HR, manager and IT. HR reviews and tailors it to company and department practices.</a:t>
            </a:r>
            <a:endParaRPr/>
          </a:p>
        </p:txBody>
      </p:sp>
      <p:sp>
        <p:nvSpPr>
          <p:cNvPr id="172" name="Google Shape;17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Communication is about tone and clarity. AI drafts a friendly, plain-language message about a policy change. HR confirms the details, effective dates and channels before it goes out.</a:t>
            </a:r>
            <a:endParaRPr/>
          </a:p>
        </p:txBody>
      </p:sp>
      <p:sp>
        <p:nvSpPr>
          <p:cNvPr id="228" name="Google Shape;22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Pay questions are common and sensitive. AI turns a payslip into a plain-language explainer employees can understand. HR checks figures and wording before it is shared. Note tax guidance is illustrative, not legal advice.</a:t>
            </a:r>
            <a:endParaRPr/>
          </a:p>
        </p:txBody>
      </p:sp>
      <p:sp>
        <p:nvSpPr>
          <p:cNvPr id="282" name="Google Shape;28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Leave generates a lot of repeat questions. AI drafts a clear self-service guide covering the request and approval steps and how to check balances. HR confirms the portal steps and routing before publishing.</a:t>
            </a:r>
            <a:endParaRPr/>
          </a:p>
        </p:txBody>
      </p:sp>
      <p:sp>
        <p:nvSpPr>
          <p:cNvPr id="338" name="Google Shape;33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Reporting is about making data readable for leaders. AI turns raw monthly metrics into a short executive summary that flags trends and one or two watch-points. HR verifies figures against the source dashboard first.</a:t>
            </a:r>
            <a:endParaRPr/>
          </a:p>
        </p:txBody>
      </p:sp>
      <p:sp>
        <p:nvSpPr>
          <p:cNvPr id="394" name="Google Shape;3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Employee experience is about listening well. AI drafts a short, neutral pulse survey covering workload, wellbeing and recognition. HR confirms anonymity, tone and wording before sending.</a:t>
            </a:r>
            <a:endParaRPr/>
          </a:p>
        </p:txBody>
      </p:sp>
      <p:sp>
        <p:nvSpPr>
          <p:cNvPr id="449" name="Google Shape;44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Systems support is about reducing friction and tickets. AI drafts a simple, non-technical how-to for a new system module with a short troubleshooting section. HR confirms menu names and screenshots match the live system.</a:t>
            </a:r>
            <a:endParaRPr/>
          </a:p>
        </p:txBody>
      </p:sp>
      <p:sp>
        <p:nvSpPr>
          <p:cNvPr id="505" name="Google Shape;50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quick, copy-and-adapt reference. Encourage the audience to keep their own prompt library and refine prompts over time. Remind them to remove any confidential detail before pasting real data.</a:t>
            </a:r>
            <a:endParaRPr/>
          </a:p>
        </p:txBody>
      </p:sp>
      <p:sp>
        <p:nvSpPr>
          <p:cNvPr id="561" name="Google Shape;56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most important slide. AI supports HR; it does not replace judgement. Walk through the five commitments and connect them back to the illustrative disclaimer from the title slide.</a:t>
            </a:r>
            <a:endParaRPr/>
          </a:p>
        </p:txBody>
      </p:sp>
      <p:sp>
        <p:nvSpPr>
          <p:cNvPr id="582" name="Google Shape;58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the core message: use AI to work faster, and keep HR judgement at the centre. Invite questions and point to the Prompt Library as a starting point.</a:t>
            </a:r>
            <a:endParaRPr/>
          </a:p>
        </p:txBody>
      </p:sp>
      <p:sp>
        <p:nvSpPr>
          <p:cNvPr id="609" name="Google Shape;60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5" name="Shape 15"/>
        <p:cNvGrpSpPr/>
        <p:nvPr/>
      </p:nvGrpSpPr>
      <p:grpSpPr>
        <a:xfrm>
          <a:off x="0" y="0"/>
          <a:ext cx="0" cy="0"/>
          <a:chOff x="0" y="0"/>
          <a:chExt cx="0" cy="0"/>
        </a:xfrm>
      </p:grpSpPr>
      <p:sp>
        <p:nvSpPr>
          <p:cNvPr id="16" name="Google Shape;16;p3"/>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p:cNvPicPr preferRelativeResize="0"/>
          <p:nvPr/>
        </p:nvPicPr>
        <p:blipFill rotWithShape="1">
          <a:blip r:embed="rId3">
            <a:alphaModFix/>
          </a:blip>
          <a:srcRect b="0" l="0" r="0" t="0"/>
          <a:stretch/>
        </p:blipFill>
        <p:spPr>
          <a:xfrm>
            <a:off x="1047750" y="876300"/>
            <a:ext cx="2857500" cy="934045"/>
          </a:xfrm>
          <a:prstGeom prst="rect">
            <a:avLst/>
          </a:prstGeom>
          <a:noFill/>
          <a:ln>
            <a:noFill/>
          </a:ln>
        </p:spPr>
      </p:pic>
      <p:sp>
        <p:nvSpPr>
          <p:cNvPr id="18" name="Google Shape;18;p3"/>
          <p:cNvSpPr/>
          <p:nvPr/>
        </p:nvSpPr>
        <p:spPr>
          <a:xfrm>
            <a:off x="1047750" y="3543300"/>
            <a:ext cx="1665922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TARU HR · PRACTICAL GUIDE</a:t>
            </a:r>
            <a:endParaRPr b="0" i="0" sz="1950" u="none" cap="none" strike="noStrike">
              <a:solidFill>
                <a:schemeClr val="dk1"/>
              </a:solidFill>
              <a:latin typeface="Calibri"/>
              <a:ea typeface="Calibri"/>
              <a:cs typeface="Calibri"/>
              <a:sym typeface="Calibri"/>
            </a:endParaRPr>
          </a:p>
        </p:txBody>
      </p:sp>
      <p:sp>
        <p:nvSpPr>
          <p:cNvPr id="19" name="Google Shape;19;p3"/>
          <p:cNvSpPr/>
          <p:nvPr/>
        </p:nvSpPr>
        <p:spPr>
          <a:xfrm>
            <a:off x="1047750" y="4038600"/>
            <a:ext cx="16659225" cy="737592"/>
          </a:xfrm>
          <a:prstGeom prst="rect">
            <a:avLst/>
          </a:prstGeom>
          <a:noFill/>
          <a:ln>
            <a:noFill/>
          </a:ln>
        </p:spPr>
        <p:txBody>
          <a:bodyPr anchorCtr="0" anchor="t" bIns="25400" lIns="25400" spcFirstLastPara="1" rIns="25400" wrap="square" tIns="25400">
            <a:noAutofit/>
          </a:bodyPr>
          <a:lstStyle/>
          <a:p>
            <a:pPr indent="0" lvl="0" marL="0" marR="0" rtl="0" algn="l">
              <a:lnSpc>
                <a:spcPct val="102000"/>
              </a:lnSpc>
              <a:spcBef>
                <a:spcPts val="0"/>
              </a:spcBef>
              <a:spcAft>
                <a:spcPts val="0"/>
              </a:spcAft>
              <a:buClr>
                <a:srgbClr val="FAFAFA"/>
              </a:buClr>
              <a:buSzPts val="5400"/>
              <a:buFont typeface="Calibri"/>
              <a:buNone/>
            </a:pPr>
            <a:r>
              <a:rPr b="1" i="0" lang="en-US" sz="5400" u="none" cap="none" strike="noStrike">
                <a:solidFill>
                  <a:srgbClr val="FAFAFA"/>
                </a:solidFill>
                <a:latin typeface="Calibri"/>
                <a:ea typeface="Calibri"/>
                <a:cs typeface="Calibri"/>
                <a:sym typeface="Calibri"/>
              </a:rPr>
              <a:t>AI for Operational HR</a:t>
            </a:r>
            <a:endParaRPr b="0" i="0" sz="5400" u="none" cap="none" strike="noStrike">
              <a:solidFill>
                <a:schemeClr val="dk1"/>
              </a:solidFill>
              <a:latin typeface="Calibri"/>
              <a:ea typeface="Calibri"/>
              <a:cs typeface="Calibri"/>
              <a:sym typeface="Calibri"/>
            </a:endParaRPr>
          </a:p>
        </p:txBody>
      </p:sp>
      <p:sp>
        <p:nvSpPr>
          <p:cNvPr id="20" name="Google Shape;20;p3"/>
          <p:cNvSpPr/>
          <p:nvPr/>
        </p:nvSpPr>
        <p:spPr>
          <a:xfrm>
            <a:off x="1047750" y="5734050"/>
            <a:ext cx="14029373" cy="1189583"/>
          </a:xfrm>
          <a:prstGeom prst="rect">
            <a:avLst/>
          </a:prstGeom>
          <a:noFill/>
          <a:ln>
            <a:noFill/>
          </a:ln>
        </p:spPr>
        <p:txBody>
          <a:bodyPr anchorCtr="0" anchor="t" bIns="25400" lIns="25400" spcFirstLastPara="1" rIns="25400" wrap="square" tIns="25400">
            <a:noAutofit/>
          </a:bodyPr>
          <a:lstStyle/>
          <a:p>
            <a:pPr indent="0" lvl="0" marL="0" marR="0" rtl="0" algn="l">
              <a:lnSpc>
                <a:spcPct val="155000"/>
              </a:lnSpc>
              <a:spcBef>
                <a:spcPts val="0"/>
              </a:spcBef>
              <a:spcAft>
                <a:spcPts val="0"/>
              </a:spcAft>
              <a:buClr>
                <a:srgbClr val="FAFAFA"/>
              </a:buClr>
              <a:buSzPts val="1950"/>
              <a:buFont typeface="Calibri"/>
              <a:buNone/>
            </a:pPr>
            <a:r>
              <a:rPr b="0" i="0" lang="en-US" sz="1950" u="none" cap="none" strike="noStrike">
                <a:solidFill>
                  <a:srgbClr val="FAFAFA"/>
                </a:solidFill>
                <a:latin typeface="Calibri"/>
                <a:ea typeface="Calibri"/>
                <a:cs typeface="Calibri"/>
                <a:sym typeface="Calibri"/>
              </a:rPr>
              <a:t>Note: All examples are illustrative and created for portfolio purposes. They demonstrate practical ways AI can support operational HR while emphasizing that HR professionals remain responsible for reviewing content, protecting confidential information and ensuring compliance with organizational policies.</a:t>
            </a:r>
            <a:endParaRPr b="0" i="0" sz="1950" u="none" cap="none" strike="noStrike">
              <a:solidFill>
                <a:schemeClr val="dk1"/>
              </a:solidFill>
              <a:latin typeface="Calibri"/>
              <a:ea typeface="Calibri"/>
              <a:cs typeface="Calibri"/>
              <a:sym typeface="Calibri"/>
            </a:endParaRPr>
          </a:p>
        </p:txBody>
      </p:sp>
      <p:sp>
        <p:nvSpPr>
          <p:cNvPr id="21" name="Google Shape;21;p3"/>
          <p:cNvSpPr/>
          <p:nvPr/>
        </p:nvSpPr>
        <p:spPr>
          <a:xfrm>
            <a:off x="1047750" y="9382125"/>
            <a:ext cx="35733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1800"/>
              <a:buFont typeface="Calibri"/>
              <a:buNone/>
            </a:pPr>
            <a:r>
              <a:rPr b="0" i="0" lang="en-US" sz="1800" u="none" cap="none" strike="noStrike">
                <a:solidFill>
                  <a:srgbClr val="9E9E9E"/>
                </a:solidFill>
                <a:latin typeface="Calibri"/>
                <a:ea typeface="Calibri"/>
                <a:cs typeface="Calibri"/>
                <a:sym typeface="Calibri"/>
              </a:rPr>
              <a:t>Taru HR</a:t>
            </a:r>
            <a:r>
              <a:rPr lang="en-US" sz="1800">
                <a:solidFill>
                  <a:srgbClr val="9E9E9E"/>
                </a:solidFill>
                <a:latin typeface="Calibri"/>
                <a:ea typeface="Calibri"/>
                <a:cs typeface="Calibri"/>
                <a:sym typeface="Calibri"/>
              </a:rPr>
              <a:t> </a:t>
            </a:r>
            <a:r>
              <a:rPr b="0" i="0" lang="en-US" sz="1800" u="none" cap="none" strike="noStrike">
                <a:solidFill>
                  <a:srgbClr val="9E9E9E"/>
                </a:solidFill>
                <a:latin typeface="Calibri"/>
                <a:ea typeface="Calibri"/>
                <a:cs typeface="Calibri"/>
                <a:sym typeface="Calibri"/>
              </a:rPr>
              <a:t>· 2026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26" name="Shape 26"/>
        <p:cNvGrpSpPr/>
        <p:nvPr/>
      </p:nvGrpSpPr>
      <p:grpSpPr>
        <a:xfrm>
          <a:off x="0" y="0"/>
          <a:ext cx="0" cy="0"/>
          <a:chOff x="0" y="0"/>
          <a:chExt cx="0" cy="0"/>
        </a:xfrm>
      </p:grpSpPr>
      <p:sp>
        <p:nvSpPr>
          <p:cNvPr id="27" name="Google Shape;27;p4"/>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OVERVIEW</a:t>
            </a:r>
            <a:endParaRPr b="0" i="0" sz="1950" u="none" cap="none" strike="noStrike">
              <a:solidFill>
                <a:schemeClr val="dk1"/>
              </a:solidFill>
              <a:latin typeface="Calibri"/>
              <a:ea typeface="Calibri"/>
              <a:cs typeface="Calibri"/>
              <a:sym typeface="Calibri"/>
            </a:endParaRPr>
          </a:p>
        </p:txBody>
      </p:sp>
      <p:sp>
        <p:nvSpPr>
          <p:cNvPr id="29" name="Google Shape;29;p4"/>
          <p:cNvSpPr/>
          <p:nvPr/>
        </p:nvSpPr>
        <p:spPr>
          <a:xfrm>
            <a:off x="1047750" y="104775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How to use this guide</a:t>
            </a:r>
            <a:endParaRPr b="0" i="0" sz="4350" u="none" cap="none" strike="noStrike">
              <a:solidFill>
                <a:schemeClr val="dk1"/>
              </a:solidFill>
              <a:latin typeface="Calibri"/>
              <a:ea typeface="Calibri"/>
              <a:cs typeface="Calibri"/>
              <a:sym typeface="Calibri"/>
            </a:endParaRPr>
          </a:p>
        </p:txBody>
      </p:sp>
      <p:sp>
        <p:nvSpPr>
          <p:cNvPr id="30" name="Google Shape;30;p4"/>
          <p:cNvSpPr/>
          <p:nvPr/>
        </p:nvSpPr>
        <p:spPr>
          <a:xfrm>
            <a:off x="1047750" y="1793677"/>
            <a:ext cx="14716125" cy="811411"/>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E6E6E6"/>
              </a:buClr>
              <a:buSzPts val="2100"/>
              <a:buFont typeface="Calibri"/>
              <a:buNone/>
            </a:pPr>
            <a:r>
              <a:rPr b="0" i="0" lang="en-US" sz="2100" u="none" cap="none" strike="noStrike">
                <a:solidFill>
                  <a:srgbClr val="E6E6E6"/>
                </a:solidFill>
                <a:latin typeface="Calibri"/>
                <a:ea typeface="Calibri"/>
                <a:cs typeface="Calibri"/>
                <a:sym typeface="Calibri"/>
              </a:rPr>
              <a:t>A practical guide demonstrating how artificial intelligence can support routine HR tasks, improve efficiency and enhance the employee experience — while keeping HR professionals responsible for reviewing and validating all outputs.</a:t>
            </a:r>
            <a:endParaRPr b="0" i="0" sz="2100" u="none" cap="none" strike="noStrike">
              <a:solidFill>
                <a:schemeClr val="dk1"/>
              </a:solidFill>
              <a:latin typeface="Calibri"/>
              <a:ea typeface="Calibri"/>
              <a:cs typeface="Calibri"/>
              <a:sym typeface="Calibri"/>
            </a:endParaRPr>
          </a:p>
        </p:txBody>
      </p:sp>
      <p:sp>
        <p:nvSpPr>
          <p:cNvPr id="31" name="Google Shape;31;p4"/>
          <p:cNvSpPr/>
          <p:nvPr/>
        </p:nvSpPr>
        <p:spPr>
          <a:xfrm>
            <a:off x="1047750" y="2947988"/>
            <a:ext cx="5245001" cy="866775"/>
          </a:xfrm>
          <a:prstGeom prst="roundRect">
            <a:avLst>
              <a:gd fmla="val 15385"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1343025" y="3205163"/>
            <a:ext cx="365968"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250"/>
              <a:buFont typeface="Calibri"/>
              <a:buNone/>
            </a:pPr>
            <a:r>
              <a:rPr b="1" i="0" lang="en-US" sz="2250" u="none" cap="none" strike="noStrike">
                <a:solidFill>
                  <a:srgbClr val="FFD65C"/>
                </a:solidFill>
                <a:latin typeface="Calibri"/>
                <a:ea typeface="Calibri"/>
                <a:cs typeface="Calibri"/>
                <a:sym typeface="Calibri"/>
              </a:rPr>
              <a:t>01</a:t>
            </a:r>
            <a:endParaRPr b="0" i="0" sz="2250" u="none" cap="none" strike="noStrike">
              <a:solidFill>
                <a:schemeClr val="dk1"/>
              </a:solidFill>
              <a:latin typeface="Calibri"/>
              <a:ea typeface="Calibri"/>
              <a:cs typeface="Calibri"/>
              <a:sym typeface="Calibri"/>
            </a:endParaRPr>
          </a:p>
        </p:txBody>
      </p:sp>
      <p:sp>
        <p:nvSpPr>
          <p:cNvPr id="33" name="Google Shape;33;p4"/>
          <p:cNvSpPr/>
          <p:nvPr/>
        </p:nvSpPr>
        <p:spPr>
          <a:xfrm>
            <a:off x="1823293" y="3224213"/>
            <a:ext cx="2405896"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Recruitment Support</a:t>
            </a:r>
            <a:endParaRPr b="0" i="0" sz="2025" u="none" cap="none" strike="noStrike">
              <a:solidFill>
                <a:schemeClr val="dk1"/>
              </a:solidFill>
              <a:latin typeface="Calibri"/>
              <a:ea typeface="Calibri"/>
              <a:cs typeface="Calibri"/>
              <a:sym typeface="Calibri"/>
            </a:endParaRPr>
          </a:p>
        </p:txBody>
      </p:sp>
      <p:sp>
        <p:nvSpPr>
          <p:cNvPr id="34" name="Google Shape;34;p4"/>
          <p:cNvSpPr/>
          <p:nvPr/>
        </p:nvSpPr>
        <p:spPr>
          <a:xfrm>
            <a:off x="6521351" y="2947988"/>
            <a:ext cx="5245150" cy="866775"/>
          </a:xfrm>
          <a:prstGeom prst="roundRect">
            <a:avLst>
              <a:gd fmla="val 15385"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6816626" y="3205163"/>
            <a:ext cx="365968"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250"/>
              <a:buFont typeface="Calibri"/>
              <a:buNone/>
            </a:pPr>
            <a:r>
              <a:rPr b="1" i="0" lang="en-US" sz="2250" u="none" cap="none" strike="noStrike">
                <a:solidFill>
                  <a:srgbClr val="FFD65C"/>
                </a:solidFill>
                <a:latin typeface="Calibri"/>
                <a:ea typeface="Calibri"/>
                <a:cs typeface="Calibri"/>
                <a:sym typeface="Calibri"/>
              </a:rPr>
              <a:t>02</a:t>
            </a:r>
            <a:endParaRPr b="0" i="0" sz="2250" u="none" cap="none" strike="noStrike">
              <a:solidFill>
                <a:schemeClr val="dk1"/>
              </a:solidFill>
              <a:latin typeface="Calibri"/>
              <a:ea typeface="Calibri"/>
              <a:cs typeface="Calibri"/>
              <a:sym typeface="Calibri"/>
            </a:endParaRPr>
          </a:p>
        </p:txBody>
      </p:sp>
      <p:sp>
        <p:nvSpPr>
          <p:cNvPr id="36" name="Google Shape;36;p4"/>
          <p:cNvSpPr/>
          <p:nvPr/>
        </p:nvSpPr>
        <p:spPr>
          <a:xfrm>
            <a:off x="7296894" y="3224213"/>
            <a:ext cx="1359456"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Onboarding</a:t>
            </a:r>
            <a:endParaRPr b="0" i="0" sz="2025" u="none" cap="none" strike="noStrike">
              <a:solidFill>
                <a:schemeClr val="dk1"/>
              </a:solidFill>
              <a:latin typeface="Calibri"/>
              <a:ea typeface="Calibri"/>
              <a:cs typeface="Calibri"/>
              <a:sym typeface="Calibri"/>
            </a:endParaRPr>
          </a:p>
        </p:txBody>
      </p:sp>
      <p:sp>
        <p:nvSpPr>
          <p:cNvPr id="37" name="Google Shape;37;p4"/>
          <p:cNvSpPr/>
          <p:nvPr/>
        </p:nvSpPr>
        <p:spPr>
          <a:xfrm>
            <a:off x="11995100" y="2947988"/>
            <a:ext cx="5245150" cy="866775"/>
          </a:xfrm>
          <a:prstGeom prst="roundRect">
            <a:avLst>
              <a:gd fmla="val 15385"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12290375" y="3205163"/>
            <a:ext cx="365968"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250"/>
              <a:buFont typeface="Calibri"/>
              <a:buNone/>
            </a:pPr>
            <a:r>
              <a:rPr b="1" i="0" lang="en-US" sz="2250" u="none" cap="none" strike="noStrike">
                <a:solidFill>
                  <a:srgbClr val="FFD65C"/>
                </a:solidFill>
                <a:latin typeface="Calibri"/>
                <a:ea typeface="Calibri"/>
                <a:cs typeface="Calibri"/>
                <a:sym typeface="Calibri"/>
              </a:rPr>
              <a:t>03</a:t>
            </a:r>
            <a:endParaRPr b="0" i="0" sz="2250" u="none" cap="none" strike="noStrike">
              <a:solidFill>
                <a:schemeClr val="dk1"/>
              </a:solidFill>
              <a:latin typeface="Calibri"/>
              <a:ea typeface="Calibri"/>
              <a:cs typeface="Calibri"/>
              <a:sym typeface="Calibri"/>
            </a:endParaRPr>
          </a:p>
        </p:txBody>
      </p:sp>
      <p:sp>
        <p:nvSpPr>
          <p:cNvPr id="39" name="Google Shape;39;p4"/>
          <p:cNvSpPr/>
          <p:nvPr/>
        </p:nvSpPr>
        <p:spPr>
          <a:xfrm>
            <a:off x="12770644" y="3224213"/>
            <a:ext cx="2177683"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HR Documentation</a:t>
            </a:r>
            <a:endParaRPr b="0" i="0" sz="2025" u="none" cap="none" strike="noStrike">
              <a:solidFill>
                <a:schemeClr val="dk1"/>
              </a:solidFill>
              <a:latin typeface="Calibri"/>
              <a:ea typeface="Calibri"/>
              <a:cs typeface="Calibri"/>
              <a:sym typeface="Calibri"/>
            </a:endParaRPr>
          </a:p>
        </p:txBody>
      </p:sp>
      <p:sp>
        <p:nvSpPr>
          <p:cNvPr id="40" name="Google Shape;40;p4"/>
          <p:cNvSpPr/>
          <p:nvPr/>
        </p:nvSpPr>
        <p:spPr>
          <a:xfrm>
            <a:off x="1047750" y="4043363"/>
            <a:ext cx="5245001" cy="866775"/>
          </a:xfrm>
          <a:prstGeom prst="roundRect">
            <a:avLst>
              <a:gd fmla="val 15385"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1343025" y="4300538"/>
            <a:ext cx="365968"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250"/>
              <a:buFont typeface="Calibri"/>
              <a:buNone/>
            </a:pPr>
            <a:r>
              <a:rPr b="1" i="0" lang="en-US" sz="2250" u="none" cap="none" strike="noStrike">
                <a:solidFill>
                  <a:srgbClr val="FFD65C"/>
                </a:solidFill>
                <a:latin typeface="Calibri"/>
                <a:ea typeface="Calibri"/>
                <a:cs typeface="Calibri"/>
                <a:sym typeface="Calibri"/>
              </a:rPr>
              <a:t>04</a:t>
            </a:r>
            <a:endParaRPr b="0" i="0" sz="2250" u="none" cap="none" strike="noStrike">
              <a:solidFill>
                <a:schemeClr val="dk1"/>
              </a:solidFill>
              <a:latin typeface="Calibri"/>
              <a:ea typeface="Calibri"/>
              <a:cs typeface="Calibri"/>
              <a:sym typeface="Calibri"/>
            </a:endParaRPr>
          </a:p>
        </p:txBody>
      </p:sp>
      <p:sp>
        <p:nvSpPr>
          <p:cNvPr id="42" name="Google Shape;42;p4"/>
          <p:cNvSpPr/>
          <p:nvPr/>
        </p:nvSpPr>
        <p:spPr>
          <a:xfrm>
            <a:off x="1823293" y="4319588"/>
            <a:ext cx="2213699"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HR Communication</a:t>
            </a:r>
            <a:endParaRPr b="0" i="0" sz="2025" u="none" cap="none" strike="noStrike">
              <a:solidFill>
                <a:schemeClr val="dk1"/>
              </a:solidFill>
              <a:latin typeface="Calibri"/>
              <a:ea typeface="Calibri"/>
              <a:cs typeface="Calibri"/>
              <a:sym typeface="Calibri"/>
            </a:endParaRPr>
          </a:p>
        </p:txBody>
      </p:sp>
      <p:sp>
        <p:nvSpPr>
          <p:cNvPr id="43" name="Google Shape;43;p4"/>
          <p:cNvSpPr/>
          <p:nvPr/>
        </p:nvSpPr>
        <p:spPr>
          <a:xfrm>
            <a:off x="6521351" y="4043363"/>
            <a:ext cx="5245150" cy="866775"/>
          </a:xfrm>
          <a:prstGeom prst="roundRect">
            <a:avLst>
              <a:gd fmla="val 15385"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6816626" y="4300538"/>
            <a:ext cx="365968"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250"/>
              <a:buFont typeface="Calibri"/>
              <a:buNone/>
            </a:pPr>
            <a:r>
              <a:rPr b="1" i="0" lang="en-US" sz="2250" u="none" cap="none" strike="noStrike">
                <a:solidFill>
                  <a:srgbClr val="FFD65C"/>
                </a:solidFill>
                <a:latin typeface="Calibri"/>
                <a:ea typeface="Calibri"/>
                <a:cs typeface="Calibri"/>
                <a:sym typeface="Calibri"/>
              </a:rPr>
              <a:t>05</a:t>
            </a:r>
            <a:endParaRPr b="0" i="0" sz="2250" u="none" cap="none" strike="noStrike">
              <a:solidFill>
                <a:schemeClr val="dk1"/>
              </a:solidFill>
              <a:latin typeface="Calibri"/>
              <a:ea typeface="Calibri"/>
              <a:cs typeface="Calibri"/>
              <a:sym typeface="Calibri"/>
            </a:endParaRPr>
          </a:p>
        </p:txBody>
      </p:sp>
      <p:sp>
        <p:nvSpPr>
          <p:cNvPr id="45" name="Google Shape;45;p4"/>
          <p:cNvSpPr/>
          <p:nvPr/>
        </p:nvSpPr>
        <p:spPr>
          <a:xfrm>
            <a:off x="7296894" y="4319588"/>
            <a:ext cx="2029033"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Payroll &amp; Benefits</a:t>
            </a:r>
            <a:endParaRPr b="0" i="0" sz="2025" u="none" cap="none" strike="noStrike">
              <a:solidFill>
                <a:schemeClr val="dk1"/>
              </a:solidFill>
              <a:latin typeface="Calibri"/>
              <a:ea typeface="Calibri"/>
              <a:cs typeface="Calibri"/>
              <a:sym typeface="Calibri"/>
            </a:endParaRPr>
          </a:p>
        </p:txBody>
      </p:sp>
      <p:sp>
        <p:nvSpPr>
          <p:cNvPr id="46" name="Google Shape;46;p4"/>
          <p:cNvSpPr/>
          <p:nvPr/>
        </p:nvSpPr>
        <p:spPr>
          <a:xfrm>
            <a:off x="11995100" y="4043363"/>
            <a:ext cx="5245150" cy="866775"/>
          </a:xfrm>
          <a:prstGeom prst="roundRect">
            <a:avLst>
              <a:gd fmla="val 15385"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12290375" y="4300538"/>
            <a:ext cx="365968"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250"/>
              <a:buFont typeface="Calibri"/>
              <a:buNone/>
            </a:pPr>
            <a:r>
              <a:rPr b="1" i="0" lang="en-US" sz="2250" u="none" cap="none" strike="noStrike">
                <a:solidFill>
                  <a:srgbClr val="FFD65C"/>
                </a:solidFill>
                <a:latin typeface="Calibri"/>
                <a:ea typeface="Calibri"/>
                <a:cs typeface="Calibri"/>
                <a:sym typeface="Calibri"/>
              </a:rPr>
              <a:t>06</a:t>
            </a:r>
            <a:endParaRPr b="0" i="0" sz="2250" u="none" cap="none" strike="noStrike">
              <a:solidFill>
                <a:schemeClr val="dk1"/>
              </a:solidFill>
              <a:latin typeface="Calibri"/>
              <a:ea typeface="Calibri"/>
              <a:cs typeface="Calibri"/>
              <a:sym typeface="Calibri"/>
            </a:endParaRPr>
          </a:p>
        </p:txBody>
      </p:sp>
      <p:sp>
        <p:nvSpPr>
          <p:cNvPr id="48" name="Google Shape;48;p4"/>
          <p:cNvSpPr/>
          <p:nvPr/>
        </p:nvSpPr>
        <p:spPr>
          <a:xfrm>
            <a:off x="12770644" y="4319588"/>
            <a:ext cx="2260848"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Leave Management</a:t>
            </a:r>
            <a:endParaRPr b="0" i="0" sz="2025" u="none" cap="none" strike="noStrike">
              <a:solidFill>
                <a:schemeClr val="dk1"/>
              </a:solidFill>
              <a:latin typeface="Calibri"/>
              <a:ea typeface="Calibri"/>
              <a:cs typeface="Calibri"/>
              <a:sym typeface="Calibri"/>
            </a:endParaRPr>
          </a:p>
        </p:txBody>
      </p:sp>
      <p:sp>
        <p:nvSpPr>
          <p:cNvPr id="49" name="Google Shape;49;p4"/>
          <p:cNvSpPr/>
          <p:nvPr/>
        </p:nvSpPr>
        <p:spPr>
          <a:xfrm>
            <a:off x="1047750" y="5138738"/>
            <a:ext cx="5245001" cy="866775"/>
          </a:xfrm>
          <a:prstGeom prst="roundRect">
            <a:avLst>
              <a:gd fmla="val 15385"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1343025" y="5395913"/>
            <a:ext cx="365968"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250"/>
              <a:buFont typeface="Calibri"/>
              <a:buNone/>
            </a:pPr>
            <a:r>
              <a:rPr b="1" i="0" lang="en-US" sz="2250" u="none" cap="none" strike="noStrike">
                <a:solidFill>
                  <a:srgbClr val="FFD65C"/>
                </a:solidFill>
                <a:latin typeface="Calibri"/>
                <a:ea typeface="Calibri"/>
                <a:cs typeface="Calibri"/>
                <a:sym typeface="Calibri"/>
              </a:rPr>
              <a:t>07</a:t>
            </a:r>
            <a:endParaRPr b="0" i="0" sz="2250" u="none" cap="none" strike="noStrike">
              <a:solidFill>
                <a:schemeClr val="dk1"/>
              </a:solidFill>
              <a:latin typeface="Calibri"/>
              <a:ea typeface="Calibri"/>
              <a:cs typeface="Calibri"/>
              <a:sym typeface="Calibri"/>
            </a:endParaRPr>
          </a:p>
        </p:txBody>
      </p:sp>
      <p:sp>
        <p:nvSpPr>
          <p:cNvPr id="51" name="Google Shape;51;p4"/>
          <p:cNvSpPr/>
          <p:nvPr/>
        </p:nvSpPr>
        <p:spPr>
          <a:xfrm>
            <a:off x="1823293" y="5414963"/>
            <a:ext cx="2870016"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HR Reporting &amp; Analytics</a:t>
            </a:r>
            <a:endParaRPr b="0" i="0" sz="2025" u="none" cap="none" strike="noStrike">
              <a:solidFill>
                <a:schemeClr val="dk1"/>
              </a:solidFill>
              <a:latin typeface="Calibri"/>
              <a:ea typeface="Calibri"/>
              <a:cs typeface="Calibri"/>
              <a:sym typeface="Calibri"/>
            </a:endParaRPr>
          </a:p>
        </p:txBody>
      </p:sp>
      <p:sp>
        <p:nvSpPr>
          <p:cNvPr id="52" name="Google Shape;52;p4"/>
          <p:cNvSpPr/>
          <p:nvPr/>
        </p:nvSpPr>
        <p:spPr>
          <a:xfrm>
            <a:off x="6521351" y="5138738"/>
            <a:ext cx="5245150" cy="866775"/>
          </a:xfrm>
          <a:prstGeom prst="roundRect">
            <a:avLst>
              <a:gd fmla="val 15385"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6816626" y="5395913"/>
            <a:ext cx="365968"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250"/>
              <a:buFont typeface="Calibri"/>
              <a:buNone/>
            </a:pPr>
            <a:r>
              <a:rPr b="1" i="0" lang="en-US" sz="2250" u="none" cap="none" strike="noStrike">
                <a:solidFill>
                  <a:srgbClr val="FFD65C"/>
                </a:solidFill>
                <a:latin typeface="Calibri"/>
                <a:ea typeface="Calibri"/>
                <a:cs typeface="Calibri"/>
                <a:sym typeface="Calibri"/>
              </a:rPr>
              <a:t>08</a:t>
            </a:r>
            <a:endParaRPr b="0" i="0" sz="2250" u="none" cap="none" strike="noStrike">
              <a:solidFill>
                <a:schemeClr val="dk1"/>
              </a:solidFill>
              <a:latin typeface="Calibri"/>
              <a:ea typeface="Calibri"/>
              <a:cs typeface="Calibri"/>
              <a:sym typeface="Calibri"/>
            </a:endParaRPr>
          </a:p>
        </p:txBody>
      </p:sp>
      <p:sp>
        <p:nvSpPr>
          <p:cNvPr id="54" name="Google Shape;54;p4"/>
          <p:cNvSpPr/>
          <p:nvPr/>
        </p:nvSpPr>
        <p:spPr>
          <a:xfrm>
            <a:off x="7296894" y="5414963"/>
            <a:ext cx="2458775"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Employee Experience</a:t>
            </a:r>
            <a:endParaRPr b="0" i="0" sz="2025" u="none" cap="none" strike="noStrike">
              <a:solidFill>
                <a:schemeClr val="dk1"/>
              </a:solidFill>
              <a:latin typeface="Calibri"/>
              <a:ea typeface="Calibri"/>
              <a:cs typeface="Calibri"/>
              <a:sym typeface="Calibri"/>
            </a:endParaRPr>
          </a:p>
        </p:txBody>
      </p:sp>
      <p:sp>
        <p:nvSpPr>
          <p:cNvPr id="55" name="Google Shape;55;p4"/>
          <p:cNvSpPr/>
          <p:nvPr/>
        </p:nvSpPr>
        <p:spPr>
          <a:xfrm>
            <a:off x="11995100" y="5138738"/>
            <a:ext cx="5245150" cy="866775"/>
          </a:xfrm>
          <a:prstGeom prst="roundRect">
            <a:avLst>
              <a:gd fmla="val 15385"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12290375" y="5395913"/>
            <a:ext cx="365968"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250"/>
              <a:buFont typeface="Calibri"/>
              <a:buNone/>
            </a:pPr>
            <a:r>
              <a:rPr b="1" i="0" lang="en-US" sz="2250" u="none" cap="none" strike="noStrike">
                <a:solidFill>
                  <a:srgbClr val="FFD65C"/>
                </a:solidFill>
                <a:latin typeface="Calibri"/>
                <a:ea typeface="Calibri"/>
                <a:cs typeface="Calibri"/>
                <a:sym typeface="Calibri"/>
              </a:rPr>
              <a:t>09</a:t>
            </a:r>
            <a:endParaRPr b="0" i="0" sz="2250" u="none" cap="none" strike="noStrike">
              <a:solidFill>
                <a:schemeClr val="dk1"/>
              </a:solidFill>
              <a:latin typeface="Calibri"/>
              <a:ea typeface="Calibri"/>
              <a:cs typeface="Calibri"/>
              <a:sym typeface="Calibri"/>
            </a:endParaRPr>
          </a:p>
        </p:txBody>
      </p:sp>
      <p:sp>
        <p:nvSpPr>
          <p:cNvPr id="57" name="Google Shape;57;p4"/>
          <p:cNvSpPr/>
          <p:nvPr/>
        </p:nvSpPr>
        <p:spPr>
          <a:xfrm>
            <a:off x="12770644" y="5414963"/>
            <a:ext cx="2304723"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HR Systems Support</a:t>
            </a:r>
            <a:endParaRPr b="0" i="0" sz="2025" u="none" cap="none" strike="noStrike">
              <a:solidFill>
                <a:schemeClr val="dk1"/>
              </a:solidFill>
              <a:latin typeface="Calibri"/>
              <a:ea typeface="Calibri"/>
              <a:cs typeface="Calibri"/>
              <a:sym typeface="Calibri"/>
            </a:endParaRPr>
          </a:p>
        </p:txBody>
      </p:sp>
      <p:sp>
        <p:nvSpPr>
          <p:cNvPr id="58" name="Google Shape;58;p4"/>
          <p:cNvSpPr/>
          <p:nvPr/>
        </p:nvSpPr>
        <p:spPr>
          <a:xfrm>
            <a:off x="1047750" y="6329363"/>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1950"/>
              <a:buFont typeface="Calibri"/>
              <a:buNone/>
            </a:pPr>
            <a:r>
              <a:rPr b="0" i="0" lang="en-US" sz="1950" u="none" cap="none" strike="noStrike">
                <a:solidFill>
                  <a:srgbClr val="9E9E9E"/>
                </a:solidFill>
                <a:latin typeface="Calibri"/>
                <a:ea typeface="Calibri"/>
                <a:cs typeface="Calibri"/>
                <a:sym typeface="Calibri"/>
              </a:rPr>
              <a:t>Plus a ready-to-use </a:t>
            </a:r>
            <a:r>
              <a:rPr b="1" i="0" lang="en-US" sz="1950" u="none" cap="none" strike="noStrike">
                <a:solidFill>
                  <a:srgbClr val="FFD65C"/>
                </a:solidFill>
                <a:latin typeface="Calibri"/>
                <a:ea typeface="Calibri"/>
                <a:cs typeface="Calibri"/>
                <a:sym typeface="Calibri"/>
              </a:rPr>
              <a:t>Prompt Library </a:t>
            </a:r>
            <a:r>
              <a:rPr b="0" i="0" lang="en-US" sz="1950" u="none" cap="none" strike="noStrike">
                <a:solidFill>
                  <a:srgbClr val="9E9E9E"/>
                </a:solidFill>
                <a:latin typeface="Calibri"/>
                <a:ea typeface="Calibri"/>
                <a:cs typeface="Calibri"/>
                <a:sym typeface="Calibri"/>
              </a:rPr>
              <a:t>and a closing note on </a:t>
            </a:r>
            <a:r>
              <a:rPr b="1" i="0" lang="en-US" sz="1950" u="none" cap="none" strike="noStrike">
                <a:solidFill>
                  <a:srgbClr val="FFD65C"/>
                </a:solidFill>
                <a:latin typeface="Calibri"/>
                <a:ea typeface="Calibri"/>
                <a:cs typeface="Calibri"/>
                <a:sym typeface="Calibri"/>
              </a:rPr>
              <a:t>Responsible AI Use</a:t>
            </a:r>
            <a:r>
              <a:rPr b="0" i="0" lang="en-US" sz="1950" u="none" cap="none" strike="noStrike">
                <a:solidFill>
                  <a:srgbClr val="9E9E9E"/>
                </a:solidFill>
                <a:latin typeface="Calibri"/>
                <a:ea typeface="Calibri"/>
                <a:cs typeface="Calibri"/>
                <a:sym typeface="Calibri"/>
              </a:rPr>
              <a:t>.</a:t>
            </a:r>
            <a:endParaRPr b="0" i="0" sz="1950" u="none" cap="none" strike="noStrike">
              <a:solidFill>
                <a:schemeClr val="dk1"/>
              </a:solidFill>
              <a:latin typeface="Calibri"/>
              <a:ea typeface="Calibri"/>
              <a:cs typeface="Calibri"/>
              <a:sym typeface="Calibri"/>
            </a:endParaRPr>
          </a:p>
        </p:txBody>
      </p:sp>
      <p:sp>
        <p:nvSpPr>
          <p:cNvPr id="59" name="Google Shape;59;p4"/>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60" name="Google Shape;60;p4"/>
          <p:cNvSpPr/>
          <p:nvPr/>
        </p:nvSpPr>
        <p:spPr>
          <a:xfrm>
            <a:off x="17114639" y="9582150"/>
            <a:ext cx="20181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2</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65" name="Shape 65"/>
        <p:cNvGrpSpPr/>
        <p:nvPr/>
      </p:nvGrpSpPr>
      <p:grpSpPr>
        <a:xfrm>
          <a:off x="0" y="0"/>
          <a:ext cx="0" cy="0"/>
          <a:chOff x="0" y="0"/>
          <a:chExt cx="0" cy="0"/>
        </a:xfrm>
      </p:grpSpPr>
      <p:sp>
        <p:nvSpPr>
          <p:cNvPr id="66" name="Google Shape;66;p5"/>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01 · AI FOR OPERATIONAL HR</a:t>
            </a:r>
            <a:endParaRPr b="0" i="0" sz="1950" u="none" cap="none" strike="noStrike">
              <a:solidFill>
                <a:schemeClr val="dk1"/>
              </a:solidFill>
              <a:latin typeface="Calibri"/>
              <a:ea typeface="Calibri"/>
              <a:cs typeface="Calibri"/>
              <a:sym typeface="Calibri"/>
            </a:endParaRPr>
          </a:p>
        </p:txBody>
      </p:sp>
      <p:sp>
        <p:nvSpPr>
          <p:cNvPr id="68" name="Google Shape;68;p5"/>
          <p:cNvSpPr/>
          <p:nvPr/>
        </p:nvSpPr>
        <p:spPr>
          <a:xfrm>
            <a:off x="1047750" y="102870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Recruitment Support</a:t>
            </a:r>
            <a:endParaRPr b="0" i="0" sz="4350" u="none" cap="none" strike="noStrike">
              <a:solidFill>
                <a:schemeClr val="dk1"/>
              </a:solidFill>
              <a:latin typeface="Calibri"/>
              <a:ea typeface="Calibri"/>
              <a:cs typeface="Calibri"/>
              <a:sym typeface="Calibri"/>
            </a:endParaRPr>
          </a:p>
        </p:txBody>
      </p:sp>
      <p:sp>
        <p:nvSpPr>
          <p:cNvPr id="69" name="Google Shape;69;p5"/>
          <p:cNvSpPr/>
          <p:nvPr/>
        </p:nvSpPr>
        <p:spPr>
          <a:xfrm>
            <a:off x="1047750" y="1736527"/>
            <a:ext cx="1781175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2175"/>
              <a:buFont typeface="Calibri"/>
              <a:buNone/>
            </a:pPr>
            <a:r>
              <a:rPr b="0" i="0" lang="en-US" sz="2175" u="none" cap="none" strike="noStrike">
                <a:solidFill>
                  <a:srgbClr val="9E9E9E"/>
                </a:solidFill>
                <a:latin typeface="Calibri"/>
                <a:ea typeface="Calibri"/>
                <a:cs typeface="Calibri"/>
                <a:sym typeface="Calibri"/>
              </a:rPr>
              <a:t>AI writes the first draft — HR reviews, tailors and approves it.</a:t>
            </a:r>
            <a:endParaRPr b="0" i="0" sz="2175" u="none" cap="none" strike="noStrike">
              <a:solidFill>
                <a:schemeClr val="dk1"/>
              </a:solidFill>
              <a:latin typeface="Calibri"/>
              <a:ea typeface="Calibri"/>
              <a:cs typeface="Calibri"/>
              <a:sym typeface="Calibri"/>
            </a:endParaRPr>
          </a:p>
        </p:txBody>
      </p:sp>
      <p:sp>
        <p:nvSpPr>
          <p:cNvPr id="70" name="Google Shape;70;p5"/>
          <p:cNvSpPr/>
          <p:nvPr/>
        </p:nvSpPr>
        <p:spPr>
          <a:xfrm>
            <a:off x="1047750" y="2403277"/>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SCENARIO</a:t>
            </a:r>
            <a:endParaRPr b="0" i="0" sz="1800" u="none" cap="none" strike="noStrike">
              <a:solidFill>
                <a:schemeClr val="dk1"/>
              </a:solidFill>
              <a:latin typeface="Calibri"/>
              <a:ea typeface="Calibri"/>
              <a:cs typeface="Calibri"/>
              <a:sym typeface="Calibri"/>
            </a:endParaRPr>
          </a:p>
        </p:txBody>
      </p:sp>
      <p:sp>
        <p:nvSpPr>
          <p:cNvPr id="71" name="Google Shape;71;p5"/>
          <p:cNvSpPr/>
          <p:nvPr/>
        </p:nvSpPr>
        <p:spPr>
          <a:xfrm>
            <a:off x="1047750" y="2793802"/>
            <a:ext cx="10108987" cy="398115"/>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The HR team needs to recruit an HR Assistant.</a:t>
            </a:r>
            <a:endParaRPr b="0" i="0" sz="2025" u="none" cap="none" strike="noStrike">
              <a:solidFill>
                <a:schemeClr val="dk1"/>
              </a:solidFill>
              <a:latin typeface="Calibri"/>
              <a:ea typeface="Calibri"/>
              <a:cs typeface="Calibri"/>
              <a:sym typeface="Calibri"/>
            </a:endParaRPr>
          </a:p>
        </p:txBody>
      </p:sp>
      <p:sp>
        <p:nvSpPr>
          <p:cNvPr id="72" name="Google Shape;72;p5"/>
          <p:cNvSpPr/>
          <p:nvPr/>
        </p:nvSpPr>
        <p:spPr>
          <a:xfrm>
            <a:off x="1047750" y="3401467"/>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PROMPT</a:t>
            </a:r>
            <a:endParaRPr b="0" i="0" sz="1800" u="none" cap="none" strike="noStrike">
              <a:solidFill>
                <a:schemeClr val="dk1"/>
              </a:solidFill>
              <a:latin typeface="Calibri"/>
              <a:ea typeface="Calibri"/>
              <a:cs typeface="Calibri"/>
              <a:sym typeface="Calibri"/>
            </a:endParaRPr>
          </a:p>
        </p:txBody>
      </p:sp>
      <p:sp>
        <p:nvSpPr>
          <p:cNvPr id="73" name="Google Shape;73;p5"/>
          <p:cNvSpPr/>
          <p:nvPr/>
        </p:nvSpPr>
        <p:spPr>
          <a:xfrm>
            <a:off x="1047750" y="3791992"/>
            <a:ext cx="9189988" cy="1128713"/>
          </a:xfrm>
          <a:prstGeom prst="roundRect">
            <a:avLst>
              <a:gd fmla="val 11814"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1304925" y="4011067"/>
            <a:ext cx="8951338" cy="728662"/>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E6E6E6"/>
              </a:buClr>
              <a:buSzPts val="1875"/>
              <a:buFont typeface="Calibri"/>
              <a:buNone/>
            </a:pPr>
            <a:r>
              <a:rPr b="0" i="0" lang="en-US" sz="1875" u="none" cap="none" strike="noStrike">
                <a:solidFill>
                  <a:srgbClr val="E6E6E6"/>
                </a:solidFill>
                <a:latin typeface="Calibri"/>
                <a:ea typeface="Calibri"/>
                <a:cs typeface="Calibri"/>
                <a:sym typeface="Calibri"/>
              </a:rPr>
              <a:t>Draft a professional job advertisement for an HR Assistant in an international company. Include key responsibilities, required qualifications, and a welcoming tone.</a:t>
            </a:r>
            <a:endParaRPr b="0" i="0" sz="1875" u="none" cap="none" strike="noStrike">
              <a:solidFill>
                <a:schemeClr val="dk1"/>
              </a:solidFill>
              <a:latin typeface="Calibri"/>
              <a:ea typeface="Calibri"/>
              <a:cs typeface="Calibri"/>
              <a:sym typeface="Calibri"/>
            </a:endParaRPr>
          </a:p>
        </p:txBody>
      </p:sp>
      <p:sp>
        <p:nvSpPr>
          <p:cNvPr id="75" name="Google Shape;75;p5"/>
          <p:cNvSpPr/>
          <p:nvPr/>
        </p:nvSpPr>
        <p:spPr>
          <a:xfrm>
            <a:off x="1047750" y="5149304"/>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DRAFT</a:t>
            </a:r>
            <a:endParaRPr b="0" i="0" sz="1800" u="none" cap="none" strike="noStrike">
              <a:solidFill>
                <a:schemeClr val="dk1"/>
              </a:solidFill>
              <a:latin typeface="Calibri"/>
              <a:ea typeface="Calibri"/>
              <a:cs typeface="Calibri"/>
              <a:sym typeface="Calibri"/>
            </a:endParaRPr>
          </a:p>
        </p:txBody>
      </p:sp>
      <p:sp>
        <p:nvSpPr>
          <p:cNvPr id="76" name="Google Shape;76;p5"/>
          <p:cNvSpPr/>
          <p:nvPr/>
        </p:nvSpPr>
        <p:spPr>
          <a:xfrm>
            <a:off x="1047750" y="5539829"/>
            <a:ext cx="9189988" cy="2148780"/>
          </a:xfrm>
          <a:prstGeom prst="roundRect">
            <a:avLst>
              <a:gd fmla="val 6206"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1304925" y="5758904"/>
            <a:ext cx="9543202" cy="381000"/>
          </a:xfrm>
          <a:prstGeom prst="rect">
            <a:avLst/>
          </a:prstGeom>
          <a:noFill/>
          <a:ln>
            <a:noFill/>
          </a:ln>
        </p:spPr>
        <p:txBody>
          <a:bodyPr anchorCtr="0" anchor="t" bIns="25400" lIns="25400" spcFirstLastPara="1" rIns="25400" wrap="square" tIns="25400">
            <a:noAutofit/>
          </a:bodyPr>
          <a:lstStyle/>
          <a:p>
            <a:pPr indent="0" lvl="0" marL="0" marR="0" rtl="0" algn="l">
              <a:lnSpc>
                <a:spcPct val="150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We are looking for an organized and service-oriented HR Assistant to join our HR team.</a:t>
            </a:r>
            <a:endParaRPr b="0" i="0" sz="1800" u="none" cap="none" strike="noStrike">
              <a:solidFill>
                <a:schemeClr val="dk1"/>
              </a:solidFill>
              <a:latin typeface="Calibri"/>
              <a:ea typeface="Calibri"/>
              <a:cs typeface="Calibri"/>
              <a:sym typeface="Calibri"/>
            </a:endParaRPr>
          </a:p>
        </p:txBody>
      </p:sp>
      <p:sp>
        <p:nvSpPr>
          <p:cNvPr id="78" name="Google Shape;78;p5"/>
          <p:cNvSpPr/>
          <p:nvPr/>
        </p:nvSpPr>
        <p:spPr>
          <a:xfrm>
            <a:off x="1304925" y="6178004"/>
            <a:ext cx="8935907" cy="723900"/>
          </a:xfrm>
          <a:prstGeom prst="rect">
            <a:avLst/>
          </a:prstGeom>
          <a:noFill/>
          <a:ln>
            <a:noFill/>
          </a:ln>
        </p:spPr>
        <p:txBody>
          <a:bodyPr anchorCtr="0" anchor="t" bIns="25400" lIns="25400" spcFirstLastPara="1" rIns="25400" wrap="square" tIns="25400">
            <a:noAutofit/>
          </a:bodyPr>
          <a:lstStyle/>
          <a:p>
            <a:pPr indent="0" lvl="0" marL="0" marR="0" rtl="0" algn="l">
              <a:lnSpc>
                <a:spcPct val="150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In this role, you will support daily HR operations, maintain employee records, coordinate onboarding activities, and assist employees with HR-related inquiries…</a:t>
            </a:r>
            <a:endParaRPr b="0" i="0" sz="1800" u="none" cap="none" strike="noStrike">
              <a:solidFill>
                <a:schemeClr val="dk1"/>
              </a:solidFill>
              <a:latin typeface="Calibri"/>
              <a:ea typeface="Calibri"/>
              <a:cs typeface="Calibri"/>
              <a:sym typeface="Calibri"/>
            </a:endParaRPr>
          </a:p>
        </p:txBody>
      </p:sp>
      <p:sp>
        <p:nvSpPr>
          <p:cNvPr id="79" name="Google Shape;79;p5"/>
          <p:cNvSpPr/>
          <p:nvPr/>
        </p:nvSpPr>
        <p:spPr>
          <a:xfrm>
            <a:off x="1304925" y="7016204"/>
            <a:ext cx="8675638" cy="9525"/>
          </a:xfrm>
          <a:prstGeom prst="rect">
            <a:avLst/>
          </a:prstGeom>
          <a:solidFill>
            <a:srgbClr val="FFD65C">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1304925" y="7149554"/>
            <a:ext cx="8935907" cy="35808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HR review: </a:t>
            </a:r>
            <a:r>
              <a:rPr b="0" i="0" lang="en-US" sz="1800" u="none" cap="none" strike="noStrike">
                <a:solidFill>
                  <a:srgbClr val="9E9E9E"/>
                </a:solidFill>
                <a:latin typeface="Calibri"/>
                <a:ea typeface="Calibri"/>
                <a:cs typeface="Calibri"/>
                <a:sym typeface="Calibri"/>
              </a:rPr>
              <a:t>tailors and approves the final advertisement before posting.</a:t>
            </a:r>
            <a:endParaRPr b="0" i="0" sz="1800" u="none" cap="none" strike="noStrike">
              <a:solidFill>
                <a:schemeClr val="dk1"/>
              </a:solidFill>
              <a:latin typeface="Calibri"/>
              <a:ea typeface="Calibri"/>
              <a:cs typeface="Calibri"/>
              <a:sym typeface="Calibri"/>
            </a:endParaRPr>
          </a:p>
        </p:txBody>
      </p:sp>
      <p:sp>
        <p:nvSpPr>
          <p:cNvPr id="81" name="Google Shape;81;p5"/>
          <p:cNvSpPr/>
          <p:nvPr/>
        </p:nvSpPr>
        <p:spPr>
          <a:xfrm>
            <a:off x="10675888" y="2403277"/>
            <a:ext cx="722063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OTHER SCENARIOS</a:t>
            </a:r>
            <a:endParaRPr b="0" i="0" sz="1800" u="none" cap="none" strike="noStrike">
              <a:solidFill>
                <a:schemeClr val="dk1"/>
              </a:solidFill>
              <a:latin typeface="Calibri"/>
              <a:ea typeface="Calibri"/>
              <a:cs typeface="Calibri"/>
              <a:sym typeface="Calibri"/>
            </a:endParaRPr>
          </a:p>
        </p:txBody>
      </p:sp>
      <p:sp>
        <p:nvSpPr>
          <p:cNvPr id="82" name="Google Shape;82;p5"/>
          <p:cNvSpPr/>
          <p:nvPr/>
        </p:nvSpPr>
        <p:spPr>
          <a:xfrm>
            <a:off x="10675888" y="2793802"/>
            <a:ext cx="6564213" cy="6096000"/>
          </a:xfrm>
          <a:prstGeom prst="roundRect">
            <a:avLst>
              <a:gd fmla="val 2188"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10952113" y="30795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84" name="Google Shape;84;p5"/>
          <p:cNvSpPr/>
          <p:nvPr/>
        </p:nvSpPr>
        <p:spPr>
          <a:xfrm>
            <a:off x="11223427" y="3089077"/>
            <a:ext cx="2836292"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Drafting job advertisements</a:t>
            </a:r>
            <a:endParaRPr b="0" i="0" sz="1800" u="none" cap="none" strike="noStrike">
              <a:solidFill>
                <a:schemeClr val="dk1"/>
              </a:solidFill>
              <a:latin typeface="Calibri"/>
              <a:ea typeface="Calibri"/>
              <a:cs typeface="Calibri"/>
              <a:sym typeface="Calibri"/>
            </a:endParaRPr>
          </a:p>
        </p:txBody>
      </p:sp>
      <p:sp>
        <p:nvSpPr>
          <p:cNvPr id="85" name="Google Shape;85;p5"/>
          <p:cNvSpPr/>
          <p:nvPr/>
        </p:nvSpPr>
        <p:spPr>
          <a:xfrm>
            <a:off x="10952113" y="34700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86" name="Google Shape;86;p5"/>
          <p:cNvSpPr/>
          <p:nvPr/>
        </p:nvSpPr>
        <p:spPr>
          <a:xfrm>
            <a:off x="11223427" y="3479602"/>
            <a:ext cx="281320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Writing interview questions</a:t>
            </a:r>
            <a:endParaRPr b="0" i="0" sz="1800" u="none" cap="none" strike="noStrike">
              <a:solidFill>
                <a:schemeClr val="dk1"/>
              </a:solidFill>
              <a:latin typeface="Calibri"/>
              <a:ea typeface="Calibri"/>
              <a:cs typeface="Calibri"/>
              <a:sym typeface="Calibri"/>
            </a:endParaRPr>
          </a:p>
        </p:txBody>
      </p:sp>
      <p:sp>
        <p:nvSpPr>
          <p:cNvPr id="87" name="Google Shape;87;p5"/>
          <p:cNvSpPr/>
          <p:nvPr/>
        </p:nvSpPr>
        <p:spPr>
          <a:xfrm>
            <a:off x="10952113" y="38606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88" name="Google Shape;88;p5"/>
          <p:cNvSpPr/>
          <p:nvPr/>
        </p:nvSpPr>
        <p:spPr>
          <a:xfrm>
            <a:off x="11223427" y="3870127"/>
            <a:ext cx="427432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Creating candidate communication emails</a:t>
            </a:r>
            <a:endParaRPr b="0" i="0" sz="1800" u="none" cap="none" strike="noStrike">
              <a:solidFill>
                <a:schemeClr val="dk1"/>
              </a:solidFill>
              <a:latin typeface="Calibri"/>
              <a:ea typeface="Calibri"/>
              <a:cs typeface="Calibri"/>
              <a:sym typeface="Calibri"/>
            </a:endParaRPr>
          </a:p>
        </p:txBody>
      </p:sp>
      <p:sp>
        <p:nvSpPr>
          <p:cNvPr id="89" name="Google Shape;89;p5"/>
          <p:cNvSpPr/>
          <p:nvPr/>
        </p:nvSpPr>
        <p:spPr>
          <a:xfrm>
            <a:off x="10952113" y="42511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90" name="Google Shape;90;p5"/>
          <p:cNvSpPr/>
          <p:nvPr/>
        </p:nvSpPr>
        <p:spPr>
          <a:xfrm>
            <a:off x="11223427" y="4260652"/>
            <a:ext cx="2965296"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Summarizing interview notes</a:t>
            </a:r>
            <a:endParaRPr b="0" i="0" sz="1800" u="none" cap="none" strike="noStrike">
              <a:solidFill>
                <a:schemeClr val="dk1"/>
              </a:solidFill>
              <a:latin typeface="Calibri"/>
              <a:ea typeface="Calibri"/>
              <a:cs typeface="Calibri"/>
              <a:sym typeface="Calibri"/>
            </a:endParaRPr>
          </a:p>
        </p:txBody>
      </p:sp>
      <p:sp>
        <p:nvSpPr>
          <p:cNvPr id="91" name="Google Shape;91;p5"/>
          <p:cNvSpPr/>
          <p:nvPr/>
        </p:nvSpPr>
        <p:spPr>
          <a:xfrm>
            <a:off x="10952113" y="46416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92" name="Google Shape;92;p5"/>
          <p:cNvSpPr/>
          <p:nvPr/>
        </p:nvSpPr>
        <p:spPr>
          <a:xfrm>
            <a:off x="11223427" y="4651177"/>
            <a:ext cx="313359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Building recruitment checklists</a:t>
            </a:r>
            <a:endParaRPr b="0" i="0" sz="1800" u="none" cap="none" strike="noStrike">
              <a:solidFill>
                <a:schemeClr val="dk1"/>
              </a:solidFill>
              <a:latin typeface="Calibri"/>
              <a:ea typeface="Calibri"/>
              <a:cs typeface="Calibri"/>
              <a:sym typeface="Calibri"/>
            </a:endParaRPr>
          </a:p>
        </p:txBody>
      </p:sp>
      <p:sp>
        <p:nvSpPr>
          <p:cNvPr id="93" name="Google Shape;93;p5"/>
          <p:cNvSpPr/>
          <p:nvPr/>
        </p:nvSpPr>
        <p:spPr>
          <a:xfrm>
            <a:off x="10952113" y="50321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94" name="Google Shape;94;p5"/>
          <p:cNvSpPr/>
          <p:nvPr/>
        </p:nvSpPr>
        <p:spPr>
          <a:xfrm>
            <a:off x="11223427" y="5041702"/>
            <a:ext cx="3221668"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Screening and summarizing CVs</a:t>
            </a:r>
            <a:endParaRPr b="0" i="0" sz="1800" u="none" cap="none" strike="noStrike">
              <a:solidFill>
                <a:schemeClr val="dk1"/>
              </a:solidFill>
              <a:latin typeface="Calibri"/>
              <a:ea typeface="Calibri"/>
              <a:cs typeface="Calibri"/>
              <a:sym typeface="Calibri"/>
            </a:endParaRPr>
          </a:p>
        </p:txBody>
      </p:sp>
      <p:sp>
        <p:nvSpPr>
          <p:cNvPr id="95" name="Google Shape;95;p5"/>
          <p:cNvSpPr/>
          <p:nvPr/>
        </p:nvSpPr>
        <p:spPr>
          <a:xfrm>
            <a:off x="10952113" y="54227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96" name="Google Shape;96;p5"/>
          <p:cNvSpPr/>
          <p:nvPr/>
        </p:nvSpPr>
        <p:spPr>
          <a:xfrm>
            <a:off x="11223427" y="5432227"/>
            <a:ext cx="306794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Preparing interview schedules</a:t>
            </a:r>
            <a:endParaRPr b="0" i="0" sz="1800" u="none" cap="none" strike="noStrike">
              <a:solidFill>
                <a:schemeClr val="dk1"/>
              </a:solidFill>
              <a:latin typeface="Calibri"/>
              <a:ea typeface="Calibri"/>
              <a:cs typeface="Calibri"/>
              <a:sym typeface="Calibri"/>
            </a:endParaRPr>
          </a:p>
        </p:txBody>
      </p:sp>
      <p:sp>
        <p:nvSpPr>
          <p:cNvPr id="97" name="Google Shape;97;p5"/>
          <p:cNvSpPr/>
          <p:nvPr/>
        </p:nvSpPr>
        <p:spPr>
          <a:xfrm>
            <a:off x="10952113" y="58132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98" name="Google Shape;98;p5"/>
          <p:cNvSpPr/>
          <p:nvPr/>
        </p:nvSpPr>
        <p:spPr>
          <a:xfrm>
            <a:off x="11223427" y="5822752"/>
            <a:ext cx="2862486"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Drafting candidate feedback</a:t>
            </a:r>
            <a:endParaRPr b="0" i="0" sz="1800" u="none" cap="none" strike="noStrike">
              <a:solidFill>
                <a:schemeClr val="dk1"/>
              </a:solidFill>
              <a:latin typeface="Calibri"/>
              <a:ea typeface="Calibri"/>
              <a:cs typeface="Calibri"/>
              <a:sym typeface="Calibri"/>
            </a:endParaRPr>
          </a:p>
        </p:txBody>
      </p:sp>
      <p:sp>
        <p:nvSpPr>
          <p:cNvPr id="99" name="Google Shape;99;p5"/>
          <p:cNvSpPr/>
          <p:nvPr/>
        </p:nvSpPr>
        <p:spPr>
          <a:xfrm>
            <a:off x="10952113" y="62037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00" name="Google Shape;100;p5"/>
          <p:cNvSpPr/>
          <p:nvPr/>
        </p:nvSpPr>
        <p:spPr>
          <a:xfrm>
            <a:off x="11223427" y="6213277"/>
            <a:ext cx="435683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Generating onboarding plans for new hires</a:t>
            </a:r>
            <a:endParaRPr b="0" i="0" sz="1800" u="none" cap="none" strike="noStrike">
              <a:solidFill>
                <a:schemeClr val="dk1"/>
              </a:solidFill>
              <a:latin typeface="Calibri"/>
              <a:ea typeface="Calibri"/>
              <a:cs typeface="Calibri"/>
              <a:sym typeface="Calibri"/>
            </a:endParaRPr>
          </a:p>
        </p:txBody>
      </p:sp>
      <p:sp>
        <p:nvSpPr>
          <p:cNvPr id="101" name="Google Shape;101;p5"/>
          <p:cNvSpPr/>
          <p:nvPr/>
        </p:nvSpPr>
        <p:spPr>
          <a:xfrm>
            <a:off x="10952113" y="65942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02" name="Google Shape;102;p5"/>
          <p:cNvSpPr/>
          <p:nvPr/>
        </p:nvSpPr>
        <p:spPr>
          <a:xfrm>
            <a:off x="11223427" y="6603802"/>
            <a:ext cx="298019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Writing offer letter templates</a:t>
            </a:r>
            <a:endParaRPr b="0" i="0" sz="1800" u="none" cap="none" strike="noStrike">
              <a:solidFill>
                <a:schemeClr val="dk1"/>
              </a:solidFill>
              <a:latin typeface="Calibri"/>
              <a:ea typeface="Calibri"/>
              <a:cs typeface="Calibri"/>
              <a:sym typeface="Calibri"/>
            </a:endParaRPr>
          </a:p>
        </p:txBody>
      </p:sp>
      <p:sp>
        <p:nvSpPr>
          <p:cNvPr id="103" name="Google Shape;103;p5"/>
          <p:cNvSpPr/>
          <p:nvPr/>
        </p:nvSpPr>
        <p:spPr>
          <a:xfrm>
            <a:off x="10952113" y="69848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04" name="Google Shape;104;p5"/>
          <p:cNvSpPr/>
          <p:nvPr/>
        </p:nvSpPr>
        <p:spPr>
          <a:xfrm>
            <a:off x="11223427" y="6994327"/>
            <a:ext cx="419116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Creating hiring manager interview guides</a:t>
            </a:r>
            <a:endParaRPr b="0" i="0" sz="1800" u="none" cap="none" strike="noStrike">
              <a:solidFill>
                <a:schemeClr val="dk1"/>
              </a:solidFill>
              <a:latin typeface="Calibri"/>
              <a:ea typeface="Calibri"/>
              <a:cs typeface="Calibri"/>
              <a:sym typeface="Calibri"/>
            </a:endParaRPr>
          </a:p>
        </p:txBody>
      </p:sp>
      <p:sp>
        <p:nvSpPr>
          <p:cNvPr id="105" name="Google Shape;105;p5"/>
          <p:cNvSpPr/>
          <p:nvPr/>
        </p:nvSpPr>
        <p:spPr>
          <a:xfrm>
            <a:off x="10952113" y="73753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06" name="Google Shape;106;p5"/>
          <p:cNvSpPr/>
          <p:nvPr/>
        </p:nvSpPr>
        <p:spPr>
          <a:xfrm>
            <a:off x="11223427" y="7384852"/>
            <a:ext cx="248120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Creating candidate FAQs</a:t>
            </a:r>
            <a:endParaRPr b="0" i="0" sz="1800" u="none" cap="none" strike="noStrike">
              <a:solidFill>
                <a:schemeClr val="dk1"/>
              </a:solidFill>
              <a:latin typeface="Calibri"/>
              <a:ea typeface="Calibri"/>
              <a:cs typeface="Calibri"/>
              <a:sym typeface="Calibri"/>
            </a:endParaRPr>
          </a:p>
        </p:txBody>
      </p:sp>
      <p:sp>
        <p:nvSpPr>
          <p:cNvPr id="107" name="Google Shape;107;p5"/>
          <p:cNvSpPr/>
          <p:nvPr/>
        </p:nvSpPr>
        <p:spPr>
          <a:xfrm>
            <a:off x="10952113" y="77658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08" name="Google Shape;108;p5"/>
          <p:cNvSpPr/>
          <p:nvPr/>
        </p:nvSpPr>
        <p:spPr>
          <a:xfrm>
            <a:off x="11223427" y="7775377"/>
            <a:ext cx="3738667"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Preparing interview invitation emails</a:t>
            </a:r>
            <a:endParaRPr b="0" i="0" sz="1800" u="none" cap="none" strike="noStrike">
              <a:solidFill>
                <a:schemeClr val="dk1"/>
              </a:solidFill>
              <a:latin typeface="Calibri"/>
              <a:ea typeface="Calibri"/>
              <a:cs typeface="Calibri"/>
              <a:sym typeface="Calibri"/>
            </a:endParaRPr>
          </a:p>
        </p:txBody>
      </p:sp>
      <p:sp>
        <p:nvSpPr>
          <p:cNvPr id="109" name="Google Shape;109;p5"/>
          <p:cNvSpPr/>
          <p:nvPr/>
        </p:nvSpPr>
        <p:spPr>
          <a:xfrm>
            <a:off x="10952113" y="81563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10" name="Google Shape;110;p5"/>
          <p:cNvSpPr/>
          <p:nvPr/>
        </p:nvSpPr>
        <p:spPr>
          <a:xfrm>
            <a:off x="11223427" y="8165902"/>
            <a:ext cx="401648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Drafting social media recruitment posts</a:t>
            </a:r>
            <a:endParaRPr b="0" i="0" sz="1800" u="none" cap="none" strike="noStrike">
              <a:solidFill>
                <a:schemeClr val="dk1"/>
              </a:solidFill>
              <a:latin typeface="Calibri"/>
              <a:ea typeface="Calibri"/>
              <a:cs typeface="Calibri"/>
              <a:sym typeface="Calibri"/>
            </a:endParaRPr>
          </a:p>
        </p:txBody>
      </p:sp>
      <p:sp>
        <p:nvSpPr>
          <p:cNvPr id="111" name="Google Shape;111;p5"/>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112" name="Google Shape;112;p5"/>
          <p:cNvSpPr/>
          <p:nvPr/>
        </p:nvSpPr>
        <p:spPr>
          <a:xfrm>
            <a:off x="17114639" y="9582150"/>
            <a:ext cx="20181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3</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17" name="Shape 117"/>
        <p:cNvGrpSpPr/>
        <p:nvPr/>
      </p:nvGrpSpPr>
      <p:grpSpPr>
        <a:xfrm>
          <a:off x="0" y="0"/>
          <a:ext cx="0" cy="0"/>
          <a:chOff x="0" y="0"/>
          <a:chExt cx="0" cy="0"/>
        </a:xfrm>
      </p:grpSpPr>
      <p:sp>
        <p:nvSpPr>
          <p:cNvPr id="118" name="Google Shape;118;p6"/>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02 · AI FOR OPERATIONAL HR</a:t>
            </a:r>
            <a:endParaRPr b="0" i="0" sz="1950" u="none" cap="none" strike="noStrike">
              <a:solidFill>
                <a:schemeClr val="dk1"/>
              </a:solidFill>
              <a:latin typeface="Calibri"/>
              <a:ea typeface="Calibri"/>
              <a:cs typeface="Calibri"/>
              <a:sym typeface="Calibri"/>
            </a:endParaRPr>
          </a:p>
        </p:txBody>
      </p:sp>
      <p:sp>
        <p:nvSpPr>
          <p:cNvPr id="120" name="Google Shape;120;p6"/>
          <p:cNvSpPr/>
          <p:nvPr/>
        </p:nvSpPr>
        <p:spPr>
          <a:xfrm>
            <a:off x="1047750" y="102870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Onboarding</a:t>
            </a:r>
            <a:endParaRPr b="0" i="0" sz="4350" u="none" cap="none" strike="noStrike">
              <a:solidFill>
                <a:schemeClr val="dk1"/>
              </a:solidFill>
              <a:latin typeface="Calibri"/>
              <a:ea typeface="Calibri"/>
              <a:cs typeface="Calibri"/>
              <a:sym typeface="Calibri"/>
            </a:endParaRPr>
          </a:p>
        </p:txBody>
      </p:sp>
      <p:sp>
        <p:nvSpPr>
          <p:cNvPr id="121" name="Google Shape;121;p6"/>
          <p:cNvSpPr/>
          <p:nvPr/>
        </p:nvSpPr>
        <p:spPr>
          <a:xfrm>
            <a:off x="1047750" y="1736527"/>
            <a:ext cx="1781175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2175"/>
              <a:buFont typeface="Calibri"/>
              <a:buNone/>
            </a:pPr>
            <a:r>
              <a:rPr b="0" i="0" lang="en-US" sz="2175" u="none" cap="none" strike="noStrike">
                <a:solidFill>
                  <a:srgbClr val="9E9E9E"/>
                </a:solidFill>
                <a:latin typeface="Calibri"/>
                <a:ea typeface="Calibri"/>
                <a:cs typeface="Calibri"/>
                <a:sym typeface="Calibri"/>
              </a:rPr>
              <a:t>Give every new hire a consistent, welcoming start.</a:t>
            </a:r>
            <a:endParaRPr b="0" i="0" sz="2175" u="none" cap="none" strike="noStrike">
              <a:solidFill>
                <a:schemeClr val="dk1"/>
              </a:solidFill>
              <a:latin typeface="Calibri"/>
              <a:ea typeface="Calibri"/>
              <a:cs typeface="Calibri"/>
              <a:sym typeface="Calibri"/>
            </a:endParaRPr>
          </a:p>
        </p:txBody>
      </p:sp>
      <p:sp>
        <p:nvSpPr>
          <p:cNvPr id="122" name="Google Shape;122;p6"/>
          <p:cNvSpPr/>
          <p:nvPr/>
        </p:nvSpPr>
        <p:spPr>
          <a:xfrm>
            <a:off x="1047750" y="2403277"/>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SCENARIO</a:t>
            </a:r>
            <a:endParaRPr b="0" i="0" sz="1800" u="none" cap="none" strike="noStrike">
              <a:solidFill>
                <a:schemeClr val="dk1"/>
              </a:solidFill>
              <a:latin typeface="Calibri"/>
              <a:ea typeface="Calibri"/>
              <a:cs typeface="Calibri"/>
              <a:sym typeface="Calibri"/>
            </a:endParaRPr>
          </a:p>
        </p:txBody>
      </p:sp>
      <p:sp>
        <p:nvSpPr>
          <p:cNvPr id="123" name="Google Shape;123;p6"/>
          <p:cNvSpPr/>
          <p:nvPr/>
        </p:nvSpPr>
        <p:spPr>
          <a:xfrm>
            <a:off x="1047750" y="2793802"/>
            <a:ext cx="9465688" cy="75813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A new HR Specialist is joining next Monday. The manager would like a structured onboarding plan for the employee's first week.</a:t>
            </a:r>
            <a:endParaRPr b="0" i="0" sz="2025" u="none" cap="none" strike="noStrike">
              <a:solidFill>
                <a:schemeClr val="dk1"/>
              </a:solidFill>
              <a:latin typeface="Calibri"/>
              <a:ea typeface="Calibri"/>
              <a:cs typeface="Calibri"/>
              <a:sym typeface="Calibri"/>
            </a:endParaRPr>
          </a:p>
        </p:txBody>
      </p:sp>
      <p:sp>
        <p:nvSpPr>
          <p:cNvPr id="124" name="Google Shape;124;p6"/>
          <p:cNvSpPr/>
          <p:nvPr/>
        </p:nvSpPr>
        <p:spPr>
          <a:xfrm>
            <a:off x="1047750" y="3761482"/>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PROMPT</a:t>
            </a:r>
            <a:endParaRPr b="0" i="0" sz="1800" u="none" cap="none" strike="noStrike">
              <a:solidFill>
                <a:schemeClr val="dk1"/>
              </a:solidFill>
              <a:latin typeface="Calibri"/>
              <a:ea typeface="Calibri"/>
              <a:cs typeface="Calibri"/>
              <a:sym typeface="Calibri"/>
            </a:endParaRPr>
          </a:p>
        </p:txBody>
      </p:sp>
      <p:sp>
        <p:nvSpPr>
          <p:cNvPr id="125" name="Google Shape;125;p6"/>
          <p:cNvSpPr/>
          <p:nvPr/>
        </p:nvSpPr>
        <p:spPr>
          <a:xfrm>
            <a:off x="1047750" y="4152007"/>
            <a:ext cx="9189988" cy="1473994"/>
          </a:xfrm>
          <a:prstGeom prst="roundRect">
            <a:avLst>
              <a:gd fmla="val 9047"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1304925" y="4371082"/>
            <a:ext cx="8951338" cy="1073944"/>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E6E6E6"/>
              </a:buClr>
              <a:buSzPts val="1875"/>
              <a:buFont typeface="Calibri"/>
              <a:buNone/>
            </a:pPr>
            <a:r>
              <a:rPr b="0" i="0" lang="en-US" sz="1875" u="none" cap="none" strike="noStrike">
                <a:solidFill>
                  <a:srgbClr val="E6E6E6"/>
                </a:solidFill>
                <a:latin typeface="Calibri"/>
                <a:ea typeface="Calibri"/>
                <a:cs typeface="Calibri"/>
                <a:sym typeface="Calibri"/>
              </a:rPr>
              <a:t>Create a first-week onboarding schedule that includes key HR activities, manager meetings, team introductions, mandatory training and time for system access and role familiarization.</a:t>
            </a:r>
            <a:endParaRPr b="0" i="0" sz="1875" u="none" cap="none" strike="noStrike">
              <a:solidFill>
                <a:schemeClr val="dk1"/>
              </a:solidFill>
              <a:latin typeface="Calibri"/>
              <a:ea typeface="Calibri"/>
              <a:cs typeface="Calibri"/>
              <a:sym typeface="Calibri"/>
            </a:endParaRPr>
          </a:p>
        </p:txBody>
      </p:sp>
      <p:sp>
        <p:nvSpPr>
          <p:cNvPr id="127" name="Google Shape;127;p6"/>
          <p:cNvSpPr/>
          <p:nvPr/>
        </p:nvSpPr>
        <p:spPr>
          <a:xfrm>
            <a:off x="1047750" y="5854601"/>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DRAFT</a:t>
            </a:r>
            <a:endParaRPr b="0" i="0" sz="1800" u="none" cap="none" strike="noStrike">
              <a:solidFill>
                <a:schemeClr val="dk1"/>
              </a:solidFill>
              <a:latin typeface="Calibri"/>
              <a:ea typeface="Calibri"/>
              <a:cs typeface="Calibri"/>
              <a:sym typeface="Calibri"/>
            </a:endParaRPr>
          </a:p>
        </p:txBody>
      </p:sp>
      <p:sp>
        <p:nvSpPr>
          <p:cNvPr id="128" name="Google Shape;128;p6"/>
          <p:cNvSpPr/>
          <p:nvPr/>
        </p:nvSpPr>
        <p:spPr>
          <a:xfrm>
            <a:off x="1047750" y="6245126"/>
            <a:ext cx="9189988" cy="3247876"/>
          </a:xfrm>
          <a:prstGeom prst="roundRect">
            <a:avLst>
              <a:gd fmla="val 4106"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1304925" y="6464201"/>
            <a:ext cx="9543202"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75"/>
              <a:buFont typeface="Calibri"/>
              <a:buNone/>
            </a:pPr>
            <a:r>
              <a:rPr b="1" i="0" lang="en-US" sz="1875" u="none" cap="none" strike="noStrike">
                <a:solidFill>
                  <a:srgbClr val="FFD65C"/>
                </a:solidFill>
                <a:latin typeface="Calibri"/>
                <a:ea typeface="Calibri"/>
                <a:cs typeface="Calibri"/>
                <a:sym typeface="Calibri"/>
              </a:rPr>
              <a:t>First-Week Onboarding Schedule</a:t>
            </a:r>
            <a:endParaRPr b="0" i="0" sz="1875" u="none" cap="none" strike="noStrike">
              <a:solidFill>
                <a:schemeClr val="dk1"/>
              </a:solidFill>
              <a:latin typeface="Calibri"/>
              <a:ea typeface="Calibri"/>
              <a:cs typeface="Calibri"/>
              <a:sym typeface="Calibri"/>
            </a:endParaRPr>
          </a:p>
        </p:txBody>
      </p:sp>
      <p:sp>
        <p:nvSpPr>
          <p:cNvPr id="130" name="Google Shape;130;p6"/>
          <p:cNvSpPr/>
          <p:nvPr/>
        </p:nvSpPr>
        <p:spPr>
          <a:xfrm>
            <a:off x="1304925" y="6854726"/>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Day 1 </a:t>
            </a:r>
            <a:r>
              <a:rPr b="0" i="0" lang="en-US" sz="1800" u="none" cap="none" strike="noStrike">
                <a:solidFill>
                  <a:srgbClr val="E6E6E6"/>
                </a:solidFill>
                <a:latin typeface="Calibri"/>
                <a:ea typeface="Calibri"/>
                <a:cs typeface="Calibri"/>
                <a:sym typeface="Calibri"/>
              </a:rPr>
              <a:t>Welcome and workspace setup, HR orientation, IT access, team introduction lunch.</a:t>
            </a:r>
            <a:endParaRPr b="0" i="0" sz="1800" u="none" cap="none" strike="noStrike">
              <a:solidFill>
                <a:schemeClr val="dk1"/>
              </a:solidFill>
              <a:latin typeface="Calibri"/>
              <a:ea typeface="Calibri"/>
              <a:cs typeface="Calibri"/>
              <a:sym typeface="Calibri"/>
            </a:endParaRPr>
          </a:p>
        </p:txBody>
      </p:sp>
      <p:sp>
        <p:nvSpPr>
          <p:cNvPr id="131" name="Google Shape;131;p6"/>
          <p:cNvSpPr/>
          <p:nvPr/>
        </p:nvSpPr>
        <p:spPr>
          <a:xfrm>
            <a:off x="1304925" y="7226945"/>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Day 2 </a:t>
            </a:r>
            <a:r>
              <a:rPr b="0" i="0" lang="en-US" sz="1800" u="none" cap="none" strike="noStrike">
                <a:solidFill>
                  <a:srgbClr val="E6E6E6"/>
                </a:solidFill>
                <a:latin typeface="Calibri"/>
                <a:ea typeface="Calibri"/>
                <a:cs typeface="Calibri"/>
                <a:sym typeface="Calibri"/>
              </a:rPr>
              <a:t>Role overview with the manager; review goals, expectations and key stakeholders.</a:t>
            </a:r>
            <a:endParaRPr b="0" i="0" sz="1800" u="none" cap="none" strike="noStrike">
              <a:solidFill>
                <a:schemeClr val="dk1"/>
              </a:solidFill>
              <a:latin typeface="Calibri"/>
              <a:ea typeface="Calibri"/>
              <a:cs typeface="Calibri"/>
              <a:sym typeface="Calibri"/>
            </a:endParaRPr>
          </a:p>
        </p:txBody>
      </p:sp>
      <p:sp>
        <p:nvSpPr>
          <p:cNvPr id="132" name="Google Shape;132;p6"/>
          <p:cNvSpPr/>
          <p:nvPr/>
        </p:nvSpPr>
        <p:spPr>
          <a:xfrm>
            <a:off x="1304925" y="7599164"/>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Day 3 </a:t>
            </a:r>
            <a:r>
              <a:rPr b="0" i="0" lang="en-US" sz="1800" u="none" cap="none" strike="noStrike">
                <a:solidFill>
                  <a:srgbClr val="E6E6E6"/>
                </a:solidFill>
                <a:latin typeface="Calibri"/>
                <a:ea typeface="Calibri"/>
                <a:cs typeface="Calibri"/>
                <a:sym typeface="Calibri"/>
              </a:rPr>
              <a:t>Mandatory compliance and data-protection training; HR systems walkthrough.</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1304925" y="7971383"/>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Day 4 </a:t>
            </a:r>
            <a:r>
              <a:rPr b="0" i="0" lang="en-US" sz="1800" u="none" cap="none" strike="noStrike">
                <a:solidFill>
                  <a:srgbClr val="E6E6E6"/>
                </a:solidFill>
                <a:latin typeface="Calibri"/>
                <a:ea typeface="Calibri"/>
                <a:cs typeface="Calibri"/>
                <a:sym typeface="Calibri"/>
              </a:rPr>
              <a:t>Shadow a colleague, review current projects and department processes.</a:t>
            </a:r>
            <a:endParaRPr b="0" i="0" sz="1800" u="none" cap="none" strike="noStrike">
              <a:solidFill>
                <a:schemeClr val="dk1"/>
              </a:solidFill>
              <a:latin typeface="Calibri"/>
              <a:ea typeface="Calibri"/>
              <a:cs typeface="Calibri"/>
              <a:sym typeface="Calibri"/>
            </a:endParaRPr>
          </a:p>
        </p:txBody>
      </p:sp>
      <p:sp>
        <p:nvSpPr>
          <p:cNvPr id="134" name="Google Shape;134;p6"/>
          <p:cNvSpPr/>
          <p:nvPr/>
        </p:nvSpPr>
        <p:spPr>
          <a:xfrm>
            <a:off x="1304925" y="8343602"/>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Day 5 </a:t>
            </a:r>
            <a:r>
              <a:rPr b="0" i="0" lang="en-US" sz="1800" u="none" cap="none" strike="noStrike">
                <a:solidFill>
                  <a:srgbClr val="E6E6E6"/>
                </a:solidFill>
                <a:latin typeface="Calibri"/>
                <a:ea typeface="Calibri"/>
                <a:cs typeface="Calibri"/>
                <a:sym typeface="Calibri"/>
              </a:rPr>
              <a:t>Manager check-in, open questions and a plan for week two.</a:t>
            </a:r>
            <a:endParaRPr b="0" i="0" sz="1800" u="none" cap="none" strike="noStrike">
              <a:solidFill>
                <a:schemeClr val="dk1"/>
              </a:solidFill>
              <a:latin typeface="Calibri"/>
              <a:ea typeface="Calibri"/>
              <a:cs typeface="Calibri"/>
              <a:sym typeface="Calibri"/>
            </a:endParaRPr>
          </a:p>
        </p:txBody>
      </p:sp>
      <p:sp>
        <p:nvSpPr>
          <p:cNvPr id="135" name="Google Shape;135;p6"/>
          <p:cNvSpPr/>
          <p:nvPr/>
        </p:nvSpPr>
        <p:spPr>
          <a:xfrm>
            <a:off x="1304925" y="8820596"/>
            <a:ext cx="8675638" cy="9525"/>
          </a:xfrm>
          <a:prstGeom prst="rect">
            <a:avLst/>
          </a:prstGeom>
          <a:solidFill>
            <a:srgbClr val="FFD65C">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1304925" y="8953946"/>
            <a:ext cx="8935907" cy="35808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HR review: </a:t>
            </a:r>
            <a:r>
              <a:rPr b="0" i="0" lang="en-US" sz="1800" u="none" cap="none" strike="noStrike">
                <a:solidFill>
                  <a:srgbClr val="9E9E9E"/>
                </a:solidFill>
                <a:latin typeface="Calibri"/>
                <a:ea typeface="Calibri"/>
                <a:cs typeface="Calibri"/>
                <a:sym typeface="Calibri"/>
              </a:rPr>
              <a:t>confirms meeting times, training links and system access before day one.</a:t>
            </a:r>
            <a:endParaRPr b="0" i="0" sz="1800" u="none" cap="none" strike="noStrike">
              <a:solidFill>
                <a:schemeClr val="dk1"/>
              </a:solidFill>
              <a:latin typeface="Calibri"/>
              <a:ea typeface="Calibri"/>
              <a:cs typeface="Calibri"/>
              <a:sym typeface="Calibri"/>
            </a:endParaRPr>
          </a:p>
        </p:txBody>
      </p:sp>
      <p:sp>
        <p:nvSpPr>
          <p:cNvPr id="137" name="Google Shape;137;p6"/>
          <p:cNvSpPr/>
          <p:nvPr/>
        </p:nvSpPr>
        <p:spPr>
          <a:xfrm>
            <a:off x="10675888" y="2403277"/>
            <a:ext cx="722063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OTHER SCENARIOS</a:t>
            </a:r>
            <a:endParaRPr b="0" i="0" sz="1800" u="none" cap="none" strike="noStrike">
              <a:solidFill>
                <a:schemeClr val="dk1"/>
              </a:solidFill>
              <a:latin typeface="Calibri"/>
              <a:ea typeface="Calibri"/>
              <a:cs typeface="Calibri"/>
              <a:sym typeface="Calibri"/>
            </a:endParaRPr>
          </a:p>
        </p:txBody>
      </p:sp>
      <p:sp>
        <p:nvSpPr>
          <p:cNvPr id="138" name="Google Shape;138;p6"/>
          <p:cNvSpPr/>
          <p:nvPr/>
        </p:nvSpPr>
        <p:spPr>
          <a:xfrm>
            <a:off x="10675888" y="2793802"/>
            <a:ext cx="6564213" cy="6096000"/>
          </a:xfrm>
          <a:prstGeom prst="roundRect">
            <a:avLst>
              <a:gd fmla="val 2188"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10952113" y="30795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40" name="Google Shape;140;p6"/>
          <p:cNvSpPr/>
          <p:nvPr/>
        </p:nvSpPr>
        <p:spPr>
          <a:xfrm>
            <a:off x="11223427" y="3089077"/>
            <a:ext cx="265621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Welcome email templates</a:t>
            </a:r>
            <a:endParaRPr b="0" i="0" sz="1800" u="none" cap="none" strike="noStrike">
              <a:solidFill>
                <a:schemeClr val="dk1"/>
              </a:solidFill>
              <a:latin typeface="Calibri"/>
              <a:ea typeface="Calibri"/>
              <a:cs typeface="Calibri"/>
              <a:sym typeface="Calibri"/>
            </a:endParaRPr>
          </a:p>
        </p:txBody>
      </p:sp>
      <p:sp>
        <p:nvSpPr>
          <p:cNvPr id="141" name="Google Shape;141;p6"/>
          <p:cNvSpPr/>
          <p:nvPr/>
        </p:nvSpPr>
        <p:spPr>
          <a:xfrm>
            <a:off x="10952113" y="34700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42" name="Google Shape;142;p6"/>
          <p:cNvSpPr/>
          <p:nvPr/>
        </p:nvSpPr>
        <p:spPr>
          <a:xfrm>
            <a:off x="11223427" y="3479602"/>
            <a:ext cx="334314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First-week onboarding schedules</a:t>
            </a:r>
            <a:endParaRPr b="0" i="0" sz="1800" u="none" cap="none" strike="noStrike">
              <a:solidFill>
                <a:schemeClr val="dk1"/>
              </a:solidFill>
              <a:latin typeface="Calibri"/>
              <a:ea typeface="Calibri"/>
              <a:cs typeface="Calibri"/>
              <a:sym typeface="Calibri"/>
            </a:endParaRPr>
          </a:p>
        </p:txBody>
      </p:sp>
      <p:sp>
        <p:nvSpPr>
          <p:cNvPr id="143" name="Google Shape;143;p6"/>
          <p:cNvSpPr/>
          <p:nvPr/>
        </p:nvSpPr>
        <p:spPr>
          <a:xfrm>
            <a:off x="10952113" y="38606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44" name="Google Shape;144;p6"/>
          <p:cNvSpPr/>
          <p:nvPr/>
        </p:nvSpPr>
        <p:spPr>
          <a:xfrm>
            <a:off x="11223427" y="3870127"/>
            <a:ext cx="195667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New hire checklists</a:t>
            </a:r>
            <a:endParaRPr b="0" i="0" sz="1800" u="none" cap="none" strike="noStrike">
              <a:solidFill>
                <a:schemeClr val="dk1"/>
              </a:solidFill>
              <a:latin typeface="Calibri"/>
              <a:ea typeface="Calibri"/>
              <a:cs typeface="Calibri"/>
              <a:sym typeface="Calibri"/>
            </a:endParaRPr>
          </a:p>
        </p:txBody>
      </p:sp>
      <p:sp>
        <p:nvSpPr>
          <p:cNvPr id="145" name="Google Shape;145;p6"/>
          <p:cNvSpPr/>
          <p:nvPr/>
        </p:nvSpPr>
        <p:spPr>
          <a:xfrm>
            <a:off x="10952113" y="42511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46" name="Google Shape;146;p6"/>
          <p:cNvSpPr/>
          <p:nvPr/>
        </p:nvSpPr>
        <p:spPr>
          <a:xfrm>
            <a:off x="11223427" y="4260652"/>
            <a:ext cx="3504887"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Frequently asked questions (FAQs)</a:t>
            </a:r>
            <a:endParaRPr b="0" i="0" sz="1800" u="none" cap="none" strike="noStrike">
              <a:solidFill>
                <a:schemeClr val="dk1"/>
              </a:solidFill>
              <a:latin typeface="Calibri"/>
              <a:ea typeface="Calibri"/>
              <a:cs typeface="Calibri"/>
              <a:sym typeface="Calibri"/>
            </a:endParaRPr>
          </a:p>
        </p:txBody>
      </p:sp>
      <p:sp>
        <p:nvSpPr>
          <p:cNvPr id="147" name="Google Shape;147;p6"/>
          <p:cNvSpPr/>
          <p:nvPr/>
        </p:nvSpPr>
        <p:spPr>
          <a:xfrm>
            <a:off x="10952113" y="46416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48" name="Google Shape;148;p6"/>
          <p:cNvSpPr/>
          <p:nvPr/>
        </p:nvSpPr>
        <p:spPr>
          <a:xfrm>
            <a:off x="11223427" y="4651177"/>
            <a:ext cx="1891516"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Orientation guides</a:t>
            </a:r>
            <a:endParaRPr b="0" i="0" sz="1800" u="none" cap="none" strike="noStrike">
              <a:solidFill>
                <a:schemeClr val="dk1"/>
              </a:solidFill>
              <a:latin typeface="Calibri"/>
              <a:ea typeface="Calibri"/>
              <a:cs typeface="Calibri"/>
              <a:sym typeface="Calibri"/>
            </a:endParaRPr>
          </a:p>
        </p:txBody>
      </p:sp>
      <p:sp>
        <p:nvSpPr>
          <p:cNvPr id="149" name="Google Shape;149;p6"/>
          <p:cNvSpPr/>
          <p:nvPr/>
        </p:nvSpPr>
        <p:spPr>
          <a:xfrm>
            <a:off x="10952113" y="50321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50" name="Google Shape;150;p6"/>
          <p:cNvSpPr/>
          <p:nvPr/>
        </p:nvSpPr>
        <p:spPr>
          <a:xfrm>
            <a:off x="11223427" y="5041702"/>
            <a:ext cx="2555528"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Buddy program guidance</a:t>
            </a:r>
            <a:endParaRPr b="0" i="0" sz="1800" u="none" cap="none" strike="noStrike">
              <a:solidFill>
                <a:schemeClr val="dk1"/>
              </a:solidFill>
              <a:latin typeface="Calibri"/>
              <a:ea typeface="Calibri"/>
              <a:cs typeface="Calibri"/>
              <a:sym typeface="Calibri"/>
            </a:endParaRPr>
          </a:p>
        </p:txBody>
      </p:sp>
      <p:sp>
        <p:nvSpPr>
          <p:cNvPr id="151" name="Google Shape;151;p6"/>
          <p:cNvSpPr/>
          <p:nvPr/>
        </p:nvSpPr>
        <p:spPr>
          <a:xfrm>
            <a:off x="10952113" y="54227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52" name="Google Shape;152;p6"/>
          <p:cNvSpPr/>
          <p:nvPr/>
        </p:nvSpPr>
        <p:spPr>
          <a:xfrm>
            <a:off x="11223427" y="5432227"/>
            <a:ext cx="316617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30-60-90 day onboarding plans</a:t>
            </a:r>
            <a:endParaRPr b="0" i="0" sz="1800" u="none" cap="none" strike="noStrike">
              <a:solidFill>
                <a:schemeClr val="dk1"/>
              </a:solidFill>
              <a:latin typeface="Calibri"/>
              <a:ea typeface="Calibri"/>
              <a:cs typeface="Calibri"/>
              <a:sym typeface="Calibri"/>
            </a:endParaRPr>
          </a:p>
        </p:txBody>
      </p:sp>
      <p:sp>
        <p:nvSpPr>
          <p:cNvPr id="153" name="Google Shape;153;p6"/>
          <p:cNvSpPr/>
          <p:nvPr/>
        </p:nvSpPr>
        <p:spPr>
          <a:xfrm>
            <a:off x="10952113" y="58132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54" name="Google Shape;154;p6"/>
          <p:cNvSpPr/>
          <p:nvPr/>
        </p:nvSpPr>
        <p:spPr>
          <a:xfrm>
            <a:off x="11223427" y="5822752"/>
            <a:ext cx="3183032"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Manager onboarding checklists</a:t>
            </a:r>
            <a:endParaRPr b="0" i="0" sz="1800" u="none" cap="none" strike="noStrike">
              <a:solidFill>
                <a:schemeClr val="dk1"/>
              </a:solidFill>
              <a:latin typeface="Calibri"/>
              <a:ea typeface="Calibri"/>
              <a:cs typeface="Calibri"/>
              <a:sym typeface="Calibri"/>
            </a:endParaRPr>
          </a:p>
        </p:txBody>
      </p:sp>
      <p:sp>
        <p:nvSpPr>
          <p:cNvPr id="155" name="Google Shape;155;p6"/>
          <p:cNvSpPr/>
          <p:nvPr/>
        </p:nvSpPr>
        <p:spPr>
          <a:xfrm>
            <a:off x="10952113" y="62037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56" name="Google Shape;156;p6"/>
          <p:cNvSpPr/>
          <p:nvPr/>
        </p:nvSpPr>
        <p:spPr>
          <a:xfrm>
            <a:off x="11223427" y="6213277"/>
            <a:ext cx="346543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IT and equipment setup checklists</a:t>
            </a:r>
            <a:endParaRPr b="0" i="0" sz="1800" u="none" cap="none" strike="noStrike">
              <a:solidFill>
                <a:schemeClr val="dk1"/>
              </a:solidFill>
              <a:latin typeface="Calibri"/>
              <a:ea typeface="Calibri"/>
              <a:cs typeface="Calibri"/>
              <a:sym typeface="Calibri"/>
            </a:endParaRPr>
          </a:p>
        </p:txBody>
      </p:sp>
      <p:sp>
        <p:nvSpPr>
          <p:cNvPr id="157" name="Google Shape;157;p6"/>
          <p:cNvSpPr/>
          <p:nvPr/>
        </p:nvSpPr>
        <p:spPr>
          <a:xfrm>
            <a:off x="10952113" y="65942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58" name="Google Shape;158;p6"/>
          <p:cNvSpPr/>
          <p:nvPr/>
        </p:nvSpPr>
        <p:spPr>
          <a:xfrm>
            <a:off x="11223427" y="6603802"/>
            <a:ext cx="326947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Employee handbook summaries</a:t>
            </a:r>
            <a:endParaRPr b="0" i="0" sz="1800" u="none" cap="none" strike="noStrike">
              <a:solidFill>
                <a:schemeClr val="dk1"/>
              </a:solidFill>
              <a:latin typeface="Calibri"/>
              <a:ea typeface="Calibri"/>
              <a:cs typeface="Calibri"/>
              <a:sym typeface="Calibri"/>
            </a:endParaRPr>
          </a:p>
        </p:txBody>
      </p:sp>
      <p:sp>
        <p:nvSpPr>
          <p:cNvPr id="159" name="Google Shape;159;p6"/>
          <p:cNvSpPr/>
          <p:nvPr/>
        </p:nvSpPr>
        <p:spPr>
          <a:xfrm>
            <a:off x="10952113" y="69848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60" name="Google Shape;160;p6"/>
          <p:cNvSpPr/>
          <p:nvPr/>
        </p:nvSpPr>
        <p:spPr>
          <a:xfrm>
            <a:off x="11223427" y="6994327"/>
            <a:ext cx="3111818"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Role-specific onboarding plans</a:t>
            </a:r>
            <a:endParaRPr b="0" i="0" sz="1800" u="none" cap="none" strike="noStrike">
              <a:solidFill>
                <a:schemeClr val="dk1"/>
              </a:solidFill>
              <a:latin typeface="Calibri"/>
              <a:ea typeface="Calibri"/>
              <a:cs typeface="Calibri"/>
              <a:sym typeface="Calibri"/>
            </a:endParaRPr>
          </a:p>
        </p:txBody>
      </p:sp>
      <p:sp>
        <p:nvSpPr>
          <p:cNvPr id="161" name="Google Shape;161;p6"/>
          <p:cNvSpPr/>
          <p:nvPr/>
        </p:nvSpPr>
        <p:spPr>
          <a:xfrm>
            <a:off x="10952113" y="73753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62" name="Google Shape;162;p6"/>
          <p:cNvSpPr/>
          <p:nvPr/>
        </p:nvSpPr>
        <p:spPr>
          <a:xfrm>
            <a:off x="11223427" y="7384852"/>
            <a:ext cx="273511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Training and learning plans</a:t>
            </a:r>
            <a:endParaRPr b="0" i="0" sz="1800" u="none" cap="none" strike="noStrike">
              <a:solidFill>
                <a:schemeClr val="dk1"/>
              </a:solidFill>
              <a:latin typeface="Calibri"/>
              <a:ea typeface="Calibri"/>
              <a:cs typeface="Calibri"/>
              <a:sym typeface="Calibri"/>
            </a:endParaRPr>
          </a:p>
        </p:txBody>
      </p:sp>
      <p:sp>
        <p:nvSpPr>
          <p:cNvPr id="163" name="Google Shape;163;p6"/>
          <p:cNvSpPr/>
          <p:nvPr/>
        </p:nvSpPr>
        <p:spPr>
          <a:xfrm>
            <a:off x="10952113" y="77658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64" name="Google Shape;164;p6"/>
          <p:cNvSpPr/>
          <p:nvPr/>
        </p:nvSpPr>
        <p:spPr>
          <a:xfrm>
            <a:off x="11223427" y="7775377"/>
            <a:ext cx="290947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Onboarding session agendas</a:t>
            </a:r>
            <a:endParaRPr b="0" i="0" sz="1800" u="none" cap="none" strike="noStrike">
              <a:solidFill>
                <a:schemeClr val="dk1"/>
              </a:solidFill>
              <a:latin typeface="Calibri"/>
              <a:ea typeface="Calibri"/>
              <a:cs typeface="Calibri"/>
              <a:sym typeface="Calibri"/>
            </a:endParaRPr>
          </a:p>
        </p:txBody>
      </p:sp>
      <p:sp>
        <p:nvSpPr>
          <p:cNvPr id="165" name="Google Shape;165;p6"/>
          <p:cNvSpPr/>
          <p:nvPr/>
        </p:nvSpPr>
        <p:spPr>
          <a:xfrm>
            <a:off x="10952113" y="81563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66" name="Google Shape;166;p6"/>
          <p:cNvSpPr/>
          <p:nvPr/>
        </p:nvSpPr>
        <p:spPr>
          <a:xfrm>
            <a:off x="11223427" y="8165902"/>
            <a:ext cx="445653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Knowledge base articles for new employees</a:t>
            </a:r>
            <a:endParaRPr b="0" i="0" sz="1800" u="none" cap="none" strike="noStrike">
              <a:solidFill>
                <a:schemeClr val="dk1"/>
              </a:solidFill>
              <a:latin typeface="Calibri"/>
              <a:ea typeface="Calibri"/>
              <a:cs typeface="Calibri"/>
              <a:sym typeface="Calibri"/>
            </a:endParaRPr>
          </a:p>
        </p:txBody>
      </p:sp>
      <p:sp>
        <p:nvSpPr>
          <p:cNvPr id="167" name="Google Shape;167;p6"/>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168" name="Google Shape;168;p6"/>
          <p:cNvSpPr/>
          <p:nvPr/>
        </p:nvSpPr>
        <p:spPr>
          <a:xfrm>
            <a:off x="17114639" y="9582150"/>
            <a:ext cx="20181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4</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73" name="Shape 173"/>
        <p:cNvGrpSpPr/>
        <p:nvPr/>
      </p:nvGrpSpPr>
      <p:grpSpPr>
        <a:xfrm>
          <a:off x="0" y="0"/>
          <a:ext cx="0" cy="0"/>
          <a:chOff x="0" y="0"/>
          <a:chExt cx="0" cy="0"/>
        </a:xfrm>
      </p:grpSpPr>
      <p:sp>
        <p:nvSpPr>
          <p:cNvPr id="174" name="Google Shape;174;p7"/>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03 · AI FOR OPERATIONAL HR</a:t>
            </a:r>
            <a:endParaRPr b="0" i="0" sz="1950" u="none" cap="none" strike="noStrike">
              <a:solidFill>
                <a:schemeClr val="dk1"/>
              </a:solidFill>
              <a:latin typeface="Calibri"/>
              <a:ea typeface="Calibri"/>
              <a:cs typeface="Calibri"/>
              <a:sym typeface="Calibri"/>
            </a:endParaRPr>
          </a:p>
        </p:txBody>
      </p:sp>
      <p:sp>
        <p:nvSpPr>
          <p:cNvPr id="176" name="Google Shape;176;p7"/>
          <p:cNvSpPr/>
          <p:nvPr/>
        </p:nvSpPr>
        <p:spPr>
          <a:xfrm>
            <a:off x="1047750" y="102870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HR Documentation</a:t>
            </a:r>
            <a:endParaRPr b="0" i="0" sz="4350" u="none" cap="none" strike="noStrike">
              <a:solidFill>
                <a:schemeClr val="dk1"/>
              </a:solidFill>
              <a:latin typeface="Calibri"/>
              <a:ea typeface="Calibri"/>
              <a:cs typeface="Calibri"/>
              <a:sym typeface="Calibri"/>
            </a:endParaRPr>
          </a:p>
        </p:txBody>
      </p:sp>
      <p:sp>
        <p:nvSpPr>
          <p:cNvPr id="177" name="Google Shape;177;p7"/>
          <p:cNvSpPr/>
          <p:nvPr/>
        </p:nvSpPr>
        <p:spPr>
          <a:xfrm>
            <a:off x="1047750" y="1736527"/>
            <a:ext cx="1781175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2175"/>
              <a:buFont typeface="Calibri"/>
              <a:buNone/>
            </a:pPr>
            <a:r>
              <a:rPr b="0" i="0" lang="en-US" sz="2175" u="none" cap="none" strike="noStrike">
                <a:solidFill>
                  <a:srgbClr val="9E9E9E"/>
                </a:solidFill>
                <a:latin typeface="Calibri"/>
                <a:ea typeface="Calibri"/>
                <a:cs typeface="Calibri"/>
                <a:sym typeface="Calibri"/>
              </a:rPr>
              <a:t>Draft and maintain clear, consistent HR documents faster.</a:t>
            </a:r>
            <a:endParaRPr b="0" i="0" sz="2175" u="none" cap="none" strike="noStrike">
              <a:solidFill>
                <a:schemeClr val="dk1"/>
              </a:solidFill>
              <a:latin typeface="Calibri"/>
              <a:ea typeface="Calibri"/>
              <a:cs typeface="Calibri"/>
              <a:sym typeface="Calibri"/>
            </a:endParaRPr>
          </a:p>
        </p:txBody>
      </p:sp>
      <p:sp>
        <p:nvSpPr>
          <p:cNvPr id="178" name="Google Shape;178;p7"/>
          <p:cNvSpPr/>
          <p:nvPr/>
        </p:nvSpPr>
        <p:spPr>
          <a:xfrm>
            <a:off x="1047750" y="2403277"/>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SCENARIO</a:t>
            </a:r>
            <a:endParaRPr b="0" i="0" sz="1800" u="none" cap="none" strike="noStrike">
              <a:solidFill>
                <a:schemeClr val="dk1"/>
              </a:solidFill>
              <a:latin typeface="Calibri"/>
              <a:ea typeface="Calibri"/>
              <a:cs typeface="Calibri"/>
              <a:sym typeface="Calibri"/>
            </a:endParaRPr>
          </a:p>
        </p:txBody>
      </p:sp>
      <p:sp>
        <p:nvSpPr>
          <p:cNvPr id="179" name="Google Shape;179;p7"/>
          <p:cNvSpPr/>
          <p:nvPr/>
        </p:nvSpPr>
        <p:spPr>
          <a:xfrm>
            <a:off x="1047750" y="2793802"/>
            <a:ext cx="9465688" cy="75813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The HR team wants to standardize the onboarding process to ensure a consistent experience for all new employees.</a:t>
            </a:r>
            <a:endParaRPr b="0" i="0" sz="2025" u="none" cap="none" strike="noStrike">
              <a:solidFill>
                <a:schemeClr val="dk1"/>
              </a:solidFill>
              <a:latin typeface="Calibri"/>
              <a:ea typeface="Calibri"/>
              <a:cs typeface="Calibri"/>
              <a:sym typeface="Calibri"/>
            </a:endParaRPr>
          </a:p>
        </p:txBody>
      </p:sp>
      <p:sp>
        <p:nvSpPr>
          <p:cNvPr id="180" name="Google Shape;180;p7"/>
          <p:cNvSpPr/>
          <p:nvPr/>
        </p:nvSpPr>
        <p:spPr>
          <a:xfrm>
            <a:off x="1047750" y="3761482"/>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PROMPT</a:t>
            </a:r>
            <a:endParaRPr b="0" i="0" sz="1800" u="none" cap="none" strike="noStrike">
              <a:solidFill>
                <a:schemeClr val="dk1"/>
              </a:solidFill>
              <a:latin typeface="Calibri"/>
              <a:ea typeface="Calibri"/>
              <a:cs typeface="Calibri"/>
              <a:sym typeface="Calibri"/>
            </a:endParaRPr>
          </a:p>
        </p:txBody>
      </p:sp>
      <p:sp>
        <p:nvSpPr>
          <p:cNvPr id="181" name="Google Shape;181;p7"/>
          <p:cNvSpPr/>
          <p:nvPr/>
        </p:nvSpPr>
        <p:spPr>
          <a:xfrm>
            <a:off x="1047750" y="4152007"/>
            <a:ext cx="9189988" cy="1128713"/>
          </a:xfrm>
          <a:prstGeom prst="roundRect">
            <a:avLst>
              <a:gd fmla="val 11814"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1304925" y="4371082"/>
            <a:ext cx="8951338" cy="728662"/>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E6E6E6"/>
              </a:buClr>
              <a:buSzPts val="1875"/>
              <a:buFont typeface="Calibri"/>
              <a:buNone/>
            </a:pPr>
            <a:r>
              <a:rPr b="0" i="0" lang="en-US" sz="1875" u="none" cap="none" strike="noStrike">
                <a:solidFill>
                  <a:srgbClr val="E6E6E6"/>
                </a:solidFill>
                <a:latin typeface="Calibri"/>
                <a:ea typeface="Calibri"/>
                <a:cs typeface="Calibri"/>
                <a:sym typeface="Calibri"/>
              </a:rPr>
              <a:t>Draft a step-by-step onboarding process document outlining key responsibilities and milestones.</a:t>
            </a:r>
            <a:endParaRPr b="0" i="0" sz="1875" u="none" cap="none" strike="noStrike">
              <a:solidFill>
                <a:schemeClr val="dk1"/>
              </a:solidFill>
              <a:latin typeface="Calibri"/>
              <a:ea typeface="Calibri"/>
              <a:cs typeface="Calibri"/>
              <a:sym typeface="Calibri"/>
            </a:endParaRPr>
          </a:p>
        </p:txBody>
      </p:sp>
      <p:sp>
        <p:nvSpPr>
          <p:cNvPr id="183" name="Google Shape;183;p7"/>
          <p:cNvSpPr/>
          <p:nvPr/>
        </p:nvSpPr>
        <p:spPr>
          <a:xfrm>
            <a:off x="1047750" y="5509320"/>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DRAFT</a:t>
            </a:r>
            <a:endParaRPr b="0" i="0" sz="1800" u="none" cap="none" strike="noStrike">
              <a:solidFill>
                <a:schemeClr val="dk1"/>
              </a:solidFill>
              <a:latin typeface="Calibri"/>
              <a:ea typeface="Calibri"/>
              <a:cs typeface="Calibri"/>
              <a:sym typeface="Calibri"/>
            </a:endParaRPr>
          </a:p>
        </p:txBody>
      </p:sp>
      <p:sp>
        <p:nvSpPr>
          <p:cNvPr id="184" name="Google Shape;184;p7"/>
          <p:cNvSpPr/>
          <p:nvPr/>
        </p:nvSpPr>
        <p:spPr>
          <a:xfrm>
            <a:off x="1047750" y="5899845"/>
            <a:ext cx="9189988" cy="3247876"/>
          </a:xfrm>
          <a:prstGeom prst="roundRect">
            <a:avLst>
              <a:gd fmla="val 4106"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a:off x="1304925" y="6118920"/>
            <a:ext cx="9543202"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75"/>
              <a:buFont typeface="Calibri"/>
              <a:buNone/>
            </a:pPr>
            <a:r>
              <a:rPr b="1" i="0" lang="en-US" sz="1875" u="none" cap="none" strike="noStrike">
                <a:solidFill>
                  <a:srgbClr val="FFD65C"/>
                </a:solidFill>
                <a:latin typeface="Calibri"/>
                <a:ea typeface="Calibri"/>
                <a:cs typeface="Calibri"/>
                <a:sym typeface="Calibri"/>
              </a:rPr>
              <a:t>Employee Onboarding SOP</a:t>
            </a:r>
            <a:endParaRPr b="0" i="0" sz="1875" u="none" cap="none" strike="noStrike">
              <a:solidFill>
                <a:schemeClr val="dk1"/>
              </a:solidFill>
              <a:latin typeface="Calibri"/>
              <a:ea typeface="Calibri"/>
              <a:cs typeface="Calibri"/>
              <a:sym typeface="Calibri"/>
            </a:endParaRPr>
          </a:p>
        </p:txBody>
      </p:sp>
      <p:sp>
        <p:nvSpPr>
          <p:cNvPr id="186" name="Google Shape;186;p7"/>
          <p:cNvSpPr/>
          <p:nvPr/>
        </p:nvSpPr>
        <p:spPr>
          <a:xfrm>
            <a:off x="1304925" y="6509445"/>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Purpose </a:t>
            </a:r>
            <a:r>
              <a:rPr b="0" i="0" lang="en-US" sz="1800" u="none" cap="none" strike="noStrike">
                <a:solidFill>
                  <a:srgbClr val="E6E6E6"/>
                </a:solidFill>
                <a:latin typeface="Calibri"/>
                <a:ea typeface="Calibri"/>
                <a:cs typeface="Calibri"/>
                <a:sym typeface="Calibri"/>
              </a:rPr>
              <a:t>— Ensure a consistent and efficient onboarding experience.</a:t>
            </a:r>
            <a:endParaRPr b="0" i="0" sz="1800" u="none" cap="none" strike="noStrike">
              <a:solidFill>
                <a:schemeClr val="dk1"/>
              </a:solidFill>
              <a:latin typeface="Calibri"/>
              <a:ea typeface="Calibri"/>
              <a:cs typeface="Calibri"/>
              <a:sym typeface="Calibri"/>
            </a:endParaRPr>
          </a:p>
        </p:txBody>
      </p:sp>
      <p:sp>
        <p:nvSpPr>
          <p:cNvPr id="187" name="Google Shape;187;p7"/>
          <p:cNvSpPr/>
          <p:nvPr/>
        </p:nvSpPr>
        <p:spPr>
          <a:xfrm>
            <a:off x="1304925" y="6881664"/>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HR </a:t>
            </a:r>
            <a:r>
              <a:rPr b="0" i="0" lang="en-US" sz="1800" u="none" cap="none" strike="noStrike">
                <a:solidFill>
                  <a:srgbClr val="E6E6E6"/>
                </a:solidFill>
                <a:latin typeface="Calibri"/>
                <a:ea typeface="Calibri"/>
                <a:cs typeface="Calibri"/>
                <a:sym typeface="Calibri"/>
              </a:rPr>
              <a:t>— Prepare employment documents, coordinate onboarding and deliver orientation.</a:t>
            </a:r>
            <a:endParaRPr b="0" i="0" sz="1800" u="none" cap="none" strike="noStrike">
              <a:solidFill>
                <a:schemeClr val="dk1"/>
              </a:solidFill>
              <a:latin typeface="Calibri"/>
              <a:ea typeface="Calibri"/>
              <a:cs typeface="Calibri"/>
              <a:sym typeface="Calibri"/>
            </a:endParaRPr>
          </a:p>
        </p:txBody>
      </p:sp>
      <p:sp>
        <p:nvSpPr>
          <p:cNvPr id="188" name="Google Shape;188;p7"/>
          <p:cNvSpPr/>
          <p:nvPr/>
        </p:nvSpPr>
        <p:spPr>
          <a:xfrm>
            <a:off x="1304925" y="7253883"/>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Manager </a:t>
            </a:r>
            <a:r>
              <a:rPr b="0" i="0" lang="en-US" sz="1800" u="none" cap="none" strike="noStrike">
                <a:solidFill>
                  <a:srgbClr val="E6E6E6"/>
                </a:solidFill>
                <a:latin typeface="Calibri"/>
                <a:ea typeface="Calibri"/>
                <a:cs typeface="Calibri"/>
                <a:sym typeface="Calibri"/>
              </a:rPr>
              <a:t>— Introduce the role, set expectations and schedule team introductions.</a:t>
            </a:r>
            <a:endParaRPr b="0" i="0" sz="1800" u="none" cap="none" strike="noStrike">
              <a:solidFill>
                <a:schemeClr val="dk1"/>
              </a:solidFill>
              <a:latin typeface="Calibri"/>
              <a:ea typeface="Calibri"/>
              <a:cs typeface="Calibri"/>
              <a:sym typeface="Calibri"/>
            </a:endParaRPr>
          </a:p>
        </p:txBody>
      </p:sp>
      <p:sp>
        <p:nvSpPr>
          <p:cNvPr id="189" name="Google Shape;189;p7"/>
          <p:cNvSpPr/>
          <p:nvPr/>
        </p:nvSpPr>
        <p:spPr>
          <a:xfrm>
            <a:off x="1304925" y="7626102"/>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IT </a:t>
            </a:r>
            <a:r>
              <a:rPr b="0" i="0" lang="en-US" sz="1800" u="none" cap="none" strike="noStrike">
                <a:solidFill>
                  <a:srgbClr val="E6E6E6"/>
                </a:solidFill>
                <a:latin typeface="Calibri"/>
                <a:ea typeface="Calibri"/>
                <a:cs typeface="Calibri"/>
                <a:sym typeface="Calibri"/>
              </a:rPr>
              <a:t>— Prepare equipment and system access.</a:t>
            </a:r>
            <a:endParaRPr b="0" i="0" sz="1800" u="none" cap="none" strike="noStrike">
              <a:solidFill>
                <a:schemeClr val="dk1"/>
              </a:solidFill>
              <a:latin typeface="Calibri"/>
              <a:ea typeface="Calibri"/>
              <a:cs typeface="Calibri"/>
              <a:sym typeface="Calibri"/>
            </a:endParaRPr>
          </a:p>
        </p:txBody>
      </p:sp>
      <p:sp>
        <p:nvSpPr>
          <p:cNvPr id="190" name="Google Shape;190;p7"/>
          <p:cNvSpPr/>
          <p:nvPr/>
        </p:nvSpPr>
        <p:spPr>
          <a:xfrm>
            <a:off x="1304925" y="7998321"/>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Timeline </a:t>
            </a:r>
            <a:r>
              <a:rPr b="0" i="0" lang="en-US" sz="1800" u="none" cap="none" strike="noStrike">
                <a:solidFill>
                  <a:srgbClr val="E6E6E6"/>
                </a:solidFill>
                <a:latin typeface="Calibri"/>
                <a:ea typeface="Calibri"/>
                <a:cs typeface="Calibri"/>
                <a:sym typeface="Calibri"/>
              </a:rPr>
              <a:t>— Contract signed → Preboarding → First day → First-week check-in.</a:t>
            </a:r>
            <a:endParaRPr b="0" i="0" sz="1800" u="none" cap="none" strike="noStrike">
              <a:solidFill>
                <a:schemeClr val="dk1"/>
              </a:solidFill>
              <a:latin typeface="Calibri"/>
              <a:ea typeface="Calibri"/>
              <a:cs typeface="Calibri"/>
              <a:sym typeface="Calibri"/>
            </a:endParaRPr>
          </a:p>
        </p:txBody>
      </p:sp>
      <p:sp>
        <p:nvSpPr>
          <p:cNvPr id="191" name="Google Shape;191;p7"/>
          <p:cNvSpPr/>
          <p:nvPr/>
        </p:nvSpPr>
        <p:spPr>
          <a:xfrm>
            <a:off x="1304925" y="8475315"/>
            <a:ext cx="8675638" cy="9525"/>
          </a:xfrm>
          <a:prstGeom prst="rect">
            <a:avLst/>
          </a:prstGeom>
          <a:solidFill>
            <a:srgbClr val="FFD65C">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1304925" y="8608665"/>
            <a:ext cx="8935907" cy="35808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HR review: </a:t>
            </a:r>
            <a:r>
              <a:rPr b="0" i="0" lang="en-US" sz="1800" u="none" cap="none" strike="noStrike">
                <a:solidFill>
                  <a:srgbClr val="9E9E9E"/>
                </a:solidFill>
                <a:latin typeface="Calibri"/>
                <a:ea typeface="Calibri"/>
                <a:cs typeface="Calibri"/>
                <a:sym typeface="Calibri"/>
              </a:rPr>
              <a:t>tailor the document to align with company and department practices.</a:t>
            </a:r>
            <a:endParaRPr b="0" i="0" sz="1800" u="none" cap="none" strike="noStrike">
              <a:solidFill>
                <a:schemeClr val="dk1"/>
              </a:solidFill>
              <a:latin typeface="Calibri"/>
              <a:ea typeface="Calibri"/>
              <a:cs typeface="Calibri"/>
              <a:sym typeface="Calibri"/>
            </a:endParaRPr>
          </a:p>
        </p:txBody>
      </p:sp>
      <p:sp>
        <p:nvSpPr>
          <p:cNvPr id="193" name="Google Shape;193;p7"/>
          <p:cNvSpPr/>
          <p:nvPr/>
        </p:nvSpPr>
        <p:spPr>
          <a:xfrm>
            <a:off x="10675888" y="2403277"/>
            <a:ext cx="722063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OTHER SCENARIOS</a:t>
            </a:r>
            <a:endParaRPr b="0" i="0" sz="1800" u="none" cap="none" strike="noStrike">
              <a:solidFill>
                <a:schemeClr val="dk1"/>
              </a:solidFill>
              <a:latin typeface="Calibri"/>
              <a:ea typeface="Calibri"/>
              <a:cs typeface="Calibri"/>
              <a:sym typeface="Calibri"/>
            </a:endParaRPr>
          </a:p>
        </p:txBody>
      </p:sp>
      <p:sp>
        <p:nvSpPr>
          <p:cNvPr id="194" name="Google Shape;194;p7"/>
          <p:cNvSpPr/>
          <p:nvPr/>
        </p:nvSpPr>
        <p:spPr>
          <a:xfrm>
            <a:off x="10675888" y="2793802"/>
            <a:ext cx="6564213" cy="6096000"/>
          </a:xfrm>
          <a:prstGeom prst="roundRect">
            <a:avLst>
              <a:gd fmla="val 2188"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10952113" y="30795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96" name="Google Shape;196;p7"/>
          <p:cNvSpPr/>
          <p:nvPr/>
        </p:nvSpPr>
        <p:spPr>
          <a:xfrm>
            <a:off x="11223427" y="3089077"/>
            <a:ext cx="388044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Standard operating procedures (SOPs)</a:t>
            </a:r>
            <a:endParaRPr b="0" i="0" sz="1800" u="none" cap="none" strike="noStrike">
              <a:solidFill>
                <a:schemeClr val="dk1"/>
              </a:solidFill>
              <a:latin typeface="Calibri"/>
              <a:ea typeface="Calibri"/>
              <a:cs typeface="Calibri"/>
              <a:sym typeface="Calibri"/>
            </a:endParaRPr>
          </a:p>
        </p:txBody>
      </p:sp>
      <p:sp>
        <p:nvSpPr>
          <p:cNvPr id="197" name="Google Shape;197;p7"/>
          <p:cNvSpPr/>
          <p:nvPr/>
        </p:nvSpPr>
        <p:spPr>
          <a:xfrm>
            <a:off x="10952113" y="34700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98" name="Google Shape;198;p7"/>
          <p:cNvSpPr/>
          <p:nvPr/>
        </p:nvSpPr>
        <p:spPr>
          <a:xfrm>
            <a:off x="11223427" y="3479602"/>
            <a:ext cx="233681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Policy document drafts</a:t>
            </a:r>
            <a:endParaRPr b="0" i="0" sz="1800" u="none" cap="none" strike="noStrike">
              <a:solidFill>
                <a:schemeClr val="dk1"/>
              </a:solidFill>
              <a:latin typeface="Calibri"/>
              <a:ea typeface="Calibri"/>
              <a:cs typeface="Calibri"/>
              <a:sym typeface="Calibri"/>
            </a:endParaRPr>
          </a:p>
        </p:txBody>
      </p:sp>
      <p:sp>
        <p:nvSpPr>
          <p:cNvPr id="199" name="Google Shape;199;p7"/>
          <p:cNvSpPr/>
          <p:nvPr/>
        </p:nvSpPr>
        <p:spPr>
          <a:xfrm>
            <a:off x="10952113" y="38606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00" name="Google Shape;200;p7"/>
          <p:cNvSpPr/>
          <p:nvPr/>
        </p:nvSpPr>
        <p:spPr>
          <a:xfrm>
            <a:off x="11223427" y="3870127"/>
            <a:ext cx="294974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Process and workflow guides</a:t>
            </a:r>
            <a:endParaRPr b="0" i="0" sz="1800" u="none" cap="none" strike="noStrike">
              <a:solidFill>
                <a:schemeClr val="dk1"/>
              </a:solidFill>
              <a:latin typeface="Calibri"/>
              <a:ea typeface="Calibri"/>
              <a:cs typeface="Calibri"/>
              <a:sym typeface="Calibri"/>
            </a:endParaRPr>
          </a:p>
        </p:txBody>
      </p:sp>
      <p:sp>
        <p:nvSpPr>
          <p:cNvPr id="201" name="Google Shape;201;p7"/>
          <p:cNvSpPr/>
          <p:nvPr/>
        </p:nvSpPr>
        <p:spPr>
          <a:xfrm>
            <a:off x="10952113" y="42511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02" name="Google Shape;202;p7"/>
          <p:cNvSpPr/>
          <p:nvPr/>
        </p:nvSpPr>
        <p:spPr>
          <a:xfrm>
            <a:off x="11223427" y="4260652"/>
            <a:ext cx="298084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Employee handbook sections</a:t>
            </a:r>
            <a:endParaRPr b="0" i="0" sz="1800" u="none" cap="none" strike="noStrike">
              <a:solidFill>
                <a:schemeClr val="dk1"/>
              </a:solidFill>
              <a:latin typeface="Calibri"/>
              <a:ea typeface="Calibri"/>
              <a:cs typeface="Calibri"/>
              <a:sym typeface="Calibri"/>
            </a:endParaRPr>
          </a:p>
        </p:txBody>
      </p:sp>
      <p:sp>
        <p:nvSpPr>
          <p:cNvPr id="203" name="Google Shape;203;p7"/>
          <p:cNvSpPr/>
          <p:nvPr/>
        </p:nvSpPr>
        <p:spPr>
          <a:xfrm>
            <a:off x="10952113" y="46416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04" name="Google Shape;204;p7"/>
          <p:cNvSpPr/>
          <p:nvPr/>
        </p:nvSpPr>
        <p:spPr>
          <a:xfrm>
            <a:off x="11223427" y="4651177"/>
            <a:ext cx="360753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Role and responsibility descriptions</a:t>
            </a:r>
            <a:endParaRPr b="0" i="0" sz="1800" u="none" cap="none" strike="noStrike">
              <a:solidFill>
                <a:schemeClr val="dk1"/>
              </a:solidFill>
              <a:latin typeface="Calibri"/>
              <a:ea typeface="Calibri"/>
              <a:cs typeface="Calibri"/>
              <a:sym typeface="Calibri"/>
            </a:endParaRPr>
          </a:p>
        </p:txBody>
      </p:sp>
      <p:sp>
        <p:nvSpPr>
          <p:cNvPr id="205" name="Google Shape;205;p7"/>
          <p:cNvSpPr/>
          <p:nvPr/>
        </p:nvSpPr>
        <p:spPr>
          <a:xfrm>
            <a:off x="10952113" y="50321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06" name="Google Shape;206;p7"/>
          <p:cNvSpPr/>
          <p:nvPr/>
        </p:nvSpPr>
        <p:spPr>
          <a:xfrm>
            <a:off x="11223427" y="5041702"/>
            <a:ext cx="289571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Letter and template libraries</a:t>
            </a:r>
            <a:endParaRPr b="0" i="0" sz="1800" u="none" cap="none" strike="noStrike">
              <a:solidFill>
                <a:schemeClr val="dk1"/>
              </a:solidFill>
              <a:latin typeface="Calibri"/>
              <a:ea typeface="Calibri"/>
              <a:cs typeface="Calibri"/>
              <a:sym typeface="Calibri"/>
            </a:endParaRPr>
          </a:p>
        </p:txBody>
      </p:sp>
      <p:sp>
        <p:nvSpPr>
          <p:cNvPr id="207" name="Google Shape;207;p7"/>
          <p:cNvSpPr/>
          <p:nvPr/>
        </p:nvSpPr>
        <p:spPr>
          <a:xfrm>
            <a:off x="10952113" y="54227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08" name="Google Shape;208;p7"/>
          <p:cNvSpPr/>
          <p:nvPr/>
        </p:nvSpPr>
        <p:spPr>
          <a:xfrm>
            <a:off x="11223427" y="5432227"/>
            <a:ext cx="3258666"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Compliance and audit checklists</a:t>
            </a:r>
            <a:endParaRPr b="0" i="0" sz="1800" u="none" cap="none" strike="noStrike">
              <a:solidFill>
                <a:schemeClr val="dk1"/>
              </a:solidFill>
              <a:latin typeface="Calibri"/>
              <a:ea typeface="Calibri"/>
              <a:cs typeface="Calibri"/>
              <a:sym typeface="Calibri"/>
            </a:endParaRPr>
          </a:p>
        </p:txBody>
      </p:sp>
      <p:sp>
        <p:nvSpPr>
          <p:cNvPr id="209" name="Google Shape;209;p7"/>
          <p:cNvSpPr/>
          <p:nvPr/>
        </p:nvSpPr>
        <p:spPr>
          <a:xfrm>
            <a:off x="10952113" y="58132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10" name="Google Shape;210;p7"/>
          <p:cNvSpPr/>
          <p:nvPr/>
        </p:nvSpPr>
        <p:spPr>
          <a:xfrm>
            <a:off x="11223427" y="5822752"/>
            <a:ext cx="335902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Meeting minutes and summaries</a:t>
            </a:r>
            <a:endParaRPr b="0" i="0" sz="1800" u="none" cap="none" strike="noStrike">
              <a:solidFill>
                <a:schemeClr val="dk1"/>
              </a:solidFill>
              <a:latin typeface="Calibri"/>
              <a:ea typeface="Calibri"/>
              <a:cs typeface="Calibri"/>
              <a:sym typeface="Calibri"/>
            </a:endParaRPr>
          </a:p>
        </p:txBody>
      </p:sp>
      <p:sp>
        <p:nvSpPr>
          <p:cNvPr id="211" name="Google Shape;211;p7"/>
          <p:cNvSpPr/>
          <p:nvPr/>
        </p:nvSpPr>
        <p:spPr>
          <a:xfrm>
            <a:off x="10952113" y="62037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12" name="Google Shape;212;p7"/>
          <p:cNvSpPr/>
          <p:nvPr/>
        </p:nvSpPr>
        <p:spPr>
          <a:xfrm>
            <a:off x="11223427" y="6213277"/>
            <a:ext cx="2674382"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Form and template design</a:t>
            </a:r>
            <a:endParaRPr b="0" i="0" sz="1800" u="none" cap="none" strike="noStrike">
              <a:solidFill>
                <a:schemeClr val="dk1"/>
              </a:solidFill>
              <a:latin typeface="Calibri"/>
              <a:ea typeface="Calibri"/>
              <a:cs typeface="Calibri"/>
              <a:sym typeface="Calibri"/>
            </a:endParaRPr>
          </a:p>
        </p:txBody>
      </p:sp>
      <p:sp>
        <p:nvSpPr>
          <p:cNvPr id="213" name="Google Shape;213;p7"/>
          <p:cNvSpPr/>
          <p:nvPr/>
        </p:nvSpPr>
        <p:spPr>
          <a:xfrm>
            <a:off x="10952113" y="65942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14" name="Google Shape;214;p7"/>
          <p:cNvSpPr/>
          <p:nvPr/>
        </p:nvSpPr>
        <p:spPr>
          <a:xfrm>
            <a:off x="11223427" y="6603802"/>
            <a:ext cx="3557766"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Document version and change logs</a:t>
            </a:r>
            <a:endParaRPr b="0" i="0" sz="1800" u="none" cap="none" strike="noStrike">
              <a:solidFill>
                <a:schemeClr val="dk1"/>
              </a:solidFill>
              <a:latin typeface="Calibri"/>
              <a:ea typeface="Calibri"/>
              <a:cs typeface="Calibri"/>
              <a:sym typeface="Calibri"/>
            </a:endParaRPr>
          </a:p>
        </p:txBody>
      </p:sp>
      <p:sp>
        <p:nvSpPr>
          <p:cNvPr id="215" name="Google Shape;215;p7"/>
          <p:cNvSpPr/>
          <p:nvPr/>
        </p:nvSpPr>
        <p:spPr>
          <a:xfrm>
            <a:off x="10952113" y="69848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16" name="Google Shape;216;p7"/>
          <p:cNvSpPr/>
          <p:nvPr/>
        </p:nvSpPr>
        <p:spPr>
          <a:xfrm>
            <a:off x="11223427" y="6994327"/>
            <a:ext cx="2452062"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Knowledge base articles</a:t>
            </a:r>
            <a:endParaRPr b="0" i="0" sz="1800" u="none" cap="none" strike="noStrike">
              <a:solidFill>
                <a:schemeClr val="dk1"/>
              </a:solidFill>
              <a:latin typeface="Calibri"/>
              <a:ea typeface="Calibri"/>
              <a:cs typeface="Calibri"/>
              <a:sym typeface="Calibri"/>
            </a:endParaRPr>
          </a:p>
        </p:txBody>
      </p:sp>
      <p:sp>
        <p:nvSpPr>
          <p:cNvPr id="217" name="Google Shape;217;p7"/>
          <p:cNvSpPr/>
          <p:nvPr/>
        </p:nvSpPr>
        <p:spPr>
          <a:xfrm>
            <a:off x="10952113" y="73753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18" name="Google Shape;218;p7"/>
          <p:cNvSpPr/>
          <p:nvPr/>
        </p:nvSpPr>
        <p:spPr>
          <a:xfrm>
            <a:off x="11223427" y="7384852"/>
            <a:ext cx="399438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Guideline and best-practice documents</a:t>
            </a:r>
            <a:endParaRPr b="0" i="0" sz="1800" u="none" cap="none" strike="noStrike">
              <a:solidFill>
                <a:schemeClr val="dk1"/>
              </a:solidFill>
              <a:latin typeface="Calibri"/>
              <a:ea typeface="Calibri"/>
              <a:cs typeface="Calibri"/>
              <a:sym typeface="Calibri"/>
            </a:endParaRPr>
          </a:p>
        </p:txBody>
      </p:sp>
      <p:sp>
        <p:nvSpPr>
          <p:cNvPr id="219" name="Google Shape;219;p7"/>
          <p:cNvSpPr/>
          <p:nvPr/>
        </p:nvSpPr>
        <p:spPr>
          <a:xfrm>
            <a:off x="10952113" y="77658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20" name="Google Shape;220;p7"/>
          <p:cNvSpPr/>
          <p:nvPr/>
        </p:nvSpPr>
        <p:spPr>
          <a:xfrm>
            <a:off x="11223427" y="7775377"/>
            <a:ext cx="300098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Contract and letter templates</a:t>
            </a:r>
            <a:endParaRPr b="0" i="0" sz="1800" u="none" cap="none" strike="noStrike">
              <a:solidFill>
                <a:schemeClr val="dk1"/>
              </a:solidFill>
              <a:latin typeface="Calibri"/>
              <a:ea typeface="Calibri"/>
              <a:cs typeface="Calibri"/>
              <a:sym typeface="Calibri"/>
            </a:endParaRPr>
          </a:p>
        </p:txBody>
      </p:sp>
      <p:sp>
        <p:nvSpPr>
          <p:cNvPr id="221" name="Google Shape;221;p7"/>
          <p:cNvSpPr/>
          <p:nvPr/>
        </p:nvSpPr>
        <p:spPr>
          <a:xfrm>
            <a:off x="10952113" y="81563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22" name="Google Shape;222;p7"/>
          <p:cNvSpPr/>
          <p:nvPr/>
        </p:nvSpPr>
        <p:spPr>
          <a:xfrm>
            <a:off x="11223427" y="8165902"/>
            <a:ext cx="3555638"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Process flowcharts and step guides</a:t>
            </a:r>
            <a:endParaRPr b="0" i="0" sz="1800" u="none" cap="none" strike="noStrike">
              <a:solidFill>
                <a:schemeClr val="dk1"/>
              </a:solidFill>
              <a:latin typeface="Calibri"/>
              <a:ea typeface="Calibri"/>
              <a:cs typeface="Calibri"/>
              <a:sym typeface="Calibri"/>
            </a:endParaRPr>
          </a:p>
        </p:txBody>
      </p:sp>
      <p:sp>
        <p:nvSpPr>
          <p:cNvPr id="223" name="Google Shape;223;p7"/>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224" name="Google Shape;224;p7"/>
          <p:cNvSpPr/>
          <p:nvPr/>
        </p:nvSpPr>
        <p:spPr>
          <a:xfrm>
            <a:off x="17114639" y="9582150"/>
            <a:ext cx="20181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5</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229" name="Shape 229"/>
        <p:cNvGrpSpPr/>
        <p:nvPr/>
      </p:nvGrpSpPr>
      <p:grpSpPr>
        <a:xfrm>
          <a:off x="0" y="0"/>
          <a:ext cx="0" cy="0"/>
          <a:chOff x="0" y="0"/>
          <a:chExt cx="0" cy="0"/>
        </a:xfrm>
      </p:grpSpPr>
      <p:sp>
        <p:nvSpPr>
          <p:cNvPr id="230" name="Google Shape;230;p8"/>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04 · AI FOR OPERATIONAL HR</a:t>
            </a:r>
            <a:endParaRPr b="0" i="0" sz="1950" u="none" cap="none" strike="noStrike">
              <a:solidFill>
                <a:schemeClr val="dk1"/>
              </a:solidFill>
              <a:latin typeface="Calibri"/>
              <a:ea typeface="Calibri"/>
              <a:cs typeface="Calibri"/>
              <a:sym typeface="Calibri"/>
            </a:endParaRPr>
          </a:p>
        </p:txBody>
      </p:sp>
      <p:sp>
        <p:nvSpPr>
          <p:cNvPr id="232" name="Google Shape;232;p8"/>
          <p:cNvSpPr/>
          <p:nvPr/>
        </p:nvSpPr>
        <p:spPr>
          <a:xfrm>
            <a:off x="1047750" y="102870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HR Communication</a:t>
            </a:r>
            <a:endParaRPr b="0" i="0" sz="4350" u="none" cap="none" strike="noStrike">
              <a:solidFill>
                <a:schemeClr val="dk1"/>
              </a:solidFill>
              <a:latin typeface="Calibri"/>
              <a:ea typeface="Calibri"/>
              <a:cs typeface="Calibri"/>
              <a:sym typeface="Calibri"/>
            </a:endParaRPr>
          </a:p>
        </p:txBody>
      </p:sp>
      <p:sp>
        <p:nvSpPr>
          <p:cNvPr id="233" name="Google Shape;233;p8"/>
          <p:cNvSpPr/>
          <p:nvPr/>
        </p:nvSpPr>
        <p:spPr>
          <a:xfrm>
            <a:off x="1047750" y="1736527"/>
            <a:ext cx="1781175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2175"/>
              <a:buFont typeface="Calibri"/>
              <a:buNone/>
            </a:pPr>
            <a:r>
              <a:rPr b="0" i="0" lang="en-US" sz="2175" u="none" cap="none" strike="noStrike">
                <a:solidFill>
                  <a:srgbClr val="9E9E9E"/>
                </a:solidFill>
                <a:latin typeface="Calibri"/>
                <a:ea typeface="Calibri"/>
                <a:cs typeface="Calibri"/>
                <a:sym typeface="Calibri"/>
              </a:rPr>
              <a:t>Write clear internal messages in the right tone, quickly.</a:t>
            </a:r>
            <a:endParaRPr b="0" i="0" sz="2175" u="none" cap="none" strike="noStrike">
              <a:solidFill>
                <a:schemeClr val="dk1"/>
              </a:solidFill>
              <a:latin typeface="Calibri"/>
              <a:ea typeface="Calibri"/>
              <a:cs typeface="Calibri"/>
              <a:sym typeface="Calibri"/>
            </a:endParaRPr>
          </a:p>
        </p:txBody>
      </p:sp>
      <p:sp>
        <p:nvSpPr>
          <p:cNvPr id="234" name="Google Shape;234;p8"/>
          <p:cNvSpPr/>
          <p:nvPr/>
        </p:nvSpPr>
        <p:spPr>
          <a:xfrm>
            <a:off x="1047750" y="2403277"/>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SCENARIO</a:t>
            </a:r>
            <a:endParaRPr b="0" i="0" sz="1800" u="none" cap="none" strike="noStrike">
              <a:solidFill>
                <a:schemeClr val="dk1"/>
              </a:solidFill>
              <a:latin typeface="Calibri"/>
              <a:ea typeface="Calibri"/>
              <a:cs typeface="Calibri"/>
              <a:sym typeface="Calibri"/>
            </a:endParaRPr>
          </a:p>
        </p:txBody>
      </p:sp>
      <p:sp>
        <p:nvSpPr>
          <p:cNvPr id="235" name="Google Shape;235;p8"/>
          <p:cNvSpPr/>
          <p:nvPr/>
        </p:nvSpPr>
        <p:spPr>
          <a:xfrm>
            <a:off x="1047750" y="2793802"/>
            <a:ext cx="9465688" cy="75813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The HR team is introducing an updated annual leave policy and needs to communicate the changes clearly to all employees.</a:t>
            </a:r>
            <a:endParaRPr b="0" i="0" sz="2025" u="none" cap="none" strike="noStrike">
              <a:solidFill>
                <a:schemeClr val="dk1"/>
              </a:solidFill>
              <a:latin typeface="Calibri"/>
              <a:ea typeface="Calibri"/>
              <a:cs typeface="Calibri"/>
              <a:sym typeface="Calibri"/>
            </a:endParaRPr>
          </a:p>
        </p:txBody>
      </p:sp>
      <p:sp>
        <p:nvSpPr>
          <p:cNvPr id="236" name="Google Shape;236;p8"/>
          <p:cNvSpPr/>
          <p:nvPr/>
        </p:nvSpPr>
        <p:spPr>
          <a:xfrm>
            <a:off x="1047750" y="3761482"/>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PROMPT</a:t>
            </a:r>
            <a:endParaRPr b="0" i="0" sz="1800" u="none" cap="none" strike="noStrike">
              <a:solidFill>
                <a:schemeClr val="dk1"/>
              </a:solidFill>
              <a:latin typeface="Calibri"/>
              <a:ea typeface="Calibri"/>
              <a:cs typeface="Calibri"/>
              <a:sym typeface="Calibri"/>
            </a:endParaRPr>
          </a:p>
        </p:txBody>
      </p:sp>
      <p:sp>
        <p:nvSpPr>
          <p:cNvPr id="237" name="Google Shape;237;p8"/>
          <p:cNvSpPr/>
          <p:nvPr/>
        </p:nvSpPr>
        <p:spPr>
          <a:xfrm>
            <a:off x="1047750" y="4152007"/>
            <a:ext cx="9189988" cy="1473994"/>
          </a:xfrm>
          <a:prstGeom prst="roundRect">
            <a:avLst>
              <a:gd fmla="val 9047"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1304925" y="4371082"/>
            <a:ext cx="8951338" cy="1073944"/>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E6E6E6"/>
              </a:buClr>
              <a:buSzPts val="1875"/>
              <a:buFont typeface="Calibri"/>
              <a:buNone/>
            </a:pPr>
            <a:r>
              <a:rPr b="0" i="0" lang="en-US" sz="1875" u="none" cap="none" strike="noStrike">
                <a:solidFill>
                  <a:srgbClr val="E6E6E6"/>
                </a:solidFill>
                <a:latin typeface="Calibri"/>
                <a:ea typeface="Calibri"/>
                <a:cs typeface="Calibri"/>
                <a:sym typeface="Calibri"/>
              </a:rPr>
              <a:t>Write a friendly internal communication about an updated annual leave policy. Summarize the key changes, explain when it takes effect and encourage employees to contact HR with questions.</a:t>
            </a:r>
            <a:endParaRPr b="0" i="0" sz="1875" u="none" cap="none" strike="noStrike">
              <a:solidFill>
                <a:schemeClr val="dk1"/>
              </a:solidFill>
              <a:latin typeface="Calibri"/>
              <a:ea typeface="Calibri"/>
              <a:cs typeface="Calibri"/>
              <a:sym typeface="Calibri"/>
            </a:endParaRPr>
          </a:p>
        </p:txBody>
      </p:sp>
      <p:sp>
        <p:nvSpPr>
          <p:cNvPr id="239" name="Google Shape;239;p8"/>
          <p:cNvSpPr/>
          <p:nvPr/>
        </p:nvSpPr>
        <p:spPr>
          <a:xfrm>
            <a:off x="1047750" y="5854601"/>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DRAFT</a:t>
            </a:r>
            <a:endParaRPr b="0" i="0" sz="1800" u="none" cap="none" strike="noStrike">
              <a:solidFill>
                <a:schemeClr val="dk1"/>
              </a:solidFill>
              <a:latin typeface="Calibri"/>
              <a:ea typeface="Calibri"/>
              <a:cs typeface="Calibri"/>
              <a:sym typeface="Calibri"/>
            </a:endParaRPr>
          </a:p>
        </p:txBody>
      </p:sp>
      <p:sp>
        <p:nvSpPr>
          <p:cNvPr id="240" name="Google Shape;240;p8"/>
          <p:cNvSpPr/>
          <p:nvPr/>
        </p:nvSpPr>
        <p:spPr>
          <a:xfrm>
            <a:off x="1047750" y="6245126"/>
            <a:ext cx="9189988" cy="2503438"/>
          </a:xfrm>
          <a:prstGeom prst="roundRect">
            <a:avLst>
              <a:gd fmla="val 5327"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1304925" y="6464201"/>
            <a:ext cx="9543202"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75"/>
              <a:buFont typeface="Calibri"/>
              <a:buNone/>
            </a:pPr>
            <a:r>
              <a:rPr b="1" i="0" lang="en-US" sz="1875" u="none" cap="none" strike="noStrike">
                <a:solidFill>
                  <a:srgbClr val="FFD65C"/>
                </a:solidFill>
                <a:latin typeface="Calibri"/>
                <a:ea typeface="Calibri"/>
                <a:cs typeface="Calibri"/>
                <a:sym typeface="Calibri"/>
              </a:rPr>
              <a:t>Annual Leave Policy Update</a:t>
            </a:r>
            <a:endParaRPr b="0" i="0" sz="1875" u="none" cap="none" strike="noStrike">
              <a:solidFill>
                <a:schemeClr val="dk1"/>
              </a:solidFill>
              <a:latin typeface="Calibri"/>
              <a:ea typeface="Calibri"/>
              <a:cs typeface="Calibri"/>
              <a:sym typeface="Calibri"/>
            </a:endParaRPr>
          </a:p>
        </p:txBody>
      </p:sp>
      <p:sp>
        <p:nvSpPr>
          <p:cNvPr id="242" name="Google Shape;242;p8"/>
          <p:cNvSpPr/>
          <p:nvPr/>
        </p:nvSpPr>
        <p:spPr>
          <a:xfrm>
            <a:off x="1304925" y="6854726"/>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We have updated our annual leave policy, effective 1 January 2027.</a:t>
            </a:r>
            <a:endParaRPr b="0" i="0" sz="1800" u="none" cap="none" strike="noStrike">
              <a:solidFill>
                <a:schemeClr val="dk1"/>
              </a:solidFill>
              <a:latin typeface="Calibri"/>
              <a:ea typeface="Calibri"/>
              <a:cs typeface="Calibri"/>
              <a:sym typeface="Calibri"/>
            </a:endParaRPr>
          </a:p>
        </p:txBody>
      </p:sp>
      <p:sp>
        <p:nvSpPr>
          <p:cNvPr id="243" name="Google Shape;243;p8"/>
          <p:cNvSpPr/>
          <p:nvPr/>
        </p:nvSpPr>
        <p:spPr>
          <a:xfrm>
            <a:off x="1304925" y="7226945"/>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The changes include revised leave-request timelines and updated approval guidelines.</a:t>
            </a:r>
            <a:endParaRPr b="0" i="0" sz="1800" u="none" cap="none" strike="noStrike">
              <a:solidFill>
                <a:schemeClr val="dk1"/>
              </a:solidFill>
              <a:latin typeface="Calibri"/>
              <a:ea typeface="Calibri"/>
              <a:cs typeface="Calibri"/>
              <a:sym typeface="Calibri"/>
            </a:endParaRPr>
          </a:p>
        </p:txBody>
      </p:sp>
      <p:sp>
        <p:nvSpPr>
          <p:cNvPr id="244" name="Google Shape;244;p8"/>
          <p:cNvSpPr/>
          <p:nvPr/>
        </p:nvSpPr>
        <p:spPr>
          <a:xfrm>
            <a:off x="1304925" y="7599164"/>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Please review the full policy on the intranet, and contact the HR team with any questions.</a:t>
            </a:r>
            <a:endParaRPr b="0" i="0" sz="1800" u="none" cap="none" strike="noStrike">
              <a:solidFill>
                <a:schemeClr val="dk1"/>
              </a:solidFill>
              <a:latin typeface="Calibri"/>
              <a:ea typeface="Calibri"/>
              <a:cs typeface="Calibri"/>
              <a:sym typeface="Calibri"/>
            </a:endParaRPr>
          </a:p>
        </p:txBody>
      </p:sp>
      <p:sp>
        <p:nvSpPr>
          <p:cNvPr id="245" name="Google Shape;245;p8"/>
          <p:cNvSpPr/>
          <p:nvPr/>
        </p:nvSpPr>
        <p:spPr>
          <a:xfrm>
            <a:off x="1304925" y="8076158"/>
            <a:ext cx="8675638" cy="9525"/>
          </a:xfrm>
          <a:prstGeom prst="rect">
            <a:avLst/>
          </a:prstGeom>
          <a:solidFill>
            <a:srgbClr val="FFD65C">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1304925" y="8209508"/>
            <a:ext cx="8935907" cy="35808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HR review: </a:t>
            </a:r>
            <a:r>
              <a:rPr b="0" i="0" lang="en-US" sz="1800" u="none" cap="none" strike="noStrike">
                <a:solidFill>
                  <a:srgbClr val="9E9E9E"/>
                </a:solidFill>
                <a:latin typeface="Calibri"/>
                <a:ea typeface="Calibri"/>
                <a:cs typeface="Calibri"/>
                <a:sym typeface="Calibri"/>
              </a:rPr>
              <a:t>confirm policy details, effective dates and channels before distributing.</a:t>
            </a:r>
            <a:endParaRPr b="0" i="0" sz="1800" u="none" cap="none" strike="noStrike">
              <a:solidFill>
                <a:schemeClr val="dk1"/>
              </a:solidFill>
              <a:latin typeface="Calibri"/>
              <a:ea typeface="Calibri"/>
              <a:cs typeface="Calibri"/>
              <a:sym typeface="Calibri"/>
            </a:endParaRPr>
          </a:p>
        </p:txBody>
      </p:sp>
      <p:sp>
        <p:nvSpPr>
          <p:cNvPr id="247" name="Google Shape;247;p8"/>
          <p:cNvSpPr/>
          <p:nvPr/>
        </p:nvSpPr>
        <p:spPr>
          <a:xfrm>
            <a:off x="10675888" y="2403277"/>
            <a:ext cx="722063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OTHER SCENARIOS</a:t>
            </a:r>
            <a:endParaRPr b="0" i="0" sz="1800" u="none" cap="none" strike="noStrike">
              <a:solidFill>
                <a:schemeClr val="dk1"/>
              </a:solidFill>
              <a:latin typeface="Calibri"/>
              <a:ea typeface="Calibri"/>
              <a:cs typeface="Calibri"/>
              <a:sym typeface="Calibri"/>
            </a:endParaRPr>
          </a:p>
        </p:txBody>
      </p:sp>
      <p:sp>
        <p:nvSpPr>
          <p:cNvPr id="248" name="Google Shape;248;p8"/>
          <p:cNvSpPr/>
          <p:nvPr/>
        </p:nvSpPr>
        <p:spPr>
          <a:xfrm>
            <a:off x="10675888" y="2793802"/>
            <a:ext cx="6564213" cy="6096000"/>
          </a:xfrm>
          <a:prstGeom prst="roundRect">
            <a:avLst>
              <a:gd fmla="val 2188"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10952113" y="30795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50" name="Google Shape;250;p8"/>
          <p:cNvSpPr/>
          <p:nvPr/>
        </p:nvSpPr>
        <p:spPr>
          <a:xfrm>
            <a:off x="11223427" y="3089077"/>
            <a:ext cx="250592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Internal announcements</a:t>
            </a:r>
            <a:endParaRPr b="0" i="0" sz="1800" u="none" cap="none" strike="noStrike">
              <a:solidFill>
                <a:schemeClr val="dk1"/>
              </a:solidFill>
              <a:latin typeface="Calibri"/>
              <a:ea typeface="Calibri"/>
              <a:cs typeface="Calibri"/>
              <a:sym typeface="Calibri"/>
            </a:endParaRPr>
          </a:p>
        </p:txBody>
      </p:sp>
      <p:sp>
        <p:nvSpPr>
          <p:cNvPr id="251" name="Google Shape;251;p8"/>
          <p:cNvSpPr/>
          <p:nvPr/>
        </p:nvSpPr>
        <p:spPr>
          <a:xfrm>
            <a:off x="10952113" y="34700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52" name="Google Shape;252;p8"/>
          <p:cNvSpPr/>
          <p:nvPr/>
        </p:nvSpPr>
        <p:spPr>
          <a:xfrm>
            <a:off x="11223427" y="3479602"/>
            <a:ext cx="178183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Payroll reminders</a:t>
            </a:r>
            <a:endParaRPr b="0" i="0" sz="1800" u="none" cap="none" strike="noStrike">
              <a:solidFill>
                <a:schemeClr val="dk1"/>
              </a:solidFill>
              <a:latin typeface="Calibri"/>
              <a:ea typeface="Calibri"/>
              <a:cs typeface="Calibri"/>
              <a:sym typeface="Calibri"/>
            </a:endParaRPr>
          </a:p>
        </p:txBody>
      </p:sp>
      <p:sp>
        <p:nvSpPr>
          <p:cNvPr id="253" name="Google Shape;253;p8"/>
          <p:cNvSpPr/>
          <p:nvPr/>
        </p:nvSpPr>
        <p:spPr>
          <a:xfrm>
            <a:off x="10952113" y="38606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54" name="Google Shape;254;p8"/>
          <p:cNvSpPr/>
          <p:nvPr/>
        </p:nvSpPr>
        <p:spPr>
          <a:xfrm>
            <a:off x="11223427" y="3870127"/>
            <a:ext cx="265997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Manager communications</a:t>
            </a:r>
            <a:endParaRPr b="0" i="0" sz="1800" u="none" cap="none" strike="noStrike">
              <a:solidFill>
                <a:schemeClr val="dk1"/>
              </a:solidFill>
              <a:latin typeface="Calibri"/>
              <a:ea typeface="Calibri"/>
              <a:cs typeface="Calibri"/>
              <a:sym typeface="Calibri"/>
            </a:endParaRPr>
          </a:p>
        </p:txBody>
      </p:sp>
      <p:sp>
        <p:nvSpPr>
          <p:cNvPr id="255" name="Google Shape;255;p8"/>
          <p:cNvSpPr/>
          <p:nvPr/>
        </p:nvSpPr>
        <p:spPr>
          <a:xfrm>
            <a:off x="10952113" y="42511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56" name="Google Shape;256;p8"/>
          <p:cNvSpPr/>
          <p:nvPr/>
        </p:nvSpPr>
        <p:spPr>
          <a:xfrm>
            <a:off x="11223427" y="4260652"/>
            <a:ext cx="168344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Event invitations</a:t>
            </a:r>
            <a:endParaRPr b="0" i="0" sz="1800" u="none" cap="none" strike="noStrike">
              <a:solidFill>
                <a:schemeClr val="dk1"/>
              </a:solidFill>
              <a:latin typeface="Calibri"/>
              <a:ea typeface="Calibri"/>
              <a:cs typeface="Calibri"/>
              <a:sym typeface="Calibri"/>
            </a:endParaRPr>
          </a:p>
        </p:txBody>
      </p:sp>
      <p:sp>
        <p:nvSpPr>
          <p:cNvPr id="257" name="Google Shape;257;p8"/>
          <p:cNvSpPr/>
          <p:nvPr/>
        </p:nvSpPr>
        <p:spPr>
          <a:xfrm>
            <a:off x="10952113" y="46416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58" name="Google Shape;258;p8"/>
          <p:cNvSpPr/>
          <p:nvPr/>
        </p:nvSpPr>
        <p:spPr>
          <a:xfrm>
            <a:off x="11223427" y="4651177"/>
            <a:ext cx="263034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New hire announcements</a:t>
            </a:r>
            <a:endParaRPr b="0" i="0" sz="1800" u="none" cap="none" strike="noStrike">
              <a:solidFill>
                <a:schemeClr val="dk1"/>
              </a:solidFill>
              <a:latin typeface="Calibri"/>
              <a:ea typeface="Calibri"/>
              <a:cs typeface="Calibri"/>
              <a:sym typeface="Calibri"/>
            </a:endParaRPr>
          </a:p>
        </p:txBody>
      </p:sp>
      <p:sp>
        <p:nvSpPr>
          <p:cNvPr id="259" name="Google Shape;259;p8"/>
          <p:cNvSpPr/>
          <p:nvPr/>
        </p:nvSpPr>
        <p:spPr>
          <a:xfrm>
            <a:off x="10952113" y="50321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60" name="Google Shape;260;p8"/>
          <p:cNvSpPr/>
          <p:nvPr/>
        </p:nvSpPr>
        <p:spPr>
          <a:xfrm>
            <a:off x="11223427" y="5041702"/>
            <a:ext cx="222565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HR newsletter articles</a:t>
            </a:r>
            <a:endParaRPr b="0" i="0" sz="1800" u="none" cap="none" strike="noStrike">
              <a:solidFill>
                <a:schemeClr val="dk1"/>
              </a:solidFill>
              <a:latin typeface="Calibri"/>
              <a:ea typeface="Calibri"/>
              <a:cs typeface="Calibri"/>
              <a:sym typeface="Calibri"/>
            </a:endParaRPr>
          </a:p>
        </p:txBody>
      </p:sp>
      <p:sp>
        <p:nvSpPr>
          <p:cNvPr id="261" name="Google Shape;261;p8"/>
          <p:cNvSpPr/>
          <p:nvPr/>
        </p:nvSpPr>
        <p:spPr>
          <a:xfrm>
            <a:off x="10952113" y="54227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62" name="Google Shape;262;p8"/>
          <p:cNvSpPr/>
          <p:nvPr/>
        </p:nvSpPr>
        <p:spPr>
          <a:xfrm>
            <a:off x="11223427" y="5432227"/>
            <a:ext cx="311427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Benefits enrollment reminders</a:t>
            </a:r>
            <a:endParaRPr b="0" i="0" sz="1800" u="none" cap="none" strike="noStrike">
              <a:solidFill>
                <a:schemeClr val="dk1"/>
              </a:solidFill>
              <a:latin typeface="Calibri"/>
              <a:ea typeface="Calibri"/>
              <a:cs typeface="Calibri"/>
              <a:sym typeface="Calibri"/>
            </a:endParaRPr>
          </a:p>
        </p:txBody>
      </p:sp>
      <p:sp>
        <p:nvSpPr>
          <p:cNvPr id="263" name="Google Shape;263;p8"/>
          <p:cNvSpPr/>
          <p:nvPr/>
        </p:nvSpPr>
        <p:spPr>
          <a:xfrm>
            <a:off x="10952113" y="58132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64" name="Google Shape;264;p8"/>
          <p:cNvSpPr/>
          <p:nvPr/>
        </p:nvSpPr>
        <p:spPr>
          <a:xfrm>
            <a:off x="11223427" y="5822752"/>
            <a:ext cx="315029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Performance review reminders</a:t>
            </a:r>
            <a:endParaRPr b="0" i="0" sz="1800" u="none" cap="none" strike="noStrike">
              <a:solidFill>
                <a:schemeClr val="dk1"/>
              </a:solidFill>
              <a:latin typeface="Calibri"/>
              <a:ea typeface="Calibri"/>
              <a:cs typeface="Calibri"/>
              <a:sym typeface="Calibri"/>
            </a:endParaRPr>
          </a:p>
        </p:txBody>
      </p:sp>
      <p:sp>
        <p:nvSpPr>
          <p:cNvPr id="265" name="Google Shape;265;p8"/>
          <p:cNvSpPr/>
          <p:nvPr/>
        </p:nvSpPr>
        <p:spPr>
          <a:xfrm>
            <a:off x="10952113" y="62037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66" name="Google Shape;266;p8"/>
          <p:cNvSpPr/>
          <p:nvPr/>
        </p:nvSpPr>
        <p:spPr>
          <a:xfrm>
            <a:off x="11223427" y="6213277"/>
            <a:ext cx="393004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Employee recognition announcements</a:t>
            </a:r>
            <a:endParaRPr b="0" i="0" sz="1800" u="none" cap="none" strike="noStrike">
              <a:solidFill>
                <a:schemeClr val="dk1"/>
              </a:solidFill>
              <a:latin typeface="Calibri"/>
              <a:ea typeface="Calibri"/>
              <a:cs typeface="Calibri"/>
              <a:sym typeface="Calibri"/>
            </a:endParaRPr>
          </a:p>
        </p:txBody>
      </p:sp>
      <p:sp>
        <p:nvSpPr>
          <p:cNvPr id="267" name="Google Shape;267;p8"/>
          <p:cNvSpPr/>
          <p:nvPr/>
        </p:nvSpPr>
        <p:spPr>
          <a:xfrm>
            <a:off x="10952113" y="65942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68" name="Google Shape;268;p8"/>
          <p:cNvSpPr/>
          <p:nvPr/>
        </p:nvSpPr>
        <p:spPr>
          <a:xfrm>
            <a:off x="11223427" y="6603802"/>
            <a:ext cx="368202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Service anniversary announcements</a:t>
            </a:r>
            <a:endParaRPr b="0" i="0" sz="1800" u="none" cap="none" strike="noStrike">
              <a:solidFill>
                <a:schemeClr val="dk1"/>
              </a:solidFill>
              <a:latin typeface="Calibri"/>
              <a:ea typeface="Calibri"/>
              <a:cs typeface="Calibri"/>
              <a:sym typeface="Calibri"/>
            </a:endParaRPr>
          </a:p>
        </p:txBody>
      </p:sp>
      <p:sp>
        <p:nvSpPr>
          <p:cNvPr id="269" name="Google Shape;269;p8"/>
          <p:cNvSpPr/>
          <p:nvPr/>
        </p:nvSpPr>
        <p:spPr>
          <a:xfrm>
            <a:off x="10952113" y="69848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70" name="Google Shape;270;p8"/>
          <p:cNvSpPr/>
          <p:nvPr/>
        </p:nvSpPr>
        <p:spPr>
          <a:xfrm>
            <a:off x="11223427" y="6994327"/>
            <a:ext cx="3824942"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Organization change communications</a:t>
            </a:r>
            <a:endParaRPr b="0" i="0" sz="1800" u="none" cap="none" strike="noStrike">
              <a:solidFill>
                <a:schemeClr val="dk1"/>
              </a:solidFill>
              <a:latin typeface="Calibri"/>
              <a:ea typeface="Calibri"/>
              <a:cs typeface="Calibri"/>
              <a:sym typeface="Calibri"/>
            </a:endParaRPr>
          </a:p>
        </p:txBody>
      </p:sp>
      <p:sp>
        <p:nvSpPr>
          <p:cNvPr id="271" name="Google Shape;271;p8"/>
          <p:cNvSpPr/>
          <p:nvPr/>
        </p:nvSpPr>
        <p:spPr>
          <a:xfrm>
            <a:off x="10952113" y="73753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72" name="Google Shape;272;p8"/>
          <p:cNvSpPr/>
          <p:nvPr/>
        </p:nvSpPr>
        <p:spPr>
          <a:xfrm>
            <a:off x="11223427" y="7384852"/>
            <a:ext cx="337048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Return-to-office communications</a:t>
            </a:r>
            <a:endParaRPr b="0" i="0" sz="1800" u="none" cap="none" strike="noStrike">
              <a:solidFill>
                <a:schemeClr val="dk1"/>
              </a:solidFill>
              <a:latin typeface="Calibri"/>
              <a:ea typeface="Calibri"/>
              <a:cs typeface="Calibri"/>
              <a:sym typeface="Calibri"/>
            </a:endParaRPr>
          </a:p>
        </p:txBody>
      </p:sp>
      <p:sp>
        <p:nvSpPr>
          <p:cNvPr id="273" name="Google Shape;273;p8"/>
          <p:cNvSpPr/>
          <p:nvPr/>
        </p:nvSpPr>
        <p:spPr>
          <a:xfrm>
            <a:off x="10952113" y="77658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74" name="Google Shape;274;p8"/>
          <p:cNvSpPr/>
          <p:nvPr/>
        </p:nvSpPr>
        <p:spPr>
          <a:xfrm>
            <a:off x="11223427" y="7775377"/>
            <a:ext cx="266063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Health and safety updates</a:t>
            </a:r>
            <a:endParaRPr b="0" i="0" sz="1800" u="none" cap="none" strike="noStrike">
              <a:solidFill>
                <a:schemeClr val="dk1"/>
              </a:solidFill>
              <a:latin typeface="Calibri"/>
              <a:ea typeface="Calibri"/>
              <a:cs typeface="Calibri"/>
              <a:sym typeface="Calibri"/>
            </a:endParaRPr>
          </a:p>
        </p:txBody>
      </p:sp>
      <p:sp>
        <p:nvSpPr>
          <p:cNvPr id="275" name="Google Shape;275;p8"/>
          <p:cNvSpPr/>
          <p:nvPr/>
        </p:nvSpPr>
        <p:spPr>
          <a:xfrm>
            <a:off x="10952113" y="81563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76" name="Google Shape;276;p8"/>
          <p:cNvSpPr/>
          <p:nvPr/>
        </p:nvSpPr>
        <p:spPr>
          <a:xfrm>
            <a:off x="11223427" y="8165902"/>
            <a:ext cx="331858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Meeting agendas and follow-ups</a:t>
            </a:r>
            <a:endParaRPr b="0" i="0" sz="1800" u="none" cap="none" strike="noStrike">
              <a:solidFill>
                <a:schemeClr val="dk1"/>
              </a:solidFill>
              <a:latin typeface="Calibri"/>
              <a:ea typeface="Calibri"/>
              <a:cs typeface="Calibri"/>
              <a:sym typeface="Calibri"/>
            </a:endParaRPr>
          </a:p>
        </p:txBody>
      </p:sp>
      <p:sp>
        <p:nvSpPr>
          <p:cNvPr id="277" name="Google Shape;277;p8"/>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278" name="Google Shape;278;p8"/>
          <p:cNvSpPr/>
          <p:nvPr/>
        </p:nvSpPr>
        <p:spPr>
          <a:xfrm>
            <a:off x="17114639" y="9582150"/>
            <a:ext cx="20181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6</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283" name="Shape 283"/>
        <p:cNvGrpSpPr/>
        <p:nvPr/>
      </p:nvGrpSpPr>
      <p:grpSpPr>
        <a:xfrm>
          <a:off x="0" y="0"/>
          <a:ext cx="0" cy="0"/>
          <a:chOff x="0" y="0"/>
          <a:chExt cx="0" cy="0"/>
        </a:xfrm>
      </p:grpSpPr>
      <p:sp>
        <p:nvSpPr>
          <p:cNvPr id="284" name="Google Shape;284;p9"/>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05 · AI FOR OPERATIONAL HR</a:t>
            </a:r>
            <a:endParaRPr b="0" i="0" sz="1950" u="none" cap="none" strike="noStrike">
              <a:solidFill>
                <a:schemeClr val="dk1"/>
              </a:solidFill>
              <a:latin typeface="Calibri"/>
              <a:ea typeface="Calibri"/>
              <a:cs typeface="Calibri"/>
              <a:sym typeface="Calibri"/>
            </a:endParaRPr>
          </a:p>
        </p:txBody>
      </p:sp>
      <p:sp>
        <p:nvSpPr>
          <p:cNvPr id="286" name="Google Shape;286;p9"/>
          <p:cNvSpPr/>
          <p:nvPr/>
        </p:nvSpPr>
        <p:spPr>
          <a:xfrm>
            <a:off x="1047750" y="102870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Payroll &amp; Benefits Support</a:t>
            </a:r>
            <a:endParaRPr b="0" i="0" sz="4350" u="none" cap="none" strike="noStrike">
              <a:solidFill>
                <a:schemeClr val="dk1"/>
              </a:solidFill>
              <a:latin typeface="Calibri"/>
              <a:ea typeface="Calibri"/>
              <a:cs typeface="Calibri"/>
              <a:sym typeface="Calibri"/>
            </a:endParaRPr>
          </a:p>
        </p:txBody>
      </p:sp>
      <p:sp>
        <p:nvSpPr>
          <p:cNvPr id="287" name="Google Shape;287;p9"/>
          <p:cNvSpPr/>
          <p:nvPr/>
        </p:nvSpPr>
        <p:spPr>
          <a:xfrm>
            <a:off x="1047750" y="1736527"/>
            <a:ext cx="1781175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2175"/>
              <a:buFont typeface="Calibri"/>
              <a:buNone/>
            </a:pPr>
            <a:r>
              <a:rPr b="0" i="0" lang="en-US" sz="2175" u="none" cap="none" strike="noStrike">
                <a:solidFill>
                  <a:srgbClr val="9E9E9E"/>
                </a:solidFill>
                <a:latin typeface="Calibri"/>
                <a:ea typeface="Calibri"/>
                <a:cs typeface="Calibri"/>
                <a:sym typeface="Calibri"/>
              </a:rPr>
              <a:t>Make pay and benefits easier for employees to understand.</a:t>
            </a:r>
            <a:endParaRPr b="0" i="0" sz="2175" u="none" cap="none" strike="noStrike">
              <a:solidFill>
                <a:schemeClr val="dk1"/>
              </a:solidFill>
              <a:latin typeface="Calibri"/>
              <a:ea typeface="Calibri"/>
              <a:cs typeface="Calibri"/>
              <a:sym typeface="Calibri"/>
            </a:endParaRPr>
          </a:p>
        </p:txBody>
      </p:sp>
      <p:sp>
        <p:nvSpPr>
          <p:cNvPr id="288" name="Google Shape;288;p9"/>
          <p:cNvSpPr/>
          <p:nvPr/>
        </p:nvSpPr>
        <p:spPr>
          <a:xfrm>
            <a:off x="1047750" y="2403277"/>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SCENARIO</a:t>
            </a:r>
            <a:endParaRPr b="0" i="0" sz="1800" u="none" cap="none" strike="noStrike">
              <a:solidFill>
                <a:schemeClr val="dk1"/>
              </a:solidFill>
              <a:latin typeface="Calibri"/>
              <a:ea typeface="Calibri"/>
              <a:cs typeface="Calibri"/>
              <a:sym typeface="Calibri"/>
            </a:endParaRPr>
          </a:p>
        </p:txBody>
      </p:sp>
      <p:sp>
        <p:nvSpPr>
          <p:cNvPr id="289" name="Google Shape;289;p9"/>
          <p:cNvSpPr/>
          <p:nvPr/>
        </p:nvSpPr>
        <p:spPr>
          <a:xfrm>
            <a:off x="1047750" y="2793802"/>
            <a:ext cx="9465688" cy="75813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Employees are confused about their payslips — particularly taxes, pension deductions and net pay. HR needs a simple explanation guide.</a:t>
            </a:r>
            <a:endParaRPr b="0" i="0" sz="2025" u="none" cap="none" strike="noStrike">
              <a:solidFill>
                <a:schemeClr val="dk1"/>
              </a:solidFill>
              <a:latin typeface="Calibri"/>
              <a:ea typeface="Calibri"/>
              <a:cs typeface="Calibri"/>
              <a:sym typeface="Calibri"/>
            </a:endParaRPr>
          </a:p>
        </p:txBody>
      </p:sp>
      <p:sp>
        <p:nvSpPr>
          <p:cNvPr id="290" name="Google Shape;290;p9"/>
          <p:cNvSpPr/>
          <p:nvPr/>
        </p:nvSpPr>
        <p:spPr>
          <a:xfrm>
            <a:off x="1047750" y="3761482"/>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PROMPT</a:t>
            </a:r>
            <a:endParaRPr b="0" i="0" sz="1800" u="none" cap="none" strike="noStrike">
              <a:solidFill>
                <a:schemeClr val="dk1"/>
              </a:solidFill>
              <a:latin typeface="Calibri"/>
              <a:ea typeface="Calibri"/>
              <a:cs typeface="Calibri"/>
              <a:sym typeface="Calibri"/>
            </a:endParaRPr>
          </a:p>
        </p:txBody>
      </p:sp>
      <p:sp>
        <p:nvSpPr>
          <p:cNvPr id="291" name="Google Shape;291;p9"/>
          <p:cNvSpPr/>
          <p:nvPr/>
        </p:nvSpPr>
        <p:spPr>
          <a:xfrm>
            <a:off x="1047750" y="4152007"/>
            <a:ext cx="9189988" cy="1128713"/>
          </a:xfrm>
          <a:prstGeom prst="roundRect">
            <a:avLst>
              <a:gd fmla="val 11814"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
          <p:cNvSpPr/>
          <p:nvPr/>
        </p:nvSpPr>
        <p:spPr>
          <a:xfrm>
            <a:off x="1304925" y="4371082"/>
            <a:ext cx="8951338" cy="728662"/>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E6E6E6"/>
              </a:buClr>
              <a:buSzPts val="1875"/>
              <a:buFont typeface="Calibri"/>
              <a:buNone/>
            </a:pPr>
            <a:r>
              <a:rPr b="0" i="0" lang="en-US" sz="1875" u="none" cap="none" strike="noStrike">
                <a:solidFill>
                  <a:srgbClr val="E6E6E6"/>
                </a:solidFill>
                <a:latin typeface="Calibri"/>
                <a:ea typeface="Calibri"/>
                <a:cs typeface="Calibri"/>
                <a:sym typeface="Calibri"/>
              </a:rPr>
              <a:t>Create a clear, employee-friendly payslip explanation that breaks down the key components of a typical salary slip in simple language.</a:t>
            </a:r>
            <a:endParaRPr b="0" i="0" sz="1875" u="none" cap="none" strike="noStrike">
              <a:solidFill>
                <a:schemeClr val="dk1"/>
              </a:solidFill>
              <a:latin typeface="Calibri"/>
              <a:ea typeface="Calibri"/>
              <a:cs typeface="Calibri"/>
              <a:sym typeface="Calibri"/>
            </a:endParaRPr>
          </a:p>
        </p:txBody>
      </p:sp>
      <p:sp>
        <p:nvSpPr>
          <p:cNvPr id="293" name="Google Shape;293;p9"/>
          <p:cNvSpPr/>
          <p:nvPr/>
        </p:nvSpPr>
        <p:spPr>
          <a:xfrm>
            <a:off x="1047750" y="5509320"/>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DRAFT</a:t>
            </a:r>
            <a:endParaRPr b="0" i="0" sz="1800" u="none" cap="none" strike="noStrike">
              <a:solidFill>
                <a:schemeClr val="dk1"/>
              </a:solidFill>
              <a:latin typeface="Calibri"/>
              <a:ea typeface="Calibri"/>
              <a:cs typeface="Calibri"/>
              <a:sym typeface="Calibri"/>
            </a:endParaRPr>
          </a:p>
        </p:txBody>
      </p:sp>
      <p:sp>
        <p:nvSpPr>
          <p:cNvPr id="294" name="Google Shape;294;p9"/>
          <p:cNvSpPr/>
          <p:nvPr/>
        </p:nvSpPr>
        <p:spPr>
          <a:xfrm>
            <a:off x="1047750" y="5899845"/>
            <a:ext cx="9189988" cy="3247876"/>
          </a:xfrm>
          <a:prstGeom prst="roundRect">
            <a:avLst>
              <a:gd fmla="val 4106"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
          <p:cNvSpPr/>
          <p:nvPr/>
        </p:nvSpPr>
        <p:spPr>
          <a:xfrm>
            <a:off x="1304925" y="6118920"/>
            <a:ext cx="9543202"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75"/>
              <a:buFont typeface="Calibri"/>
              <a:buNone/>
            </a:pPr>
            <a:r>
              <a:rPr b="1" i="0" lang="en-US" sz="1875" u="none" cap="none" strike="noStrike">
                <a:solidFill>
                  <a:srgbClr val="FFD65C"/>
                </a:solidFill>
                <a:latin typeface="Calibri"/>
                <a:ea typeface="Calibri"/>
                <a:cs typeface="Calibri"/>
                <a:sym typeface="Calibri"/>
              </a:rPr>
              <a:t>Understanding Your Payslip</a:t>
            </a:r>
            <a:endParaRPr b="0" i="0" sz="1875" u="none" cap="none" strike="noStrike">
              <a:solidFill>
                <a:schemeClr val="dk1"/>
              </a:solidFill>
              <a:latin typeface="Calibri"/>
              <a:ea typeface="Calibri"/>
              <a:cs typeface="Calibri"/>
              <a:sym typeface="Calibri"/>
            </a:endParaRPr>
          </a:p>
        </p:txBody>
      </p:sp>
      <p:sp>
        <p:nvSpPr>
          <p:cNvPr id="296" name="Google Shape;296;p9"/>
          <p:cNvSpPr/>
          <p:nvPr/>
        </p:nvSpPr>
        <p:spPr>
          <a:xfrm>
            <a:off x="1304925" y="6509445"/>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Gross salary</a:t>
            </a:r>
            <a:r>
              <a:rPr b="0" i="0" lang="en-US" sz="1800" u="none" cap="none" strike="noStrike">
                <a:solidFill>
                  <a:srgbClr val="E6E6E6"/>
                </a:solidFill>
                <a:latin typeface="Calibri"/>
                <a:ea typeface="Calibri"/>
                <a:cs typeface="Calibri"/>
                <a:sym typeface="Calibri"/>
              </a:rPr>
              <a:t> Your total salary before deductions.</a:t>
            </a:r>
            <a:endParaRPr b="0" i="0" sz="1800" u="none" cap="none" strike="noStrike">
              <a:solidFill>
                <a:schemeClr val="dk1"/>
              </a:solidFill>
              <a:latin typeface="Calibri"/>
              <a:ea typeface="Calibri"/>
              <a:cs typeface="Calibri"/>
              <a:sym typeface="Calibri"/>
            </a:endParaRPr>
          </a:p>
        </p:txBody>
      </p:sp>
      <p:sp>
        <p:nvSpPr>
          <p:cNvPr id="297" name="Google Shape;297;p9"/>
          <p:cNvSpPr/>
          <p:nvPr/>
        </p:nvSpPr>
        <p:spPr>
          <a:xfrm>
            <a:off x="1304925" y="6881664"/>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Taxes </a:t>
            </a:r>
            <a:r>
              <a:rPr b="0" i="0" lang="en-US" sz="1800" u="none" cap="none" strike="noStrike">
                <a:solidFill>
                  <a:srgbClr val="E6E6E6"/>
                </a:solidFill>
                <a:latin typeface="Calibri"/>
                <a:ea typeface="Calibri"/>
                <a:cs typeface="Calibri"/>
                <a:sym typeface="Calibri"/>
              </a:rPr>
              <a:t>Income tax deducted according to your tax rate.</a:t>
            </a:r>
            <a:endParaRPr b="0" i="0" sz="1800" u="none" cap="none" strike="noStrike">
              <a:solidFill>
                <a:schemeClr val="dk1"/>
              </a:solidFill>
              <a:latin typeface="Calibri"/>
              <a:ea typeface="Calibri"/>
              <a:cs typeface="Calibri"/>
              <a:sym typeface="Calibri"/>
            </a:endParaRPr>
          </a:p>
        </p:txBody>
      </p:sp>
      <p:sp>
        <p:nvSpPr>
          <p:cNvPr id="298" name="Google Shape;298;p9"/>
          <p:cNvSpPr/>
          <p:nvPr/>
        </p:nvSpPr>
        <p:spPr>
          <a:xfrm>
            <a:off x="1304925" y="7253883"/>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Pension </a:t>
            </a:r>
            <a:r>
              <a:rPr b="0" i="0" lang="en-US" sz="1800" u="none" cap="none" strike="noStrike">
                <a:solidFill>
                  <a:srgbClr val="E6E6E6"/>
                </a:solidFill>
                <a:latin typeface="Calibri"/>
                <a:ea typeface="Calibri"/>
                <a:cs typeface="Calibri"/>
                <a:sym typeface="Calibri"/>
              </a:rPr>
              <a:t> Your contribution to retirement savings.</a:t>
            </a:r>
            <a:endParaRPr b="0" i="0" sz="1800" u="none" cap="none" strike="noStrike">
              <a:solidFill>
                <a:schemeClr val="dk1"/>
              </a:solidFill>
              <a:latin typeface="Calibri"/>
              <a:ea typeface="Calibri"/>
              <a:cs typeface="Calibri"/>
              <a:sym typeface="Calibri"/>
            </a:endParaRPr>
          </a:p>
        </p:txBody>
      </p:sp>
      <p:sp>
        <p:nvSpPr>
          <p:cNvPr id="299" name="Google Shape;299;p9"/>
          <p:cNvSpPr/>
          <p:nvPr/>
        </p:nvSpPr>
        <p:spPr>
          <a:xfrm>
            <a:off x="1304925" y="7626102"/>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Other deductions </a:t>
            </a:r>
            <a:r>
              <a:rPr b="0" i="0" lang="en-US" sz="1800" u="none" cap="none" strike="noStrike">
                <a:solidFill>
                  <a:srgbClr val="E6E6E6"/>
                </a:solidFill>
                <a:latin typeface="Calibri"/>
                <a:ea typeface="Calibri"/>
                <a:cs typeface="Calibri"/>
                <a:sym typeface="Calibri"/>
              </a:rPr>
              <a:t> Items such as insurance or benefits.</a:t>
            </a:r>
            <a:endParaRPr b="0" i="0" sz="1800" u="none" cap="none" strike="noStrike">
              <a:solidFill>
                <a:schemeClr val="dk1"/>
              </a:solidFill>
              <a:latin typeface="Calibri"/>
              <a:ea typeface="Calibri"/>
              <a:cs typeface="Calibri"/>
              <a:sym typeface="Calibri"/>
            </a:endParaRPr>
          </a:p>
        </p:txBody>
      </p:sp>
      <p:sp>
        <p:nvSpPr>
          <p:cNvPr id="300" name="Google Shape;300;p9"/>
          <p:cNvSpPr/>
          <p:nvPr/>
        </p:nvSpPr>
        <p:spPr>
          <a:xfrm>
            <a:off x="1304925" y="7998321"/>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Net salary </a:t>
            </a:r>
            <a:r>
              <a:rPr b="0" i="0" lang="en-US" sz="1800" u="none" cap="none" strike="noStrike">
                <a:solidFill>
                  <a:srgbClr val="E6E6E6"/>
                </a:solidFill>
                <a:latin typeface="Calibri"/>
                <a:ea typeface="Calibri"/>
                <a:cs typeface="Calibri"/>
                <a:sym typeface="Calibri"/>
              </a:rPr>
              <a:t>The final amount paid to your bank account.</a:t>
            </a:r>
            <a:endParaRPr b="0" i="0" sz="1800" u="none" cap="none" strike="noStrike">
              <a:solidFill>
                <a:schemeClr val="dk1"/>
              </a:solidFill>
              <a:latin typeface="Calibri"/>
              <a:ea typeface="Calibri"/>
              <a:cs typeface="Calibri"/>
              <a:sym typeface="Calibri"/>
            </a:endParaRPr>
          </a:p>
        </p:txBody>
      </p:sp>
      <p:sp>
        <p:nvSpPr>
          <p:cNvPr id="301" name="Google Shape;301;p9"/>
          <p:cNvSpPr/>
          <p:nvPr/>
        </p:nvSpPr>
        <p:spPr>
          <a:xfrm>
            <a:off x="1304925" y="8475315"/>
            <a:ext cx="8675638" cy="9525"/>
          </a:xfrm>
          <a:prstGeom prst="rect">
            <a:avLst/>
          </a:prstGeom>
          <a:solidFill>
            <a:srgbClr val="FFD65C">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1304925" y="8608665"/>
            <a:ext cx="8935907" cy="35808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HR review: </a:t>
            </a:r>
            <a:r>
              <a:rPr b="0" i="0" lang="en-US" sz="1800" u="none" cap="none" strike="noStrike">
                <a:solidFill>
                  <a:srgbClr val="9E9E9E"/>
                </a:solidFill>
                <a:latin typeface="Calibri"/>
                <a:ea typeface="Calibri"/>
                <a:cs typeface="Calibri"/>
                <a:sym typeface="Calibri"/>
              </a:rPr>
              <a:t>check figures and wording before sharing with employees.</a:t>
            </a:r>
            <a:endParaRPr b="0" i="0" sz="1800" u="none" cap="none" strike="noStrike">
              <a:solidFill>
                <a:schemeClr val="dk1"/>
              </a:solidFill>
              <a:latin typeface="Calibri"/>
              <a:ea typeface="Calibri"/>
              <a:cs typeface="Calibri"/>
              <a:sym typeface="Calibri"/>
            </a:endParaRPr>
          </a:p>
        </p:txBody>
      </p:sp>
      <p:sp>
        <p:nvSpPr>
          <p:cNvPr id="303" name="Google Shape;303;p9"/>
          <p:cNvSpPr/>
          <p:nvPr/>
        </p:nvSpPr>
        <p:spPr>
          <a:xfrm>
            <a:off x="10675888" y="2403277"/>
            <a:ext cx="722063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OTHER SCENARIOS</a:t>
            </a:r>
            <a:endParaRPr b="0" i="0" sz="1800" u="none" cap="none" strike="noStrike">
              <a:solidFill>
                <a:schemeClr val="dk1"/>
              </a:solidFill>
              <a:latin typeface="Calibri"/>
              <a:ea typeface="Calibri"/>
              <a:cs typeface="Calibri"/>
              <a:sym typeface="Calibri"/>
            </a:endParaRPr>
          </a:p>
        </p:txBody>
      </p:sp>
      <p:sp>
        <p:nvSpPr>
          <p:cNvPr id="304" name="Google Shape;304;p9"/>
          <p:cNvSpPr/>
          <p:nvPr/>
        </p:nvSpPr>
        <p:spPr>
          <a:xfrm>
            <a:off x="10675888" y="2793802"/>
            <a:ext cx="6564213" cy="6096000"/>
          </a:xfrm>
          <a:prstGeom prst="roundRect">
            <a:avLst>
              <a:gd fmla="val 2188"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p:nvPr/>
        </p:nvSpPr>
        <p:spPr>
          <a:xfrm>
            <a:off x="10952113" y="30795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06" name="Google Shape;306;p9"/>
          <p:cNvSpPr/>
          <p:nvPr/>
        </p:nvSpPr>
        <p:spPr>
          <a:xfrm>
            <a:off x="11223427" y="3089077"/>
            <a:ext cx="385408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Explaining payslips in simple language</a:t>
            </a:r>
            <a:endParaRPr b="0" i="0" sz="1800" u="none" cap="none" strike="noStrike">
              <a:solidFill>
                <a:schemeClr val="dk1"/>
              </a:solidFill>
              <a:latin typeface="Calibri"/>
              <a:ea typeface="Calibri"/>
              <a:cs typeface="Calibri"/>
              <a:sym typeface="Calibri"/>
            </a:endParaRPr>
          </a:p>
        </p:txBody>
      </p:sp>
      <p:sp>
        <p:nvSpPr>
          <p:cNvPr id="307" name="Google Shape;307;p9"/>
          <p:cNvSpPr/>
          <p:nvPr/>
        </p:nvSpPr>
        <p:spPr>
          <a:xfrm>
            <a:off x="10952113" y="34700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08" name="Google Shape;308;p9"/>
          <p:cNvSpPr/>
          <p:nvPr/>
        </p:nvSpPr>
        <p:spPr>
          <a:xfrm>
            <a:off x="11223427" y="3479602"/>
            <a:ext cx="2637056"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Creating payroll checklists</a:t>
            </a:r>
            <a:endParaRPr b="0" i="0" sz="1800" u="none" cap="none" strike="noStrike">
              <a:solidFill>
                <a:schemeClr val="dk1"/>
              </a:solidFill>
              <a:latin typeface="Calibri"/>
              <a:ea typeface="Calibri"/>
              <a:cs typeface="Calibri"/>
              <a:sym typeface="Calibri"/>
            </a:endParaRPr>
          </a:p>
        </p:txBody>
      </p:sp>
      <p:sp>
        <p:nvSpPr>
          <p:cNvPr id="309" name="Google Shape;309;p9"/>
          <p:cNvSpPr/>
          <p:nvPr/>
        </p:nvSpPr>
        <p:spPr>
          <a:xfrm>
            <a:off x="10952113" y="38606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10" name="Google Shape;310;p9"/>
          <p:cNvSpPr/>
          <p:nvPr/>
        </p:nvSpPr>
        <p:spPr>
          <a:xfrm>
            <a:off x="11223427" y="3870127"/>
            <a:ext cx="201102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Benefits summaries</a:t>
            </a:r>
            <a:endParaRPr b="0" i="0" sz="1800" u="none" cap="none" strike="noStrike">
              <a:solidFill>
                <a:schemeClr val="dk1"/>
              </a:solidFill>
              <a:latin typeface="Calibri"/>
              <a:ea typeface="Calibri"/>
              <a:cs typeface="Calibri"/>
              <a:sym typeface="Calibri"/>
            </a:endParaRPr>
          </a:p>
        </p:txBody>
      </p:sp>
      <p:sp>
        <p:nvSpPr>
          <p:cNvPr id="311" name="Google Shape;311;p9"/>
          <p:cNvSpPr/>
          <p:nvPr/>
        </p:nvSpPr>
        <p:spPr>
          <a:xfrm>
            <a:off x="10952113" y="42511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12" name="Google Shape;312;p9"/>
          <p:cNvSpPr/>
          <p:nvPr/>
        </p:nvSpPr>
        <p:spPr>
          <a:xfrm>
            <a:off x="11223427" y="4260652"/>
            <a:ext cx="398079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Tax guidance for employees (non-legal)</a:t>
            </a:r>
            <a:endParaRPr b="0" i="0" sz="1800" u="none" cap="none" strike="noStrike">
              <a:solidFill>
                <a:schemeClr val="dk1"/>
              </a:solidFill>
              <a:latin typeface="Calibri"/>
              <a:ea typeface="Calibri"/>
              <a:cs typeface="Calibri"/>
              <a:sym typeface="Calibri"/>
            </a:endParaRPr>
          </a:p>
        </p:txBody>
      </p:sp>
      <p:sp>
        <p:nvSpPr>
          <p:cNvPr id="313" name="Google Shape;313;p9"/>
          <p:cNvSpPr/>
          <p:nvPr/>
        </p:nvSpPr>
        <p:spPr>
          <a:xfrm>
            <a:off x="10952113" y="46416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14" name="Google Shape;314;p9"/>
          <p:cNvSpPr/>
          <p:nvPr/>
        </p:nvSpPr>
        <p:spPr>
          <a:xfrm>
            <a:off x="11223427" y="4651177"/>
            <a:ext cx="2354327"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Payroll FAQ documents</a:t>
            </a:r>
            <a:endParaRPr b="0" i="0" sz="1800" u="none" cap="none" strike="noStrike">
              <a:solidFill>
                <a:schemeClr val="dk1"/>
              </a:solidFill>
              <a:latin typeface="Calibri"/>
              <a:ea typeface="Calibri"/>
              <a:cs typeface="Calibri"/>
              <a:sym typeface="Calibri"/>
            </a:endParaRPr>
          </a:p>
        </p:txBody>
      </p:sp>
      <p:sp>
        <p:nvSpPr>
          <p:cNvPr id="315" name="Google Shape;315;p9"/>
          <p:cNvSpPr/>
          <p:nvPr/>
        </p:nvSpPr>
        <p:spPr>
          <a:xfrm>
            <a:off x="10952113" y="50321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16" name="Google Shape;316;p9"/>
          <p:cNvSpPr/>
          <p:nvPr/>
        </p:nvSpPr>
        <p:spPr>
          <a:xfrm>
            <a:off x="11223427" y="5041702"/>
            <a:ext cx="271154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Monthly payroll reminders</a:t>
            </a:r>
            <a:endParaRPr b="0" i="0" sz="1800" u="none" cap="none" strike="noStrike">
              <a:solidFill>
                <a:schemeClr val="dk1"/>
              </a:solidFill>
              <a:latin typeface="Calibri"/>
              <a:ea typeface="Calibri"/>
              <a:cs typeface="Calibri"/>
              <a:sym typeface="Calibri"/>
            </a:endParaRPr>
          </a:p>
        </p:txBody>
      </p:sp>
      <p:sp>
        <p:nvSpPr>
          <p:cNvPr id="317" name="Google Shape;317;p9"/>
          <p:cNvSpPr/>
          <p:nvPr/>
        </p:nvSpPr>
        <p:spPr>
          <a:xfrm>
            <a:off x="10952113" y="54227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18" name="Google Shape;318;p9"/>
          <p:cNvSpPr/>
          <p:nvPr/>
        </p:nvSpPr>
        <p:spPr>
          <a:xfrm>
            <a:off x="11223427" y="5432227"/>
            <a:ext cx="3202022"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Pre-payroll validation checklists</a:t>
            </a:r>
            <a:endParaRPr b="0" i="0" sz="1800" u="none" cap="none" strike="noStrike">
              <a:solidFill>
                <a:schemeClr val="dk1"/>
              </a:solidFill>
              <a:latin typeface="Calibri"/>
              <a:ea typeface="Calibri"/>
              <a:cs typeface="Calibri"/>
              <a:sym typeface="Calibri"/>
            </a:endParaRPr>
          </a:p>
        </p:txBody>
      </p:sp>
      <p:sp>
        <p:nvSpPr>
          <p:cNvPr id="319" name="Google Shape;319;p9"/>
          <p:cNvSpPr/>
          <p:nvPr/>
        </p:nvSpPr>
        <p:spPr>
          <a:xfrm>
            <a:off x="10952113" y="58132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20" name="Google Shape;320;p9"/>
          <p:cNvSpPr/>
          <p:nvPr/>
        </p:nvSpPr>
        <p:spPr>
          <a:xfrm>
            <a:off x="11223427" y="5822752"/>
            <a:ext cx="3020467"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New hire payroll setup guides</a:t>
            </a:r>
            <a:endParaRPr b="0" i="0" sz="1800" u="none" cap="none" strike="noStrike">
              <a:solidFill>
                <a:schemeClr val="dk1"/>
              </a:solidFill>
              <a:latin typeface="Calibri"/>
              <a:ea typeface="Calibri"/>
              <a:cs typeface="Calibri"/>
              <a:sym typeface="Calibri"/>
            </a:endParaRPr>
          </a:p>
        </p:txBody>
      </p:sp>
      <p:sp>
        <p:nvSpPr>
          <p:cNvPr id="321" name="Google Shape;321;p9"/>
          <p:cNvSpPr/>
          <p:nvPr/>
        </p:nvSpPr>
        <p:spPr>
          <a:xfrm>
            <a:off x="10952113" y="62037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22" name="Google Shape;322;p9"/>
          <p:cNvSpPr/>
          <p:nvPr/>
        </p:nvSpPr>
        <p:spPr>
          <a:xfrm>
            <a:off x="11223427" y="6213277"/>
            <a:ext cx="3645188"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Salary review communication drafts</a:t>
            </a:r>
            <a:endParaRPr b="0" i="0" sz="1800" u="none" cap="none" strike="noStrike">
              <a:solidFill>
                <a:schemeClr val="dk1"/>
              </a:solidFill>
              <a:latin typeface="Calibri"/>
              <a:ea typeface="Calibri"/>
              <a:cs typeface="Calibri"/>
              <a:sym typeface="Calibri"/>
            </a:endParaRPr>
          </a:p>
        </p:txBody>
      </p:sp>
      <p:sp>
        <p:nvSpPr>
          <p:cNvPr id="323" name="Google Shape;323;p9"/>
          <p:cNvSpPr/>
          <p:nvPr/>
        </p:nvSpPr>
        <p:spPr>
          <a:xfrm>
            <a:off x="10952113" y="65942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24" name="Google Shape;324;p9"/>
          <p:cNvSpPr/>
          <p:nvPr/>
        </p:nvSpPr>
        <p:spPr>
          <a:xfrm>
            <a:off x="11223427" y="6603802"/>
            <a:ext cx="3408462"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Bonus and incentive explanations</a:t>
            </a:r>
            <a:endParaRPr b="0" i="0" sz="1800" u="none" cap="none" strike="noStrike">
              <a:solidFill>
                <a:schemeClr val="dk1"/>
              </a:solidFill>
              <a:latin typeface="Calibri"/>
              <a:ea typeface="Calibri"/>
              <a:cs typeface="Calibri"/>
              <a:sym typeface="Calibri"/>
            </a:endParaRPr>
          </a:p>
        </p:txBody>
      </p:sp>
      <p:sp>
        <p:nvSpPr>
          <p:cNvPr id="325" name="Google Shape;325;p9"/>
          <p:cNvSpPr/>
          <p:nvPr/>
        </p:nvSpPr>
        <p:spPr>
          <a:xfrm>
            <a:off x="10952113" y="69848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26" name="Google Shape;326;p9"/>
          <p:cNvSpPr/>
          <p:nvPr/>
        </p:nvSpPr>
        <p:spPr>
          <a:xfrm>
            <a:off x="11223427" y="6994327"/>
            <a:ext cx="327405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Benefits enrollment instructions</a:t>
            </a:r>
            <a:endParaRPr b="0" i="0" sz="1800" u="none" cap="none" strike="noStrike">
              <a:solidFill>
                <a:schemeClr val="dk1"/>
              </a:solidFill>
              <a:latin typeface="Calibri"/>
              <a:ea typeface="Calibri"/>
              <a:cs typeface="Calibri"/>
              <a:sym typeface="Calibri"/>
            </a:endParaRPr>
          </a:p>
        </p:txBody>
      </p:sp>
      <p:sp>
        <p:nvSpPr>
          <p:cNvPr id="327" name="Google Shape;327;p9"/>
          <p:cNvSpPr/>
          <p:nvPr/>
        </p:nvSpPr>
        <p:spPr>
          <a:xfrm>
            <a:off x="10952113" y="73753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28" name="Google Shape;328;p9"/>
          <p:cNvSpPr/>
          <p:nvPr/>
        </p:nvSpPr>
        <p:spPr>
          <a:xfrm>
            <a:off x="11223427" y="7384852"/>
            <a:ext cx="357381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Expense reimbursement guidelines</a:t>
            </a:r>
            <a:endParaRPr b="0" i="0" sz="1800" u="none" cap="none" strike="noStrike">
              <a:solidFill>
                <a:schemeClr val="dk1"/>
              </a:solidFill>
              <a:latin typeface="Calibri"/>
              <a:ea typeface="Calibri"/>
              <a:cs typeface="Calibri"/>
              <a:sym typeface="Calibri"/>
            </a:endParaRPr>
          </a:p>
        </p:txBody>
      </p:sp>
      <p:sp>
        <p:nvSpPr>
          <p:cNvPr id="329" name="Google Shape;329;p9"/>
          <p:cNvSpPr/>
          <p:nvPr/>
        </p:nvSpPr>
        <p:spPr>
          <a:xfrm>
            <a:off x="10952113" y="77658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30" name="Google Shape;330;p9"/>
          <p:cNvSpPr/>
          <p:nvPr/>
        </p:nvSpPr>
        <p:spPr>
          <a:xfrm>
            <a:off x="11223427" y="7775377"/>
            <a:ext cx="3057138"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Salary deduction explanations</a:t>
            </a:r>
            <a:endParaRPr b="0" i="0" sz="1800" u="none" cap="none" strike="noStrike">
              <a:solidFill>
                <a:schemeClr val="dk1"/>
              </a:solidFill>
              <a:latin typeface="Calibri"/>
              <a:ea typeface="Calibri"/>
              <a:cs typeface="Calibri"/>
              <a:sym typeface="Calibri"/>
            </a:endParaRPr>
          </a:p>
        </p:txBody>
      </p:sp>
      <p:sp>
        <p:nvSpPr>
          <p:cNvPr id="331" name="Google Shape;331;p9"/>
          <p:cNvSpPr/>
          <p:nvPr/>
        </p:nvSpPr>
        <p:spPr>
          <a:xfrm>
            <a:off x="10952113" y="81563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32" name="Google Shape;332;p9"/>
          <p:cNvSpPr/>
          <p:nvPr/>
        </p:nvSpPr>
        <p:spPr>
          <a:xfrm>
            <a:off x="11223427" y="8165902"/>
            <a:ext cx="287509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Final pay explanation guides</a:t>
            </a:r>
            <a:endParaRPr b="0" i="0" sz="1800" u="none" cap="none" strike="noStrike">
              <a:solidFill>
                <a:schemeClr val="dk1"/>
              </a:solidFill>
              <a:latin typeface="Calibri"/>
              <a:ea typeface="Calibri"/>
              <a:cs typeface="Calibri"/>
              <a:sym typeface="Calibri"/>
            </a:endParaRPr>
          </a:p>
        </p:txBody>
      </p:sp>
      <p:sp>
        <p:nvSpPr>
          <p:cNvPr id="333" name="Google Shape;333;p9"/>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334" name="Google Shape;334;p9"/>
          <p:cNvSpPr/>
          <p:nvPr/>
        </p:nvSpPr>
        <p:spPr>
          <a:xfrm>
            <a:off x="17114639" y="9582150"/>
            <a:ext cx="20181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7</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339" name="Shape 339"/>
        <p:cNvGrpSpPr/>
        <p:nvPr/>
      </p:nvGrpSpPr>
      <p:grpSpPr>
        <a:xfrm>
          <a:off x="0" y="0"/>
          <a:ext cx="0" cy="0"/>
          <a:chOff x="0" y="0"/>
          <a:chExt cx="0" cy="0"/>
        </a:xfrm>
      </p:grpSpPr>
      <p:sp>
        <p:nvSpPr>
          <p:cNvPr id="340" name="Google Shape;340;p10"/>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0"/>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06 · AI FOR OPERATIONAL HR</a:t>
            </a:r>
            <a:endParaRPr b="0" i="0" sz="1950" u="none" cap="none" strike="noStrike">
              <a:solidFill>
                <a:schemeClr val="dk1"/>
              </a:solidFill>
              <a:latin typeface="Calibri"/>
              <a:ea typeface="Calibri"/>
              <a:cs typeface="Calibri"/>
              <a:sym typeface="Calibri"/>
            </a:endParaRPr>
          </a:p>
        </p:txBody>
      </p:sp>
      <p:sp>
        <p:nvSpPr>
          <p:cNvPr id="342" name="Google Shape;342;p10"/>
          <p:cNvSpPr/>
          <p:nvPr/>
        </p:nvSpPr>
        <p:spPr>
          <a:xfrm>
            <a:off x="1047750" y="102870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Leave Management</a:t>
            </a:r>
            <a:endParaRPr b="0" i="0" sz="4350" u="none" cap="none" strike="noStrike">
              <a:solidFill>
                <a:schemeClr val="dk1"/>
              </a:solidFill>
              <a:latin typeface="Calibri"/>
              <a:ea typeface="Calibri"/>
              <a:cs typeface="Calibri"/>
              <a:sym typeface="Calibri"/>
            </a:endParaRPr>
          </a:p>
        </p:txBody>
      </p:sp>
      <p:sp>
        <p:nvSpPr>
          <p:cNvPr id="343" name="Google Shape;343;p10"/>
          <p:cNvSpPr/>
          <p:nvPr/>
        </p:nvSpPr>
        <p:spPr>
          <a:xfrm>
            <a:off x="1047750" y="1736527"/>
            <a:ext cx="1781175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2175"/>
              <a:buFont typeface="Calibri"/>
              <a:buNone/>
            </a:pPr>
            <a:r>
              <a:rPr b="0" i="0" lang="en-US" sz="2175" u="none" cap="none" strike="noStrike">
                <a:solidFill>
                  <a:srgbClr val="9E9E9E"/>
                </a:solidFill>
                <a:latin typeface="Calibri"/>
                <a:ea typeface="Calibri"/>
                <a:cs typeface="Calibri"/>
                <a:sym typeface="Calibri"/>
              </a:rPr>
              <a:t>Simplify leave requests, approvals and returns to work.</a:t>
            </a:r>
            <a:endParaRPr b="0" i="0" sz="2175" u="none" cap="none" strike="noStrike">
              <a:solidFill>
                <a:schemeClr val="dk1"/>
              </a:solidFill>
              <a:latin typeface="Calibri"/>
              <a:ea typeface="Calibri"/>
              <a:cs typeface="Calibri"/>
              <a:sym typeface="Calibri"/>
            </a:endParaRPr>
          </a:p>
        </p:txBody>
      </p:sp>
      <p:sp>
        <p:nvSpPr>
          <p:cNvPr id="344" name="Google Shape;344;p10"/>
          <p:cNvSpPr/>
          <p:nvPr/>
        </p:nvSpPr>
        <p:spPr>
          <a:xfrm>
            <a:off x="1047750" y="2403277"/>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SCENARIO</a:t>
            </a:r>
            <a:endParaRPr b="0" i="0" sz="1800" u="none" cap="none" strike="noStrike">
              <a:solidFill>
                <a:schemeClr val="dk1"/>
              </a:solidFill>
              <a:latin typeface="Calibri"/>
              <a:ea typeface="Calibri"/>
              <a:cs typeface="Calibri"/>
              <a:sym typeface="Calibri"/>
            </a:endParaRPr>
          </a:p>
        </p:txBody>
      </p:sp>
      <p:sp>
        <p:nvSpPr>
          <p:cNvPr id="345" name="Google Shape;345;p10"/>
          <p:cNvSpPr/>
          <p:nvPr/>
        </p:nvSpPr>
        <p:spPr>
          <a:xfrm>
            <a:off x="1047750" y="2793802"/>
            <a:ext cx="9465688" cy="75813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Employees are unsure how to request annual leave in the new self-service system, and managers want a consistent way to review approvals.</a:t>
            </a:r>
            <a:endParaRPr b="0" i="0" sz="2025" u="none" cap="none" strike="noStrike">
              <a:solidFill>
                <a:schemeClr val="dk1"/>
              </a:solidFill>
              <a:latin typeface="Calibri"/>
              <a:ea typeface="Calibri"/>
              <a:cs typeface="Calibri"/>
              <a:sym typeface="Calibri"/>
            </a:endParaRPr>
          </a:p>
        </p:txBody>
      </p:sp>
      <p:sp>
        <p:nvSpPr>
          <p:cNvPr id="346" name="Google Shape;346;p10"/>
          <p:cNvSpPr/>
          <p:nvPr/>
        </p:nvSpPr>
        <p:spPr>
          <a:xfrm>
            <a:off x="1047750" y="3761482"/>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PROMPT</a:t>
            </a:r>
            <a:endParaRPr b="0" i="0" sz="1800" u="none" cap="none" strike="noStrike">
              <a:solidFill>
                <a:schemeClr val="dk1"/>
              </a:solidFill>
              <a:latin typeface="Calibri"/>
              <a:ea typeface="Calibri"/>
              <a:cs typeface="Calibri"/>
              <a:sym typeface="Calibri"/>
            </a:endParaRPr>
          </a:p>
        </p:txBody>
      </p:sp>
      <p:sp>
        <p:nvSpPr>
          <p:cNvPr id="347" name="Google Shape;347;p10"/>
          <p:cNvSpPr/>
          <p:nvPr/>
        </p:nvSpPr>
        <p:spPr>
          <a:xfrm>
            <a:off x="1047750" y="4152007"/>
            <a:ext cx="9189988" cy="1128713"/>
          </a:xfrm>
          <a:prstGeom prst="roundRect">
            <a:avLst>
              <a:gd fmla="val 11814"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0"/>
          <p:cNvSpPr/>
          <p:nvPr/>
        </p:nvSpPr>
        <p:spPr>
          <a:xfrm>
            <a:off x="1304925" y="4371082"/>
            <a:ext cx="8951338" cy="728662"/>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E6E6E6"/>
              </a:buClr>
              <a:buSzPts val="1875"/>
              <a:buFont typeface="Calibri"/>
              <a:buNone/>
            </a:pPr>
            <a:r>
              <a:rPr b="0" i="0" lang="en-US" sz="1875" u="none" cap="none" strike="noStrike">
                <a:solidFill>
                  <a:srgbClr val="E6E6E6"/>
                </a:solidFill>
                <a:latin typeface="Calibri"/>
                <a:ea typeface="Calibri"/>
                <a:cs typeface="Calibri"/>
                <a:sym typeface="Calibri"/>
              </a:rPr>
              <a:t>Create a clear, employee-friendly guide explaining how to request annual leave in the self-service system, including approval steps and how to check the remaining balance.</a:t>
            </a:r>
            <a:endParaRPr b="0" i="0" sz="1875" u="none" cap="none" strike="noStrike">
              <a:solidFill>
                <a:schemeClr val="dk1"/>
              </a:solidFill>
              <a:latin typeface="Calibri"/>
              <a:ea typeface="Calibri"/>
              <a:cs typeface="Calibri"/>
              <a:sym typeface="Calibri"/>
            </a:endParaRPr>
          </a:p>
        </p:txBody>
      </p:sp>
      <p:sp>
        <p:nvSpPr>
          <p:cNvPr id="349" name="Google Shape;349;p10"/>
          <p:cNvSpPr/>
          <p:nvPr/>
        </p:nvSpPr>
        <p:spPr>
          <a:xfrm>
            <a:off x="1047750" y="5509320"/>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DRAFT</a:t>
            </a:r>
            <a:endParaRPr b="0" i="0" sz="1800" u="none" cap="none" strike="noStrike">
              <a:solidFill>
                <a:schemeClr val="dk1"/>
              </a:solidFill>
              <a:latin typeface="Calibri"/>
              <a:ea typeface="Calibri"/>
              <a:cs typeface="Calibri"/>
              <a:sym typeface="Calibri"/>
            </a:endParaRPr>
          </a:p>
        </p:txBody>
      </p:sp>
      <p:sp>
        <p:nvSpPr>
          <p:cNvPr id="350" name="Google Shape;350;p10"/>
          <p:cNvSpPr/>
          <p:nvPr/>
        </p:nvSpPr>
        <p:spPr>
          <a:xfrm>
            <a:off x="1047750" y="5899845"/>
            <a:ext cx="9189988" cy="3247876"/>
          </a:xfrm>
          <a:prstGeom prst="roundRect">
            <a:avLst>
              <a:gd fmla="val 4106"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0"/>
          <p:cNvSpPr/>
          <p:nvPr/>
        </p:nvSpPr>
        <p:spPr>
          <a:xfrm>
            <a:off x="1304925" y="6118920"/>
            <a:ext cx="9543202"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75"/>
              <a:buFont typeface="Calibri"/>
              <a:buNone/>
            </a:pPr>
            <a:r>
              <a:rPr b="1" i="0" lang="en-US" sz="1875" u="none" cap="none" strike="noStrike">
                <a:solidFill>
                  <a:srgbClr val="FFD65C"/>
                </a:solidFill>
                <a:latin typeface="Calibri"/>
                <a:ea typeface="Calibri"/>
                <a:cs typeface="Calibri"/>
                <a:sym typeface="Calibri"/>
              </a:rPr>
              <a:t>How to Request Annual Leave</a:t>
            </a:r>
            <a:endParaRPr b="0" i="0" sz="1875" u="none" cap="none" strike="noStrike">
              <a:solidFill>
                <a:schemeClr val="dk1"/>
              </a:solidFill>
              <a:latin typeface="Calibri"/>
              <a:ea typeface="Calibri"/>
              <a:cs typeface="Calibri"/>
              <a:sym typeface="Calibri"/>
            </a:endParaRPr>
          </a:p>
        </p:txBody>
      </p:sp>
      <p:sp>
        <p:nvSpPr>
          <p:cNvPr id="352" name="Google Shape;352;p10"/>
          <p:cNvSpPr/>
          <p:nvPr/>
        </p:nvSpPr>
        <p:spPr>
          <a:xfrm>
            <a:off x="1304925" y="6509445"/>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1 </a:t>
            </a:r>
            <a:r>
              <a:rPr b="0" i="0" lang="en-US" sz="1800" u="none" cap="none" strike="noStrike">
                <a:solidFill>
                  <a:srgbClr val="E6E6E6"/>
                </a:solidFill>
                <a:latin typeface="Calibri"/>
                <a:ea typeface="Calibri"/>
                <a:cs typeface="Calibri"/>
                <a:sym typeface="Calibri"/>
              </a:rPr>
              <a:t>Log in to the HR self-service portal and open “Leave”.</a:t>
            </a:r>
            <a:endParaRPr b="0" i="0" sz="1800" u="none" cap="none" strike="noStrike">
              <a:solidFill>
                <a:schemeClr val="dk1"/>
              </a:solidFill>
              <a:latin typeface="Calibri"/>
              <a:ea typeface="Calibri"/>
              <a:cs typeface="Calibri"/>
              <a:sym typeface="Calibri"/>
            </a:endParaRPr>
          </a:p>
        </p:txBody>
      </p:sp>
      <p:sp>
        <p:nvSpPr>
          <p:cNvPr id="353" name="Google Shape;353;p10"/>
          <p:cNvSpPr/>
          <p:nvPr/>
        </p:nvSpPr>
        <p:spPr>
          <a:xfrm>
            <a:off x="1304925" y="6881664"/>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2 </a:t>
            </a:r>
            <a:r>
              <a:rPr b="0" i="0" lang="en-US" sz="1800" u="none" cap="none" strike="noStrike">
                <a:solidFill>
                  <a:srgbClr val="E6E6E6"/>
                </a:solidFill>
                <a:latin typeface="Calibri"/>
                <a:ea typeface="Calibri"/>
                <a:cs typeface="Calibri"/>
                <a:sym typeface="Calibri"/>
              </a:rPr>
              <a:t>Select the leave type and your start and end dates.</a:t>
            </a:r>
            <a:endParaRPr b="0" i="0" sz="1800" u="none" cap="none" strike="noStrike">
              <a:solidFill>
                <a:schemeClr val="dk1"/>
              </a:solidFill>
              <a:latin typeface="Calibri"/>
              <a:ea typeface="Calibri"/>
              <a:cs typeface="Calibri"/>
              <a:sym typeface="Calibri"/>
            </a:endParaRPr>
          </a:p>
        </p:txBody>
      </p:sp>
      <p:sp>
        <p:nvSpPr>
          <p:cNvPr id="354" name="Google Shape;354;p10"/>
          <p:cNvSpPr/>
          <p:nvPr/>
        </p:nvSpPr>
        <p:spPr>
          <a:xfrm>
            <a:off x="1304925" y="7253883"/>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3 </a:t>
            </a:r>
            <a:r>
              <a:rPr lang="en-US" sz="1800">
                <a:solidFill>
                  <a:srgbClr val="E6E6E6"/>
                </a:solidFill>
                <a:latin typeface="Calibri"/>
                <a:ea typeface="Calibri"/>
                <a:cs typeface="Calibri"/>
                <a:sym typeface="Calibri"/>
              </a:rPr>
              <a:t>A</a:t>
            </a:r>
            <a:r>
              <a:rPr b="0" i="0" lang="en-US" sz="1800" u="none" cap="none" strike="noStrike">
                <a:solidFill>
                  <a:srgbClr val="E6E6E6"/>
                </a:solidFill>
                <a:latin typeface="Calibri"/>
                <a:ea typeface="Calibri"/>
                <a:cs typeface="Calibri"/>
                <a:sym typeface="Calibri"/>
              </a:rPr>
              <a:t>dd an optional note for your manager and submit.</a:t>
            </a:r>
            <a:endParaRPr b="0" i="0" sz="1800" u="none" cap="none" strike="noStrike">
              <a:solidFill>
                <a:schemeClr val="dk1"/>
              </a:solidFill>
              <a:latin typeface="Calibri"/>
              <a:ea typeface="Calibri"/>
              <a:cs typeface="Calibri"/>
              <a:sym typeface="Calibri"/>
            </a:endParaRPr>
          </a:p>
        </p:txBody>
      </p:sp>
      <p:sp>
        <p:nvSpPr>
          <p:cNvPr id="355" name="Google Shape;355;p10"/>
          <p:cNvSpPr/>
          <p:nvPr/>
        </p:nvSpPr>
        <p:spPr>
          <a:xfrm>
            <a:off x="1304925" y="7626102"/>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4 </a:t>
            </a:r>
            <a:r>
              <a:rPr b="0" i="0" lang="en-US" sz="1800" u="none" cap="none" strike="noStrike">
                <a:solidFill>
                  <a:srgbClr val="E6E6E6"/>
                </a:solidFill>
                <a:latin typeface="Calibri"/>
                <a:ea typeface="Calibri"/>
                <a:cs typeface="Calibri"/>
                <a:sym typeface="Calibri"/>
              </a:rPr>
              <a:t>Your manager reviews and approves or declines the request.</a:t>
            </a:r>
            <a:endParaRPr b="0" i="0" sz="1800" u="none" cap="none" strike="noStrike">
              <a:solidFill>
                <a:schemeClr val="dk1"/>
              </a:solidFill>
              <a:latin typeface="Calibri"/>
              <a:ea typeface="Calibri"/>
              <a:cs typeface="Calibri"/>
              <a:sym typeface="Calibri"/>
            </a:endParaRPr>
          </a:p>
        </p:txBody>
      </p:sp>
      <p:sp>
        <p:nvSpPr>
          <p:cNvPr id="356" name="Google Shape;356;p10"/>
          <p:cNvSpPr/>
          <p:nvPr/>
        </p:nvSpPr>
        <p:spPr>
          <a:xfrm>
            <a:off x="1304925" y="7998321"/>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5 </a:t>
            </a:r>
            <a:r>
              <a:rPr b="0" i="0" lang="en-US" sz="1800" u="none" cap="none" strike="noStrike">
                <a:solidFill>
                  <a:srgbClr val="E6E6E6"/>
                </a:solidFill>
                <a:latin typeface="Calibri"/>
                <a:ea typeface="Calibri"/>
                <a:cs typeface="Calibri"/>
                <a:sym typeface="Calibri"/>
              </a:rPr>
              <a:t>Track the status and remaining balance under “My Leave”.</a:t>
            </a:r>
            <a:endParaRPr b="0" i="0" sz="1800" u="none" cap="none" strike="noStrike">
              <a:solidFill>
                <a:schemeClr val="dk1"/>
              </a:solidFill>
              <a:latin typeface="Calibri"/>
              <a:ea typeface="Calibri"/>
              <a:cs typeface="Calibri"/>
              <a:sym typeface="Calibri"/>
            </a:endParaRPr>
          </a:p>
        </p:txBody>
      </p:sp>
      <p:sp>
        <p:nvSpPr>
          <p:cNvPr id="357" name="Google Shape;357;p10"/>
          <p:cNvSpPr/>
          <p:nvPr/>
        </p:nvSpPr>
        <p:spPr>
          <a:xfrm>
            <a:off x="1304925" y="8475315"/>
            <a:ext cx="8675638" cy="9525"/>
          </a:xfrm>
          <a:prstGeom prst="rect">
            <a:avLst/>
          </a:prstGeom>
          <a:solidFill>
            <a:srgbClr val="FFD65C">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p:nvPr/>
        </p:nvSpPr>
        <p:spPr>
          <a:xfrm>
            <a:off x="1304925" y="8608665"/>
            <a:ext cx="8935907" cy="35808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HR review: </a:t>
            </a:r>
            <a:r>
              <a:rPr b="0" i="0" lang="en-US" sz="1800" u="none" cap="none" strike="noStrike">
                <a:solidFill>
                  <a:srgbClr val="9E9E9E"/>
                </a:solidFill>
                <a:latin typeface="Calibri"/>
                <a:ea typeface="Calibri"/>
                <a:cs typeface="Calibri"/>
                <a:sym typeface="Calibri"/>
              </a:rPr>
              <a:t>confirm portal steps, approval routing and balances before publishing.</a:t>
            </a:r>
            <a:endParaRPr b="0" i="0" sz="1800" u="none" cap="none" strike="noStrike">
              <a:solidFill>
                <a:schemeClr val="dk1"/>
              </a:solidFill>
              <a:latin typeface="Calibri"/>
              <a:ea typeface="Calibri"/>
              <a:cs typeface="Calibri"/>
              <a:sym typeface="Calibri"/>
            </a:endParaRPr>
          </a:p>
        </p:txBody>
      </p:sp>
      <p:sp>
        <p:nvSpPr>
          <p:cNvPr id="359" name="Google Shape;359;p10"/>
          <p:cNvSpPr/>
          <p:nvPr/>
        </p:nvSpPr>
        <p:spPr>
          <a:xfrm>
            <a:off x="10675888" y="2403277"/>
            <a:ext cx="722063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OTHER SCENARIOS</a:t>
            </a:r>
            <a:endParaRPr b="0" i="0" sz="1800" u="none" cap="none" strike="noStrike">
              <a:solidFill>
                <a:schemeClr val="dk1"/>
              </a:solidFill>
              <a:latin typeface="Calibri"/>
              <a:ea typeface="Calibri"/>
              <a:cs typeface="Calibri"/>
              <a:sym typeface="Calibri"/>
            </a:endParaRPr>
          </a:p>
        </p:txBody>
      </p:sp>
      <p:sp>
        <p:nvSpPr>
          <p:cNvPr id="360" name="Google Shape;360;p10"/>
          <p:cNvSpPr/>
          <p:nvPr/>
        </p:nvSpPr>
        <p:spPr>
          <a:xfrm>
            <a:off x="10675888" y="2793802"/>
            <a:ext cx="6564213" cy="6096000"/>
          </a:xfrm>
          <a:prstGeom prst="roundRect">
            <a:avLst>
              <a:gd fmla="val 2188"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
          <p:cNvSpPr/>
          <p:nvPr/>
        </p:nvSpPr>
        <p:spPr>
          <a:xfrm>
            <a:off x="10952113" y="30795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62" name="Google Shape;362;p10"/>
          <p:cNvSpPr/>
          <p:nvPr/>
        </p:nvSpPr>
        <p:spPr>
          <a:xfrm>
            <a:off x="11223427" y="3089077"/>
            <a:ext cx="2868216"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Annual leave request guides</a:t>
            </a:r>
            <a:endParaRPr b="0" i="0" sz="1800" u="none" cap="none" strike="noStrike">
              <a:solidFill>
                <a:schemeClr val="dk1"/>
              </a:solidFill>
              <a:latin typeface="Calibri"/>
              <a:ea typeface="Calibri"/>
              <a:cs typeface="Calibri"/>
              <a:sym typeface="Calibri"/>
            </a:endParaRPr>
          </a:p>
        </p:txBody>
      </p:sp>
      <p:sp>
        <p:nvSpPr>
          <p:cNvPr id="363" name="Google Shape;363;p10"/>
          <p:cNvSpPr/>
          <p:nvPr/>
        </p:nvSpPr>
        <p:spPr>
          <a:xfrm>
            <a:off x="10952113" y="34700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64" name="Google Shape;364;p10"/>
          <p:cNvSpPr/>
          <p:nvPr/>
        </p:nvSpPr>
        <p:spPr>
          <a:xfrm>
            <a:off x="11223427" y="3479602"/>
            <a:ext cx="289637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Manager approval checklists</a:t>
            </a:r>
            <a:endParaRPr b="0" i="0" sz="1800" u="none" cap="none" strike="noStrike">
              <a:solidFill>
                <a:schemeClr val="dk1"/>
              </a:solidFill>
              <a:latin typeface="Calibri"/>
              <a:ea typeface="Calibri"/>
              <a:cs typeface="Calibri"/>
              <a:sym typeface="Calibri"/>
            </a:endParaRPr>
          </a:p>
        </p:txBody>
      </p:sp>
      <p:sp>
        <p:nvSpPr>
          <p:cNvPr id="365" name="Google Shape;365;p10"/>
          <p:cNvSpPr/>
          <p:nvPr/>
        </p:nvSpPr>
        <p:spPr>
          <a:xfrm>
            <a:off x="10952113" y="38606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66" name="Google Shape;366;p10"/>
          <p:cNvSpPr/>
          <p:nvPr/>
        </p:nvSpPr>
        <p:spPr>
          <a:xfrm>
            <a:off x="11223427" y="3870127"/>
            <a:ext cx="4012228"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Return-to-work conversation templates</a:t>
            </a:r>
            <a:endParaRPr b="0" i="0" sz="1800" u="none" cap="none" strike="noStrike">
              <a:solidFill>
                <a:schemeClr val="dk1"/>
              </a:solidFill>
              <a:latin typeface="Calibri"/>
              <a:ea typeface="Calibri"/>
              <a:cs typeface="Calibri"/>
              <a:sym typeface="Calibri"/>
            </a:endParaRPr>
          </a:p>
        </p:txBody>
      </p:sp>
      <p:sp>
        <p:nvSpPr>
          <p:cNvPr id="367" name="Google Shape;367;p10"/>
          <p:cNvSpPr/>
          <p:nvPr/>
        </p:nvSpPr>
        <p:spPr>
          <a:xfrm>
            <a:off x="10952113" y="42511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68" name="Google Shape;368;p10"/>
          <p:cNvSpPr/>
          <p:nvPr/>
        </p:nvSpPr>
        <p:spPr>
          <a:xfrm>
            <a:off x="11223427" y="4260652"/>
            <a:ext cx="303667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Leave process documentation</a:t>
            </a:r>
            <a:endParaRPr b="0" i="0" sz="1800" u="none" cap="none" strike="noStrike">
              <a:solidFill>
                <a:schemeClr val="dk1"/>
              </a:solidFill>
              <a:latin typeface="Calibri"/>
              <a:ea typeface="Calibri"/>
              <a:cs typeface="Calibri"/>
              <a:sym typeface="Calibri"/>
            </a:endParaRPr>
          </a:p>
        </p:txBody>
      </p:sp>
      <p:sp>
        <p:nvSpPr>
          <p:cNvPr id="369" name="Google Shape;369;p10"/>
          <p:cNvSpPr/>
          <p:nvPr/>
        </p:nvSpPr>
        <p:spPr>
          <a:xfrm>
            <a:off x="10952113" y="46416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70" name="Google Shape;370;p10"/>
          <p:cNvSpPr/>
          <p:nvPr/>
        </p:nvSpPr>
        <p:spPr>
          <a:xfrm>
            <a:off x="11223427" y="4651177"/>
            <a:ext cx="346265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Employee self-service instructions</a:t>
            </a:r>
            <a:endParaRPr b="0" i="0" sz="1800" u="none" cap="none" strike="noStrike">
              <a:solidFill>
                <a:schemeClr val="dk1"/>
              </a:solidFill>
              <a:latin typeface="Calibri"/>
              <a:ea typeface="Calibri"/>
              <a:cs typeface="Calibri"/>
              <a:sym typeface="Calibri"/>
            </a:endParaRPr>
          </a:p>
        </p:txBody>
      </p:sp>
      <p:sp>
        <p:nvSpPr>
          <p:cNvPr id="371" name="Google Shape;371;p10"/>
          <p:cNvSpPr/>
          <p:nvPr/>
        </p:nvSpPr>
        <p:spPr>
          <a:xfrm>
            <a:off x="10952113" y="50321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72" name="Google Shape;372;p10"/>
          <p:cNvSpPr/>
          <p:nvPr/>
        </p:nvSpPr>
        <p:spPr>
          <a:xfrm>
            <a:off x="11223427" y="5041702"/>
            <a:ext cx="368513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Sick leave and certification guidance</a:t>
            </a:r>
            <a:endParaRPr b="0" i="0" sz="1800" u="none" cap="none" strike="noStrike">
              <a:solidFill>
                <a:schemeClr val="dk1"/>
              </a:solidFill>
              <a:latin typeface="Calibri"/>
              <a:ea typeface="Calibri"/>
              <a:cs typeface="Calibri"/>
              <a:sym typeface="Calibri"/>
            </a:endParaRPr>
          </a:p>
        </p:txBody>
      </p:sp>
      <p:sp>
        <p:nvSpPr>
          <p:cNvPr id="373" name="Google Shape;373;p10"/>
          <p:cNvSpPr/>
          <p:nvPr/>
        </p:nvSpPr>
        <p:spPr>
          <a:xfrm>
            <a:off x="10952113" y="54227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74" name="Google Shape;374;p10"/>
          <p:cNvSpPr/>
          <p:nvPr/>
        </p:nvSpPr>
        <p:spPr>
          <a:xfrm>
            <a:off x="11223427" y="5432227"/>
            <a:ext cx="373490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Parental and family leave summaries</a:t>
            </a:r>
            <a:endParaRPr b="0" i="0" sz="1800" u="none" cap="none" strike="noStrike">
              <a:solidFill>
                <a:schemeClr val="dk1"/>
              </a:solidFill>
              <a:latin typeface="Calibri"/>
              <a:ea typeface="Calibri"/>
              <a:cs typeface="Calibri"/>
              <a:sym typeface="Calibri"/>
            </a:endParaRPr>
          </a:p>
        </p:txBody>
      </p:sp>
      <p:sp>
        <p:nvSpPr>
          <p:cNvPr id="375" name="Google Shape;375;p10"/>
          <p:cNvSpPr/>
          <p:nvPr/>
        </p:nvSpPr>
        <p:spPr>
          <a:xfrm>
            <a:off x="10952113" y="58132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76" name="Google Shape;376;p10"/>
          <p:cNvSpPr/>
          <p:nvPr/>
        </p:nvSpPr>
        <p:spPr>
          <a:xfrm>
            <a:off x="11223427" y="5822752"/>
            <a:ext cx="347918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Public holiday and leave calendars</a:t>
            </a:r>
            <a:endParaRPr b="0" i="0" sz="1800" u="none" cap="none" strike="noStrike">
              <a:solidFill>
                <a:schemeClr val="dk1"/>
              </a:solidFill>
              <a:latin typeface="Calibri"/>
              <a:ea typeface="Calibri"/>
              <a:cs typeface="Calibri"/>
              <a:sym typeface="Calibri"/>
            </a:endParaRPr>
          </a:p>
        </p:txBody>
      </p:sp>
      <p:sp>
        <p:nvSpPr>
          <p:cNvPr id="377" name="Google Shape;377;p10"/>
          <p:cNvSpPr/>
          <p:nvPr/>
        </p:nvSpPr>
        <p:spPr>
          <a:xfrm>
            <a:off x="10952113" y="62037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78" name="Google Shape;378;p10"/>
          <p:cNvSpPr/>
          <p:nvPr/>
        </p:nvSpPr>
        <p:spPr>
          <a:xfrm>
            <a:off x="11223427" y="6213277"/>
            <a:ext cx="432557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Leave balance and carry-over explanations</a:t>
            </a:r>
            <a:endParaRPr b="0" i="0" sz="1800" u="none" cap="none" strike="noStrike">
              <a:solidFill>
                <a:schemeClr val="dk1"/>
              </a:solidFill>
              <a:latin typeface="Calibri"/>
              <a:ea typeface="Calibri"/>
              <a:cs typeface="Calibri"/>
              <a:sym typeface="Calibri"/>
            </a:endParaRPr>
          </a:p>
        </p:txBody>
      </p:sp>
      <p:sp>
        <p:nvSpPr>
          <p:cNvPr id="379" name="Google Shape;379;p10"/>
          <p:cNvSpPr/>
          <p:nvPr/>
        </p:nvSpPr>
        <p:spPr>
          <a:xfrm>
            <a:off x="10952113" y="65942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80" name="Google Shape;380;p10"/>
          <p:cNvSpPr/>
          <p:nvPr/>
        </p:nvSpPr>
        <p:spPr>
          <a:xfrm>
            <a:off x="11223427" y="6603802"/>
            <a:ext cx="3240822"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Unpaid leave request templates</a:t>
            </a:r>
            <a:endParaRPr b="0" i="0" sz="1800" u="none" cap="none" strike="noStrike">
              <a:solidFill>
                <a:schemeClr val="dk1"/>
              </a:solidFill>
              <a:latin typeface="Calibri"/>
              <a:ea typeface="Calibri"/>
              <a:cs typeface="Calibri"/>
              <a:sym typeface="Calibri"/>
            </a:endParaRPr>
          </a:p>
        </p:txBody>
      </p:sp>
      <p:sp>
        <p:nvSpPr>
          <p:cNvPr id="381" name="Google Shape;381;p10"/>
          <p:cNvSpPr/>
          <p:nvPr/>
        </p:nvSpPr>
        <p:spPr>
          <a:xfrm>
            <a:off x="10952113" y="69848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82" name="Google Shape;382;p10"/>
          <p:cNvSpPr/>
          <p:nvPr/>
        </p:nvSpPr>
        <p:spPr>
          <a:xfrm>
            <a:off x="11223427" y="6994327"/>
            <a:ext cx="314947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Absence follow-up email drafts</a:t>
            </a:r>
            <a:endParaRPr b="0" i="0" sz="1800" u="none" cap="none" strike="noStrike">
              <a:solidFill>
                <a:schemeClr val="dk1"/>
              </a:solidFill>
              <a:latin typeface="Calibri"/>
              <a:ea typeface="Calibri"/>
              <a:cs typeface="Calibri"/>
              <a:sym typeface="Calibri"/>
            </a:endParaRPr>
          </a:p>
        </p:txBody>
      </p:sp>
      <p:sp>
        <p:nvSpPr>
          <p:cNvPr id="383" name="Google Shape;383;p10"/>
          <p:cNvSpPr/>
          <p:nvPr/>
        </p:nvSpPr>
        <p:spPr>
          <a:xfrm>
            <a:off x="10952113" y="73753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84" name="Google Shape;384;p10"/>
          <p:cNvSpPr/>
          <p:nvPr/>
        </p:nvSpPr>
        <p:spPr>
          <a:xfrm>
            <a:off x="11223427" y="7384852"/>
            <a:ext cx="1809006"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Leave policy FAQs</a:t>
            </a:r>
            <a:endParaRPr b="0" i="0" sz="1800" u="none" cap="none" strike="noStrike">
              <a:solidFill>
                <a:schemeClr val="dk1"/>
              </a:solidFill>
              <a:latin typeface="Calibri"/>
              <a:ea typeface="Calibri"/>
              <a:cs typeface="Calibri"/>
              <a:sym typeface="Calibri"/>
            </a:endParaRPr>
          </a:p>
        </p:txBody>
      </p:sp>
      <p:sp>
        <p:nvSpPr>
          <p:cNvPr id="385" name="Google Shape;385;p10"/>
          <p:cNvSpPr/>
          <p:nvPr/>
        </p:nvSpPr>
        <p:spPr>
          <a:xfrm>
            <a:off x="10952113" y="77658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86" name="Google Shape;386;p10"/>
          <p:cNvSpPr/>
          <p:nvPr/>
        </p:nvSpPr>
        <p:spPr>
          <a:xfrm>
            <a:off x="11223427" y="7775377"/>
            <a:ext cx="3051572"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Team leave coverage planning</a:t>
            </a:r>
            <a:endParaRPr b="0" i="0" sz="1800" u="none" cap="none" strike="noStrike">
              <a:solidFill>
                <a:schemeClr val="dk1"/>
              </a:solidFill>
              <a:latin typeface="Calibri"/>
              <a:ea typeface="Calibri"/>
              <a:cs typeface="Calibri"/>
              <a:sym typeface="Calibri"/>
            </a:endParaRPr>
          </a:p>
        </p:txBody>
      </p:sp>
      <p:sp>
        <p:nvSpPr>
          <p:cNvPr id="387" name="Google Shape;387;p10"/>
          <p:cNvSpPr/>
          <p:nvPr/>
        </p:nvSpPr>
        <p:spPr>
          <a:xfrm>
            <a:off x="10952113" y="81563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388" name="Google Shape;388;p10"/>
          <p:cNvSpPr/>
          <p:nvPr/>
        </p:nvSpPr>
        <p:spPr>
          <a:xfrm>
            <a:off x="11223427" y="8165902"/>
            <a:ext cx="329386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Long-term leave return planning</a:t>
            </a:r>
            <a:endParaRPr b="0" i="0" sz="1800" u="none" cap="none" strike="noStrike">
              <a:solidFill>
                <a:schemeClr val="dk1"/>
              </a:solidFill>
              <a:latin typeface="Calibri"/>
              <a:ea typeface="Calibri"/>
              <a:cs typeface="Calibri"/>
              <a:sym typeface="Calibri"/>
            </a:endParaRPr>
          </a:p>
        </p:txBody>
      </p:sp>
      <p:sp>
        <p:nvSpPr>
          <p:cNvPr id="389" name="Google Shape;389;p10"/>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390" name="Google Shape;390;p10"/>
          <p:cNvSpPr/>
          <p:nvPr/>
        </p:nvSpPr>
        <p:spPr>
          <a:xfrm>
            <a:off x="17114639" y="9582150"/>
            <a:ext cx="20181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8</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395" name="Shape 395"/>
        <p:cNvGrpSpPr/>
        <p:nvPr/>
      </p:nvGrpSpPr>
      <p:grpSpPr>
        <a:xfrm>
          <a:off x="0" y="0"/>
          <a:ext cx="0" cy="0"/>
          <a:chOff x="0" y="0"/>
          <a:chExt cx="0" cy="0"/>
        </a:xfrm>
      </p:grpSpPr>
      <p:sp>
        <p:nvSpPr>
          <p:cNvPr id="396" name="Google Shape;396;p11"/>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1"/>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07 · AI FOR OPERATIONAL HR</a:t>
            </a:r>
            <a:endParaRPr b="0" i="0" sz="1950" u="none" cap="none" strike="noStrike">
              <a:solidFill>
                <a:schemeClr val="dk1"/>
              </a:solidFill>
              <a:latin typeface="Calibri"/>
              <a:ea typeface="Calibri"/>
              <a:cs typeface="Calibri"/>
              <a:sym typeface="Calibri"/>
            </a:endParaRPr>
          </a:p>
        </p:txBody>
      </p:sp>
      <p:sp>
        <p:nvSpPr>
          <p:cNvPr id="398" name="Google Shape;398;p11"/>
          <p:cNvSpPr/>
          <p:nvPr/>
        </p:nvSpPr>
        <p:spPr>
          <a:xfrm>
            <a:off x="1047750" y="102870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HR Reporting &amp; Analytics</a:t>
            </a:r>
            <a:endParaRPr b="0" i="0" sz="4350" u="none" cap="none" strike="noStrike">
              <a:solidFill>
                <a:schemeClr val="dk1"/>
              </a:solidFill>
              <a:latin typeface="Calibri"/>
              <a:ea typeface="Calibri"/>
              <a:cs typeface="Calibri"/>
              <a:sym typeface="Calibri"/>
            </a:endParaRPr>
          </a:p>
        </p:txBody>
      </p:sp>
      <p:sp>
        <p:nvSpPr>
          <p:cNvPr id="399" name="Google Shape;399;p11"/>
          <p:cNvSpPr/>
          <p:nvPr/>
        </p:nvSpPr>
        <p:spPr>
          <a:xfrm>
            <a:off x="1047750" y="1736527"/>
            <a:ext cx="1781175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2175"/>
              <a:buFont typeface="Calibri"/>
              <a:buNone/>
            </a:pPr>
            <a:r>
              <a:rPr b="0" i="0" lang="en-US" sz="2175" u="none" cap="none" strike="noStrike">
                <a:solidFill>
                  <a:srgbClr val="9E9E9E"/>
                </a:solidFill>
                <a:latin typeface="Calibri"/>
                <a:ea typeface="Calibri"/>
                <a:cs typeface="Calibri"/>
                <a:sym typeface="Calibri"/>
              </a:rPr>
              <a:t>Turn HR data into clear, readable insight.</a:t>
            </a:r>
            <a:endParaRPr b="0" i="0" sz="2175" u="none" cap="none" strike="noStrike">
              <a:solidFill>
                <a:schemeClr val="dk1"/>
              </a:solidFill>
              <a:latin typeface="Calibri"/>
              <a:ea typeface="Calibri"/>
              <a:cs typeface="Calibri"/>
              <a:sym typeface="Calibri"/>
            </a:endParaRPr>
          </a:p>
        </p:txBody>
      </p:sp>
      <p:sp>
        <p:nvSpPr>
          <p:cNvPr id="400" name="Google Shape;400;p11"/>
          <p:cNvSpPr/>
          <p:nvPr/>
        </p:nvSpPr>
        <p:spPr>
          <a:xfrm>
            <a:off x="1047750" y="2403277"/>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SCENARIO</a:t>
            </a:r>
            <a:endParaRPr b="0" i="0" sz="1800" u="none" cap="none" strike="noStrike">
              <a:solidFill>
                <a:schemeClr val="dk1"/>
              </a:solidFill>
              <a:latin typeface="Calibri"/>
              <a:ea typeface="Calibri"/>
              <a:cs typeface="Calibri"/>
              <a:sym typeface="Calibri"/>
            </a:endParaRPr>
          </a:p>
        </p:txBody>
      </p:sp>
      <p:sp>
        <p:nvSpPr>
          <p:cNvPr id="401" name="Google Shape;401;p11"/>
          <p:cNvSpPr/>
          <p:nvPr/>
        </p:nvSpPr>
        <p:spPr>
          <a:xfrm>
            <a:off x="1047750" y="2793802"/>
            <a:ext cx="9465688" cy="75813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The HR team has this month's headcount, turnover and absence figures and needs a concise summary that leaders can read quickly.</a:t>
            </a:r>
            <a:endParaRPr b="0" i="0" sz="2025" u="none" cap="none" strike="noStrike">
              <a:solidFill>
                <a:schemeClr val="dk1"/>
              </a:solidFill>
              <a:latin typeface="Calibri"/>
              <a:ea typeface="Calibri"/>
              <a:cs typeface="Calibri"/>
              <a:sym typeface="Calibri"/>
            </a:endParaRPr>
          </a:p>
        </p:txBody>
      </p:sp>
      <p:sp>
        <p:nvSpPr>
          <p:cNvPr id="402" name="Google Shape;402;p11"/>
          <p:cNvSpPr/>
          <p:nvPr/>
        </p:nvSpPr>
        <p:spPr>
          <a:xfrm>
            <a:off x="1047750" y="3761482"/>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PROMPT</a:t>
            </a:r>
            <a:endParaRPr b="0" i="0" sz="1800" u="none" cap="none" strike="noStrike">
              <a:solidFill>
                <a:schemeClr val="dk1"/>
              </a:solidFill>
              <a:latin typeface="Calibri"/>
              <a:ea typeface="Calibri"/>
              <a:cs typeface="Calibri"/>
              <a:sym typeface="Calibri"/>
            </a:endParaRPr>
          </a:p>
        </p:txBody>
      </p:sp>
      <p:sp>
        <p:nvSpPr>
          <p:cNvPr id="403" name="Google Shape;403;p11"/>
          <p:cNvSpPr/>
          <p:nvPr/>
        </p:nvSpPr>
        <p:spPr>
          <a:xfrm>
            <a:off x="1047750" y="4152007"/>
            <a:ext cx="9189988" cy="1128713"/>
          </a:xfrm>
          <a:prstGeom prst="roundRect">
            <a:avLst>
              <a:gd fmla="val 11814"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1"/>
          <p:cNvSpPr/>
          <p:nvPr/>
        </p:nvSpPr>
        <p:spPr>
          <a:xfrm>
            <a:off x="1304925" y="4371082"/>
            <a:ext cx="8951338" cy="728662"/>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E6E6E6"/>
              </a:buClr>
              <a:buSzPts val="1875"/>
              <a:buFont typeface="Calibri"/>
              <a:buNone/>
            </a:pPr>
            <a:r>
              <a:rPr b="0" i="0" lang="en-US" sz="1875" u="none" cap="none" strike="noStrike">
                <a:solidFill>
                  <a:srgbClr val="E6E6E6"/>
                </a:solidFill>
                <a:latin typeface="Calibri"/>
                <a:ea typeface="Calibri"/>
                <a:cs typeface="Calibri"/>
                <a:sym typeface="Calibri"/>
              </a:rPr>
              <a:t>Summarize the following monthly HR metrics into a short executive summary that highlights key trends, notable changes and one or two points that may need attention.</a:t>
            </a:r>
            <a:endParaRPr b="0" i="0" sz="1875" u="none" cap="none" strike="noStrike">
              <a:solidFill>
                <a:schemeClr val="dk1"/>
              </a:solidFill>
              <a:latin typeface="Calibri"/>
              <a:ea typeface="Calibri"/>
              <a:cs typeface="Calibri"/>
              <a:sym typeface="Calibri"/>
            </a:endParaRPr>
          </a:p>
        </p:txBody>
      </p:sp>
      <p:sp>
        <p:nvSpPr>
          <p:cNvPr id="405" name="Google Shape;405;p11"/>
          <p:cNvSpPr/>
          <p:nvPr/>
        </p:nvSpPr>
        <p:spPr>
          <a:xfrm>
            <a:off x="1047750" y="5509320"/>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DRAFT</a:t>
            </a:r>
            <a:endParaRPr b="0" i="0" sz="1800" u="none" cap="none" strike="noStrike">
              <a:solidFill>
                <a:schemeClr val="dk1"/>
              </a:solidFill>
              <a:latin typeface="Calibri"/>
              <a:ea typeface="Calibri"/>
              <a:cs typeface="Calibri"/>
              <a:sym typeface="Calibri"/>
            </a:endParaRPr>
          </a:p>
        </p:txBody>
      </p:sp>
      <p:sp>
        <p:nvSpPr>
          <p:cNvPr id="406" name="Google Shape;406;p11"/>
          <p:cNvSpPr/>
          <p:nvPr/>
        </p:nvSpPr>
        <p:spPr>
          <a:xfrm>
            <a:off x="1047750" y="5899845"/>
            <a:ext cx="9189988" cy="2875657"/>
          </a:xfrm>
          <a:prstGeom prst="roundRect">
            <a:avLst>
              <a:gd fmla="val 4637"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1"/>
          <p:cNvSpPr/>
          <p:nvPr/>
        </p:nvSpPr>
        <p:spPr>
          <a:xfrm>
            <a:off x="1304925" y="6118920"/>
            <a:ext cx="9543202"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75"/>
              <a:buFont typeface="Calibri"/>
              <a:buNone/>
            </a:pPr>
            <a:r>
              <a:rPr b="1" i="0" lang="en-US" sz="1875" u="none" cap="none" strike="noStrike">
                <a:solidFill>
                  <a:srgbClr val="FFD65C"/>
                </a:solidFill>
                <a:latin typeface="Calibri"/>
                <a:ea typeface="Calibri"/>
                <a:cs typeface="Calibri"/>
                <a:sym typeface="Calibri"/>
              </a:rPr>
              <a:t>Monthly HR Summary — March</a:t>
            </a:r>
            <a:endParaRPr b="0" i="0" sz="1875" u="none" cap="none" strike="noStrike">
              <a:solidFill>
                <a:schemeClr val="dk1"/>
              </a:solidFill>
              <a:latin typeface="Calibri"/>
              <a:ea typeface="Calibri"/>
              <a:cs typeface="Calibri"/>
              <a:sym typeface="Calibri"/>
            </a:endParaRPr>
          </a:p>
        </p:txBody>
      </p:sp>
      <p:sp>
        <p:nvSpPr>
          <p:cNvPr id="408" name="Google Shape;408;p11"/>
          <p:cNvSpPr/>
          <p:nvPr/>
        </p:nvSpPr>
        <p:spPr>
          <a:xfrm>
            <a:off x="1304925" y="6509445"/>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Headcount </a:t>
            </a:r>
            <a:r>
              <a:rPr b="0" i="0" lang="en-US" sz="1800" u="none" cap="none" strike="noStrike">
                <a:solidFill>
                  <a:srgbClr val="E6E6E6"/>
                </a:solidFill>
                <a:latin typeface="Calibri"/>
                <a:ea typeface="Calibri"/>
                <a:cs typeface="Calibri"/>
                <a:sym typeface="Calibri"/>
              </a:rPr>
              <a:t>512 employees (+8 vs. last month), driven by Operations hires.</a:t>
            </a:r>
            <a:endParaRPr b="0" i="0" sz="1800" u="none" cap="none" strike="noStrike">
              <a:solidFill>
                <a:schemeClr val="dk1"/>
              </a:solidFill>
              <a:latin typeface="Calibri"/>
              <a:ea typeface="Calibri"/>
              <a:cs typeface="Calibri"/>
              <a:sym typeface="Calibri"/>
            </a:endParaRPr>
          </a:p>
        </p:txBody>
      </p:sp>
      <p:sp>
        <p:nvSpPr>
          <p:cNvPr id="409" name="Google Shape;409;p11"/>
          <p:cNvSpPr/>
          <p:nvPr/>
        </p:nvSpPr>
        <p:spPr>
          <a:xfrm>
            <a:off x="1304925" y="6881664"/>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Turnover </a:t>
            </a:r>
            <a:r>
              <a:rPr b="0" i="0" lang="en-US" sz="1800" u="none" cap="none" strike="noStrike">
                <a:solidFill>
                  <a:srgbClr val="E6E6E6"/>
                </a:solidFill>
                <a:latin typeface="Calibri"/>
                <a:ea typeface="Calibri"/>
                <a:cs typeface="Calibri"/>
                <a:sym typeface="Calibri"/>
              </a:rPr>
              <a:t>1.4% for the month, in line with the six-month average.</a:t>
            </a:r>
            <a:endParaRPr b="0" i="0" sz="1800" u="none" cap="none" strike="noStrike">
              <a:solidFill>
                <a:schemeClr val="dk1"/>
              </a:solidFill>
              <a:latin typeface="Calibri"/>
              <a:ea typeface="Calibri"/>
              <a:cs typeface="Calibri"/>
              <a:sym typeface="Calibri"/>
            </a:endParaRPr>
          </a:p>
        </p:txBody>
      </p:sp>
      <p:sp>
        <p:nvSpPr>
          <p:cNvPr id="410" name="Google Shape;410;p11"/>
          <p:cNvSpPr/>
          <p:nvPr/>
        </p:nvSpPr>
        <p:spPr>
          <a:xfrm>
            <a:off x="1304925" y="7253883"/>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Absence </a:t>
            </a:r>
            <a:r>
              <a:rPr b="0" i="0" lang="en-US" sz="1800" u="none" cap="none" strike="noStrike">
                <a:solidFill>
                  <a:srgbClr val="E6E6E6"/>
                </a:solidFill>
                <a:latin typeface="Calibri"/>
                <a:ea typeface="Calibri"/>
                <a:cs typeface="Calibri"/>
                <a:sym typeface="Calibri"/>
              </a:rPr>
              <a:t>Slightly above usual, mainly short-term sick leave.</a:t>
            </a:r>
            <a:endParaRPr b="0" i="0" sz="1800" u="none" cap="none" strike="noStrike">
              <a:solidFill>
                <a:schemeClr val="dk1"/>
              </a:solidFill>
              <a:latin typeface="Calibri"/>
              <a:ea typeface="Calibri"/>
              <a:cs typeface="Calibri"/>
              <a:sym typeface="Calibri"/>
            </a:endParaRPr>
          </a:p>
        </p:txBody>
      </p:sp>
      <p:sp>
        <p:nvSpPr>
          <p:cNvPr id="411" name="Google Shape;411;p11"/>
          <p:cNvSpPr/>
          <p:nvPr/>
        </p:nvSpPr>
        <p:spPr>
          <a:xfrm>
            <a:off x="1304925" y="7626102"/>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Watch </a:t>
            </a:r>
            <a:r>
              <a:rPr b="0" i="0" lang="en-US" sz="1800" u="none" cap="none" strike="noStrike">
                <a:solidFill>
                  <a:srgbClr val="E6E6E6"/>
                </a:solidFill>
                <a:latin typeface="Calibri"/>
                <a:ea typeface="Calibri"/>
                <a:cs typeface="Calibri"/>
                <a:sym typeface="Calibri"/>
              </a:rPr>
              <a:t>Time-to-fill in Engineering has risen for two months running.</a:t>
            </a:r>
            <a:endParaRPr b="0" i="0" sz="1800" u="none" cap="none" strike="noStrike">
              <a:solidFill>
                <a:schemeClr val="dk1"/>
              </a:solidFill>
              <a:latin typeface="Calibri"/>
              <a:ea typeface="Calibri"/>
              <a:cs typeface="Calibri"/>
              <a:sym typeface="Calibri"/>
            </a:endParaRPr>
          </a:p>
        </p:txBody>
      </p:sp>
      <p:sp>
        <p:nvSpPr>
          <p:cNvPr id="412" name="Google Shape;412;p11"/>
          <p:cNvSpPr/>
          <p:nvPr/>
        </p:nvSpPr>
        <p:spPr>
          <a:xfrm>
            <a:off x="1304925" y="8103096"/>
            <a:ext cx="8675638" cy="9525"/>
          </a:xfrm>
          <a:prstGeom prst="rect">
            <a:avLst/>
          </a:prstGeom>
          <a:solidFill>
            <a:srgbClr val="FFD65C">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1"/>
          <p:cNvSpPr/>
          <p:nvPr/>
        </p:nvSpPr>
        <p:spPr>
          <a:xfrm>
            <a:off x="1304925" y="8236446"/>
            <a:ext cx="8935907" cy="35808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HR review: </a:t>
            </a:r>
            <a:r>
              <a:rPr b="0" i="0" lang="en-US" sz="1800" u="none" cap="none" strike="noStrike">
                <a:solidFill>
                  <a:srgbClr val="9E9E9E"/>
                </a:solidFill>
                <a:latin typeface="Calibri"/>
                <a:ea typeface="Calibri"/>
                <a:cs typeface="Calibri"/>
                <a:sym typeface="Calibri"/>
              </a:rPr>
              <a:t>verify figures against the source dashboard before sharing.</a:t>
            </a:r>
            <a:endParaRPr b="0" i="0" sz="1800" u="none" cap="none" strike="noStrike">
              <a:solidFill>
                <a:schemeClr val="dk1"/>
              </a:solidFill>
              <a:latin typeface="Calibri"/>
              <a:ea typeface="Calibri"/>
              <a:cs typeface="Calibri"/>
              <a:sym typeface="Calibri"/>
            </a:endParaRPr>
          </a:p>
        </p:txBody>
      </p:sp>
      <p:sp>
        <p:nvSpPr>
          <p:cNvPr id="414" name="Google Shape;414;p11"/>
          <p:cNvSpPr/>
          <p:nvPr/>
        </p:nvSpPr>
        <p:spPr>
          <a:xfrm>
            <a:off x="10675888" y="2403277"/>
            <a:ext cx="722063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OTHER SCENARIOS</a:t>
            </a:r>
            <a:endParaRPr b="0" i="0" sz="1800" u="none" cap="none" strike="noStrike">
              <a:solidFill>
                <a:schemeClr val="dk1"/>
              </a:solidFill>
              <a:latin typeface="Calibri"/>
              <a:ea typeface="Calibri"/>
              <a:cs typeface="Calibri"/>
              <a:sym typeface="Calibri"/>
            </a:endParaRPr>
          </a:p>
        </p:txBody>
      </p:sp>
      <p:sp>
        <p:nvSpPr>
          <p:cNvPr id="415" name="Google Shape;415;p11"/>
          <p:cNvSpPr/>
          <p:nvPr/>
        </p:nvSpPr>
        <p:spPr>
          <a:xfrm>
            <a:off x="10675888" y="2793802"/>
            <a:ext cx="6564213" cy="6096000"/>
          </a:xfrm>
          <a:prstGeom prst="roundRect">
            <a:avLst>
              <a:gd fmla="val 2188"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1"/>
          <p:cNvSpPr/>
          <p:nvPr/>
        </p:nvSpPr>
        <p:spPr>
          <a:xfrm>
            <a:off x="10952113" y="30795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17" name="Google Shape;417;p11"/>
          <p:cNvSpPr/>
          <p:nvPr/>
        </p:nvSpPr>
        <p:spPr>
          <a:xfrm>
            <a:off x="11223427" y="3089077"/>
            <a:ext cx="398898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Explaining HR metrics in plain language</a:t>
            </a:r>
            <a:endParaRPr b="0" i="0" sz="1800" u="none" cap="none" strike="noStrike">
              <a:solidFill>
                <a:schemeClr val="dk1"/>
              </a:solidFill>
              <a:latin typeface="Calibri"/>
              <a:ea typeface="Calibri"/>
              <a:cs typeface="Calibri"/>
              <a:sym typeface="Calibri"/>
            </a:endParaRPr>
          </a:p>
        </p:txBody>
      </p:sp>
      <p:sp>
        <p:nvSpPr>
          <p:cNvPr id="418" name="Google Shape;418;p11"/>
          <p:cNvSpPr/>
          <p:nvPr/>
        </p:nvSpPr>
        <p:spPr>
          <a:xfrm>
            <a:off x="10952113" y="34700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19" name="Google Shape;419;p11"/>
          <p:cNvSpPr/>
          <p:nvPr/>
        </p:nvSpPr>
        <p:spPr>
          <a:xfrm>
            <a:off x="11223427" y="3479602"/>
            <a:ext cx="303209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Summarizing monthly reports</a:t>
            </a:r>
            <a:endParaRPr b="0" i="0" sz="1800" u="none" cap="none" strike="noStrike">
              <a:solidFill>
                <a:schemeClr val="dk1"/>
              </a:solidFill>
              <a:latin typeface="Calibri"/>
              <a:ea typeface="Calibri"/>
              <a:cs typeface="Calibri"/>
              <a:sym typeface="Calibri"/>
            </a:endParaRPr>
          </a:p>
        </p:txBody>
      </p:sp>
      <p:sp>
        <p:nvSpPr>
          <p:cNvPr id="420" name="Google Shape;420;p11"/>
          <p:cNvSpPr/>
          <p:nvPr/>
        </p:nvSpPr>
        <p:spPr>
          <a:xfrm>
            <a:off x="10952113" y="38606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21" name="Google Shape;421;p11"/>
          <p:cNvSpPr/>
          <p:nvPr/>
        </p:nvSpPr>
        <p:spPr>
          <a:xfrm>
            <a:off x="11223427" y="3870127"/>
            <a:ext cx="290898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Identifying trends in HR data</a:t>
            </a:r>
            <a:endParaRPr b="0" i="0" sz="1800" u="none" cap="none" strike="noStrike">
              <a:solidFill>
                <a:schemeClr val="dk1"/>
              </a:solidFill>
              <a:latin typeface="Calibri"/>
              <a:ea typeface="Calibri"/>
              <a:cs typeface="Calibri"/>
              <a:sym typeface="Calibri"/>
            </a:endParaRPr>
          </a:p>
        </p:txBody>
      </p:sp>
      <p:sp>
        <p:nvSpPr>
          <p:cNvPr id="422" name="Google Shape;422;p11"/>
          <p:cNvSpPr/>
          <p:nvPr/>
        </p:nvSpPr>
        <p:spPr>
          <a:xfrm>
            <a:off x="10952113" y="42511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23" name="Google Shape;423;p11"/>
          <p:cNvSpPr/>
          <p:nvPr/>
        </p:nvSpPr>
        <p:spPr>
          <a:xfrm>
            <a:off x="11223427" y="4260652"/>
            <a:ext cx="295105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Writing executive summaries</a:t>
            </a:r>
            <a:endParaRPr b="0" i="0" sz="1800" u="none" cap="none" strike="noStrike">
              <a:solidFill>
                <a:schemeClr val="dk1"/>
              </a:solidFill>
              <a:latin typeface="Calibri"/>
              <a:ea typeface="Calibri"/>
              <a:cs typeface="Calibri"/>
              <a:sym typeface="Calibri"/>
            </a:endParaRPr>
          </a:p>
        </p:txBody>
      </p:sp>
      <p:sp>
        <p:nvSpPr>
          <p:cNvPr id="424" name="Google Shape;424;p11"/>
          <p:cNvSpPr/>
          <p:nvPr/>
        </p:nvSpPr>
        <p:spPr>
          <a:xfrm>
            <a:off x="10952113" y="46416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25" name="Google Shape;425;p11"/>
          <p:cNvSpPr/>
          <p:nvPr/>
        </p:nvSpPr>
        <p:spPr>
          <a:xfrm>
            <a:off x="11223427" y="4651177"/>
            <a:ext cx="364813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Suggesting dashboard visualizations</a:t>
            </a:r>
            <a:endParaRPr b="0" i="0" sz="1800" u="none" cap="none" strike="noStrike">
              <a:solidFill>
                <a:schemeClr val="dk1"/>
              </a:solidFill>
              <a:latin typeface="Calibri"/>
              <a:ea typeface="Calibri"/>
              <a:cs typeface="Calibri"/>
              <a:sym typeface="Calibri"/>
            </a:endParaRPr>
          </a:p>
        </p:txBody>
      </p:sp>
      <p:sp>
        <p:nvSpPr>
          <p:cNvPr id="426" name="Google Shape;426;p11"/>
          <p:cNvSpPr/>
          <p:nvPr/>
        </p:nvSpPr>
        <p:spPr>
          <a:xfrm>
            <a:off x="10952113" y="50321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27" name="Google Shape;427;p11"/>
          <p:cNvSpPr/>
          <p:nvPr/>
        </p:nvSpPr>
        <p:spPr>
          <a:xfrm>
            <a:off x="11223427" y="5041702"/>
            <a:ext cx="3434492"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Turnover and retention narratives</a:t>
            </a:r>
            <a:endParaRPr b="0" i="0" sz="1800" u="none" cap="none" strike="noStrike">
              <a:solidFill>
                <a:schemeClr val="dk1"/>
              </a:solidFill>
              <a:latin typeface="Calibri"/>
              <a:ea typeface="Calibri"/>
              <a:cs typeface="Calibri"/>
              <a:sym typeface="Calibri"/>
            </a:endParaRPr>
          </a:p>
        </p:txBody>
      </p:sp>
      <p:sp>
        <p:nvSpPr>
          <p:cNvPr id="428" name="Google Shape;428;p11"/>
          <p:cNvSpPr/>
          <p:nvPr/>
        </p:nvSpPr>
        <p:spPr>
          <a:xfrm>
            <a:off x="10952113" y="54227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29" name="Google Shape;429;p11"/>
          <p:cNvSpPr/>
          <p:nvPr/>
        </p:nvSpPr>
        <p:spPr>
          <a:xfrm>
            <a:off x="11223427" y="5432227"/>
            <a:ext cx="365763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Headcount and diversity summaries</a:t>
            </a:r>
            <a:endParaRPr b="0" i="0" sz="1800" u="none" cap="none" strike="noStrike">
              <a:solidFill>
                <a:schemeClr val="dk1"/>
              </a:solidFill>
              <a:latin typeface="Calibri"/>
              <a:ea typeface="Calibri"/>
              <a:cs typeface="Calibri"/>
              <a:sym typeface="Calibri"/>
            </a:endParaRPr>
          </a:p>
        </p:txBody>
      </p:sp>
      <p:sp>
        <p:nvSpPr>
          <p:cNvPr id="430" name="Google Shape;430;p11"/>
          <p:cNvSpPr/>
          <p:nvPr/>
        </p:nvSpPr>
        <p:spPr>
          <a:xfrm>
            <a:off x="10952113" y="58132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31" name="Google Shape;431;p11"/>
          <p:cNvSpPr/>
          <p:nvPr/>
        </p:nvSpPr>
        <p:spPr>
          <a:xfrm>
            <a:off x="11223427" y="5822752"/>
            <a:ext cx="3524696"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Absence and overtime trend notes</a:t>
            </a:r>
            <a:endParaRPr b="0" i="0" sz="1800" u="none" cap="none" strike="noStrike">
              <a:solidFill>
                <a:schemeClr val="dk1"/>
              </a:solidFill>
              <a:latin typeface="Calibri"/>
              <a:ea typeface="Calibri"/>
              <a:cs typeface="Calibri"/>
              <a:sym typeface="Calibri"/>
            </a:endParaRPr>
          </a:p>
        </p:txBody>
      </p:sp>
      <p:sp>
        <p:nvSpPr>
          <p:cNvPr id="432" name="Google Shape;432;p11"/>
          <p:cNvSpPr/>
          <p:nvPr/>
        </p:nvSpPr>
        <p:spPr>
          <a:xfrm>
            <a:off x="10952113" y="62037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33" name="Google Shape;433;p11"/>
          <p:cNvSpPr/>
          <p:nvPr/>
        </p:nvSpPr>
        <p:spPr>
          <a:xfrm>
            <a:off x="11223427" y="6213277"/>
            <a:ext cx="2987397"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Recruitment funnel reporting</a:t>
            </a:r>
            <a:endParaRPr b="0" i="0" sz="1800" u="none" cap="none" strike="noStrike">
              <a:solidFill>
                <a:schemeClr val="dk1"/>
              </a:solidFill>
              <a:latin typeface="Calibri"/>
              <a:ea typeface="Calibri"/>
              <a:cs typeface="Calibri"/>
              <a:sym typeface="Calibri"/>
            </a:endParaRPr>
          </a:p>
        </p:txBody>
      </p:sp>
      <p:sp>
        <p:nvSpPr>
          <p:cNvPr id="434" name="Google Shape;434;p11"/>
          <p:cNvSpPr/>
          <p:nvPr/>
        </p:nvSpPr>
        <p:spPr>
          <a:xfrm>
            <a:off x="10952113" y="65942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35" name="Google Shape;435;p11"/>
          <p:cNvSpPr/>
          <p:nvPr/>
        </p:nvSpPr>
        <p:spPr>
          <a:xfrm>
            <a:off x="11223427" y="6603802"/>
            <a:ext cx="260153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Survey results summaries</a:t>
            </a:r>
            <a:endParaRPr b="0" i="0" sz="1800" u="none" cap="none" strike="noStrike">
              <a:solidFill>
                <a:schemeClr val="dk1"/>
              </a:solidFill>
              <a:latin typeface="Calibri"/>
              <a:ea typeface="Calibri"/>
              <a:cs typeface="Calibri"/>
              <a:sym typeface="Calibri"/>
            </a:endParaRPr>
          </a:p>
        </p:txBody>
      </p:sp>
      <p:sp>
        <p:nvSpPr>
          <p:cNvPr id="436" name="Google Shape;436;p11"/>
          <p:cNvSpPr/>
          <p:nvPr/>
        </p:nvSpPr>
        <p:spPr>
          <a:xfrm>
            <a:off x="10952113" y="69848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37" name="Google Shape;437;p11"/>
          <p:cNvSpPr/>
          <p:nvPr/>
        </p:nvSpPr>
        <p:spPr>
          <a:xfrm>
            <a:off x="11223427" y="6994327"/>
            <a:ext cx="245877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Leadership report drafts</a:t>
            </a:r>
            <a:endParaRPr b="0" i="0" sz="1800" u="none" cap="none" strike="noStrike">
              <a:solidFill>
                <a:schemeClr val="dk1"/>
              </a:solidFill>
              <a:latin typeface="Calibri"/>
              <a:ea typeface="Calibri"/>
              <a:cs typeface="Calibri"/>
              <a:sym typeface="Calibri"/>
            </a:endParaRPr>
          </a:p>
        </p:txBody>
      </p:sp>
      <p:sp>
        <p:nvSpPr>
          <p:cNvPr id="438" name="Google Shape;438;p11"/>
          <p:cNvSpPr/>
          <p:nvPr/>
        </p:nvSpPr>
        <p:spPr>
          <a:xfrm>
            <a:off x="10952113" y="73753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39" name="Google Shape;439;p11"/>
          <p:cNvSpPr/>
          <p:nvPr/>
        </p:nvSpPr>
        <p:spPr>
          <a:xfrm>
            <a:off x="11223427" y="7384852"/>
            <a:ext cx="2690426"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HR scorecard commentary</a:t>
            </a:r>
            <a:endParaRPr b="0" i="0" sz="1800" u="none" cap="none" strike="noStrike">
              <a:solidFill>
                <a:schemeClr val="dk1"/>
              </a:solidFill>
              <a:latin typeface="Calibri"/>
              <a:ea typeface="Calibri"/>
              <a:cs typeface="Calibri"/>
              <a:sym typeface="Calibri"/>
            </a:endParaRPr>
          </a:p>
        </p:txBody>
      </p:sp>
      <p:sp>
        <p:nvSpPr>
          <p:cNvPr id="440" name="Google Shape;440;p11"/>
          <p:cNvSpPr/>
          <p:nvPr/>
        </p:nvSpPr>
        <p:spPr>
          <a:xfrm>
            <a:off x="10952113" y="77658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41" name="Google Shape;441;p11"/>
          <p:cNvSpPr/>
          <p:nvPr/>
        </p:nvSpPr>
        <p:spPr>
          <a:xfrm>
            <a:off x="11223427" y="7775377"/>
            <a:ext cx="298657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Data-quality check reminders</a:t>
            </a:r>
            <a:endParaRPr b="0" i="0" sz="1800" u="none" cap="none" strike="noStrike">
              <a:solidFill>
                <a:schemeClr val="dk1"/>
              </a:solidFill>
              <a:latin typeface="Calibri"/>
              <a:ea typeface="Calibri"/>
              <a:cs typeface="Calibri"/>
              <a:sym typeface="Calibri"/>
            </a:endParaRPr>
          </a:p>
        </p:txBody>
      </p:sp>
      <p:sp>
        <p:nvSpPr>
          <p:cNvPr id="442" name="Google Shape;442;p11"/>
          <p:cNvSpPr/>
          <p:nvPr/>
        </p:nvSpPr>
        <p:spPr>
          <a:xfrm>
            <a:off x="10952113" y="81563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43" name="Google Shape;443;p11"/>
          <p:cNvSpPr/>
          <p:nvPr/>
        </p:nvSpPr>
        <p:spPr>
          <a:xfrm>
            <a:off x="11223427" y="8165902"/>
            <a:ext cx="334134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Ad-hoc report request templates</a:t>
            </a:r>
            <a:endParaRPr b="0" i="0" sz="1800" u="none" cap="none" strike="noStrike">
              <a:solidFill>
                <a:schemeClr val="dk1"/>
              </a:solidFill>
              <a:latin typeface="Calibri"/>
              <a:ea typeface="Calibri"/>
              <a:cs typeface="Calibri"/>
              <a:sym typeface="Calibri"/>
            </a:endParaRPr>
          </a:p>
        </p:txBody>
      </p:sp>
      <p:sp>
        <p:nvSpPr>
          <p:cNvPr id="444" name="Google Shape;444;p11"/>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445" name="Google Shape;445;p11"/>
          <p:cNvSpPr/>
          <p:nvPr/>
        </p:nvSpPr>
        <p:spPr>
          <a:xfrm>
            <a:off x="17114639" y="9582150"/>
            <a:ext cx="20181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9</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450" name="Shape 450"/>
        <p:cNvGrpSpPr/>
        <p:nvPr/>
      </p:nvGrpSpPr>
      <p:grpSpPr>
        <a:xfrm>
          <a:off x="0" y="0"/>
          <a:ext cx="0" cy="0"/>
          <a:chOff x="0" y="0"/>
          <a:chExt cx="0" cy="0"/>
        </a:xfrm>
      </p:grpSpPr>
      <p:sp>
        <p:nvSpPr>
          <p:cNvPr id="451" name="Google Shape;451;p12"/>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2"/>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08 · AI FOR OPERATIONAL HR</a:t>
            </a:r>
            <a:endParaRPr b="0" i="0" sz="1950" u="none" cap="none" strike="noStrike">
              <a:solidFill>
                <a:schemeClr val="dk1"/>
              </a:solidFill>
              <a:latin typeface="Calibri"/>
              <a:ea typeface="Calibri"/>
              <a:cs typeface="Calibri"/>
              <a:sym typeface="Calibri"/>
            </a:endParaRPr>
          </a:p>
        </p:txBody>
      </p:sp>
      <p:sp>
        <p:nvSpPr>
          <p:cNvPr id="453" name="Google Shape;453;p12"/>
          <p:cNvSpPr/>
          <p:nvPr/>
        </p:nvSpPr>
        <p:spPr>
          <a:xfrm>
            <a:off x="1047750" y="102870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Employee Experience</a:t>
            </a:r>
            <a:endParaRPr b="0" i="0" sz="4350" u="none" cap="none" strike="noStrike">
              <a:solidFill>
                <a:schemeClr val="dk1"/>
              </a:solidFill>
              <a:latin typeface="Calibri"/>
              <a:ea typeface="Calibri"/>
              <a:cs typeface="Calibri"/>
              <a:sym typeface="Calibri"/>
            </a:endParaRPr>
          </a:p>
        </p:txBody>
      </p:sp>
      <p:sp>
        <p:nvSpPr>
          <p:cNvPr id="454" name="Google Shape;454;p12"/>
          <p:cNvSpPr/>
          <p:nvPr/>
        </p:nvSpPr>
        <p:spPr>
          <a:xfrm>
            <a:off x="1047750" y="1736527"/>
            <a:ext cx="1781175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2175"/>
              <a:buFont typeface="Calibri"/>
              <a:buNone/>
            </a:pPr>
            <a:r>
              <a:rPr b="0" i="0" lang="en-US" sz="2175" u="none" cap="none" strike="noStrike">
                <a:solidFill>
                  <a:srgbClr val="9E9E9E"/>
                </a:solidFill>
                <a:latin typeface="Calibri"/>
                <a:ea typeface="Calibri"/>
                <a:cs typeface="Calibri"/>
                <a:sym typeface="Calibri"/>
              </a:rPr>
              <a:t>Listen, recognise and act on how people feel at work.</a:t>
            </a:r>
            <a:endParaRPr b="0" i="0" sz="2175" u="none" cap="none" strike="noStrike">
              <a:solidFill>
                <a:schemeClr val="dk1"/>
              </a:solidFill>
              <a:latin typeface="Calibri"/>
              <a:ea typeface="Calibri"/>
              <a:cs typeface="Calibri"/>
              <a:sym typeface="Calibri"/>
            </a:endParaRPr>
          </a:p>
        </p:txBody>
      </p:sp>
      <p:sp>
        <p:nvSpPr>
          <p:cNvPr id="455" name="Google Shape;455;p12"/>
          <p:cNvSpPr/>
          <p:nvPr/>
        </p:nvSpPr>
        <p:spPr>
          <a:xfrm>
            <a:off x="1047750" y="2403277"/>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SCENARIO</a:t>
            </a:r>
            <a:endParaRPr b="0" i="0" sz="1800" u="none" cap="none" strike="noStrike">
              <a:solidFill>
                <a:schemeClr val="dk1"/>
              </a:solidFill>
              <a:latin typeface="Calibri"/>
              <a:ea typeface="Calibri"/>
              <a:cs typeface="Calibri"/>
              <a:sym typeface="Calibri"/>
            </a:endParaRPr>
          </a:p>
        </p:txBody>
      </p:sp>
      <p:sp>
        <p:nvSpPr>
          <p:cNvPr id="456" name="Google Shape;456;p12"/>
          <p:cNvSpPr/>
          <p:nvPr/>
        </p:nvSpPr>
        <p:spPr>
          <a:xfrm>
            <a:off x="1047750" y="2793802"/>
            <a:ext cx="9465688" cy="75813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HR wants to run a short pulse survey to understand how employees are feeling after a busy quarter, with clear and unbiased questions.</a:t>
            </a:r>
            <a:endParaRPr b="0" i="0" sz="2025" u="none" cap="none" strike="noStrike">
              <a:solidFill>
                <a:schemeClr val="dk1"/>
              </a:solidFill>
              <a:latin typeface="Calibri"/>
              <a:ea typeface="Calibri"/>
              <a:cs typeface="Calibri"/>
              <a:sym typeface="Calibri"/>
            </a:endParaRPr>
          </a:p>
        </p:txBody>
      </p:sp>
      <p:sp>
        <p:nvSpPr>
          <p:cNvPr id="457" name="Google Shape;457;p12"/>
          <p:cNvSpPr/>
          <p:nvPr/>
        </p:nvSpPr>
        <p:spPr>
          <a:xfrm>
            <a:off x="1047750" y="3761482"/>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PROMPT</a:t>
            </a:r>
            <a:endParaRPr b="0" i="0" sz="1800" u="none" cap="none" strike="noStrike">
              <a:solidFill>
                <a:schemeClr val="dk1"/>
              </a:solidFill>
              <a:latin typeface="Calibri"/>
              <a:ea typeface="Calibri"/>
              <a:cs typeface="Calibri"/>
              <a:sym typeface="Calibri"/>
            </a:endParaRPr>
          </a:p>
        </p:txBody>
      </p:sp>
      <p:sp>
        <p:nvSpPr>
          <p:cNvPr id="458" name="Google Shape;458;p12"/>
          <p:cNvSpPr/>
          <p:nvPr/>
        </p:nvSpPr>
        <p:spPr>
          <a:xfrm>
            <a:off x="1047750" y="4152007"/>
            <a:ext cx="9189988" cy="1128713"/>
          </a:xfrm>
          <a:prstGeom prst="roundRect">
            <a:avLst>
              <a:gd fmla="val 11814"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2"/>
          <p:cNvSpPr/>
          <p:nvPr/>
        </p:nvSpPr>
        <p:spPr>
          <a:xfrm>
            <a:off x="1304925" y="4371082"/>
            <a:ext cx="8951338" cy="728662"/>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E6E6E6"/>
              </a:buClr>
              <a:buSzPts val="1875"/>
              <a:buFont typeface="Calibri"/>
              <a:buNone/>
            </a:pPr>
            <a:r>
              <a:rPr b="0" i="0" lang="en-US" sz="1875" u="none" cap="none" strike="noStrike">
                <a:solidFill>
                  <a:srgbClr val="E6E6E6"/>
                </a:solidFill>
                <a:latin typeface="Calibri"/>
                <a:ea typeface="Calibri"/>
                <a:cs typeface="Calibri"/>
                <a:sym typeface="Calibri"/>
              </a:rPr>
              <a:t>Create a short employee pulse survey of five to seven questions covering workload, wellbeing, recognition and support, using clear and neutral wording.</a:t>
            </a:r>
            <a:endParaRPr b="0" i="0" sz="1875" u="none" cap="none" strike="noStrike">
              <a:solidFill>
                <a:schemeClr val="dk1"/>
              </a:solidFill>
              <a:latin typeface="Calibri"/>
              <a:ea typeface="Calibri"/>
              <a:cs typeface="Calibri"/>
              <a:sym typeface="Calibri"/>
            </a:endParaRPr>
          </a:p>
        </p:txBody>
      </p:sp>
      <p:sp>
        <p:nvSpPr>
          <p:cNvPr id="460" name="Google Shape;460;p12"/>
          <p:cNvSpPr/>
          <p:nvPr/>
        </p:nvSpPr>
        <p:spPr>
          <a:xfrm>
            <a:off x="1047750" y="5509320"/>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DRAFT</a:t>
            </a:r>
            <a:endParaRPr b="0" i="0" sz="1800" u="none" cap="none" strike="noStrike">
              <a:solidFill>
                <a:schemeClr val="dk1"/>
              </a:solidFill>
              <a:latin typeface="Calibri"/>
              <a:ea typeface="Calibri"/>
              <a:cs typeface="Calibri"/>
              <a:sym typeface="Calibri"/>
            </a:endParaRPr>
          </a:p>
        </p:txBody>
      </p:sp>
      <p:sp>
        <p:nvSpPr>
          <p:cNvPr id="461" name="Google Shape;461;p12"/>
          <p:cNvSpPr/>
          <p:nvPr/>
        </p:nvSpPr>
        <p:spPr>
          <a:xfrm>
            <a:off x="1047750" y="5899845"/>
            <a:ext cx="9189988" cy="3247876"/>
          </a:xfrm>
          <a:prstGeom prst="roundRect">
            <a:avLst>
              <a:gd fmla="val 4106"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2"/>
          <p:cNvSpPr/>
          <p:nvPr/>
        </p:nvSpPr>
        <p:spPr>
          <a:xfrm>
            <a:off x="1304925" y="6118920"/>
            <a:ext cx="9543202"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75"/>
              <a:buFont typeface="Calibri"/>
              <a:buNone/>
            </a:pPr>
            <a:r>
              <a:rPr b="1" i="0" lang="en-US" sz="1875" u="none" cap="none" strike="noStrike">
                <a:solidFill>
                  <a:srgbClr val="FFD65C"/>
                </a:solidFill>
                <a:latin typeface="Calibri"/>
                <a:ea typeface="Calibri"/>
                <a:cs typeface="Calibri"/>
                <a:sym typeface="Calibri"/>
              </a:rPr>
              <a:t>Quarterly Pulse Survey</a:t>
            </a:r>
            <a:endParaRPr b="0" i="0" sz="1875" u="none" cap="none" strike="noStrike">
              <a:solidFill>
                <a:schemeClr val="dk1"/>
              </a:solidFill>
              <a:latin typeface="Calibri"/>
              <a:ea typeface="Calibri"/>
              <a:cs typeface="Calibri"/>
              <a:sym typeface="Calibri"/>
            </a:endParaRPr>
          </a:p>
        </p:txBody>
      </p:sp>
      <p:sp>
        <p:nvSpPr>
          <p:cNvPr id="463" name="Google Shape;463;p12"/>
          <p:cNvSpPr/>
          <p:nvPr/>
        </p:nvSpPr>
        <p:spPr>
          <a:xfrm>
            <a:off x="1304925" y="6509445"/>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1 </a:t>
            </a:r>
            <a:r>
              <a:rPr b="0" i="0" lang="en-US" sz="1800" u="none" cap="none" strike="noStrike">
                <a:solidFill>
                  <a:srgbClr val="E6E6E6"/>
                </a:solidFill>
                <a:latin typeface="Calibri"/>
                <a:ea typeface="Calibri"/>
                <a:cs typeface="Calibri"/>
                <a:sym typeface="Calibri"/>
              </a:rPr>
              <a:t>My current workload feels manageable. (1–5)</a:t>
            </a:r>
            <a:endParaRPr b="0" i="0" sz="1800" u="none" cap="none" strike="noStrike">
              <a:solidFill>
                <a:schemeClr val="dk1"/>
              </a:solidFill>
              <a:latin typeface="Calibri"/>
              <a:ea typeface="Calibri"/>
              <a:cs typeface="Calibri"/>
              <a:sym typeface="Calibri"/>
            </a:endParaRPr>
          </a:p>
        </p:txBody>
      </p:sp>
      <p:sp>
        <p:nvSpPr>
          <p:cNvPr id="464" name="Google Shape;464;p12"/>
          <p:cNvSpPr/>
          <p:nvPr/>
        </p:nvSpPr>
        <p:spPr>
          <a:xfrm>
            <a:off x="1304925" y="6881664"/>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2</a:t>
            </a:r>
            <a:r>
              <a:rPr b="0" i="0" lang="en-US" sz="1800" u="none" cap="none" strike="noStrike">
                <a:solidFill>
                  <a:srgbClr val="E6E6E6"/>
                </a:solidFill>
                <a:latin typeface="Calibri"/>
                <a:ea typeface="Calibri"/>
                <a:cs typeface="Calibri"/>
                <a:sym typeface="Calibri"/>
              </a:rPr>
              <a:t> I feel supported by my manager. (1–5)</a:t>
            </a:r>
            <a:endParaRPr b="0" i="0" sz="1800" u="none" cap="none" strike="noStrike">
              <a:solidFill>
                <a:schemeClr val="dk1"/>
              </a:solidFill>
              <a:latin typeface="Calibri"/>
              <a:ea typeface="Calibri"/>
              <a:cs typeface="Calibri"/>
              <a:sym typeface="Calibri"/>
            </a:endParaRPr>
          </a:p>
        </p:txBody>
      </p:sp>
      <p:sp>
        <p:nvSpPr>
          <p:cNvPr id="465" name="Google Shape;465;p12"/>
          <p:cNvSpPr/>
          <p:nvPr/>
        </p:nvSpPr>
        <p:spPr>
          <a:xfrm>
            <a:off x="1304925" y="7253883"/>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3 </a:t>
            </a:r>
            <a:r>
              <a:rPr b="0" i="0" lang="en-US" sz="1800" u="none" cap="none" strike="noStrike">
                <a:solidFill>
                  <a:srgbClr val="E6E6E6"/>
                </a:solidFill>
                <a:latin typeface="Calibri"/>
                <a:ea typeface="Calibri"/>
                <a:cs typeface="Calibri"/>
                <a:sym typeface="Calibri"/>
              </a:rPr>
              <a:t>My contributions are recognised. (1–5)</a:t>
            </a:r>
            <a:endParaRPr b="0" i="0" sz="1800" u="none" cap="none" strike="noStrike">
              <a:solidFill>
                <a:schemeClr val="dk1"/>
              </a:solidFill>
              <a:latin typeface="Calibri"/>
              <a:ea typeface="Calibri"/>
              <a:cs typeface="Calibri"/>
              <a:sym typeface="Calibri"/>
            </a:endParaRPr>
          </a:p>
        </p:txBody>
      </p:sp>
      <p:sp>
        <p:nvSpPr>
          <p:cNvPr id="466" name="Google Shape;466;p12"/>
          <p:cNvSpPr/>
          <p:nvPr/>
        </p:nvSpPr>
        <p:spPr>
          <a:xfrm>
            <a:off x="1304925" y="7626102"/>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4 </a:t>
            </a:r>
            <a:r>
              <a:rPr b="0" i="0" lang="en-US" sz="1800" u="none" cap="none" strike="noStrike">
                <a:solidFill>
                  <a:srgbClr val="E6E6E6"/>
                </a:solidFill>
                <a:latin typeface="Calibri"/>
                <a:ea typeface="Calibri"/>
                <a:cs typeface="Calibri"/>
                <a:sym typeface="Calibri"/>
              </a:rPr>
              <a:t>I have the resources I need to do my job well. (1–5)</a:t>
            </a:r>
            <a:endParaRPr b="0" i="0" sz="1800" u="none" cap="none" strike="noStrike">
              <a:solidFill>
                <a:schemeClr val="dk1"/>
              </a:solidFill>
              <a:latin typeface="Calibri"/>
              <a:ea typeface="Calibri"/>
              <a:cs typeface="Calibri"/>
              <a:sym typeface="Calibri"/>
            </a:endParaRPr>
          </a:p>
        </p:txBody>
      </p:sp>
      <p:sp>
        <p:nvSpPr>
          <p:cNvPr id="467" name="Google Shape;467;p12"/>
          <p:cNvSpPr/>
          <p:nvPr/>
        </p:nvSpPr>
        <p:spPr>
          <a:xfrm>
            <a:off x="1304925" y="7998321"/>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5 </a:t>
            </a:r>
            <a:r>
              <a:rPr b="0" i="0" lang="en-US" sz="1800" u="none" cap="none" strike="noStrike">
                <a:solidFill>
                  <a:srgbClr val="E6E6E6"/>
                </a:solidFill>
                <a:latin typeface="Calibri"/>
                <a:ea typeface="Calibri"/>
                <a:cs typeface="Calibri"/>
                <a:sym typeface="Calibri"/>
              </a:rPr>
              <a:t>What is one thing we could improve? (open text)</a:t>
            </a:r>
            <a:endParaRPr b="0" i="0" sz="1800" u="none" cap="none" strike="noStrike">
              <a:solidFill>
                <a:schemeClr val="dk1"/>
              </a:solidFill>
              <a:latin typeface="Calibri"/>
              <a:ea typeface="Calibri"/>
              <a:cs typeface="Calibri"/>
              <a:sym typeface="Calibri"/>
            </a:endParaRPr>
          </a:p>
        </p:txBody>
      </p:sp>
      <p:sp>
        <p:nvSpPr>
          <p:cNvPr id="468" name="Google Shape;468;p12"/>
          <p:cNvSpPr/>
          <p:nvPr/>
        </p:nvSpPr>
        <p:spPr>
          <a:xfrm>
            <a:off x="1304925" y="8475315"/>
            <a:ext cx="8675638" cy="9525"/>
          </a:xfrm>
          <a:prstGeom prst="rect">
            <a:avLst/>
          </a:prstGeom>
          <a:solidFill>
            <a:srgbClr val="FFD65C">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2"/>
          <p:cNvSpPr/>
          <p:nvPr/>
        </p:nvSpPr>
        <p:spPr>
          <a:xfrm>
            <a:off x="1304925" y="8608665"/>
            <a:ext cx="8935907" cy="35808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HR review: </a:t>
            </a:r>
            <a:r>
              <a:rPr b="0" i="0" lang="en-US" sz="1800" u="none" cap="none" strike="noStrike">
                <a:solidFill>
                  <a:srgbClr val="9E9E9E"/>
                </a:solidFill>
                <a:latin typeface="Calibri"/>
                <a:ea typeface="Calibri"/>
                <a:cs typeface="Calibri"/>
                <a:sym typeface="Calibri"/>
              </a:rPr>
              <a:t>confirm anonymity, tone and wording before sending.</a:t>
            </a:r>
            <a:endParaRPr b="0" i="0" sz="1800" u="none" cap="none" strike="noStrike">
              <a:solidFill>
                <a:schemeClr val="dk1"/>
              </a:solidFill>
              <a:latin typeface="Calibri"/>
              <a:ea typeface="Calibri"/>
              <a:cs typeface="Calibri"/>
              <a:sym typeface="Calibri"/>
            </a:endParaRPr>
          </a:p>
        </p:txBody>
      </p:sp>
      <p:sp>
        <p:nvSpPr>
          <p:cNvPr id="470" name="Google Shape;470;p12"/>
          <p:cNvSpPr/>
          <p:nvPr/>
        </p:nvSpPr>
        <p:spPr>
          <a:xfrm>
            <a:off x="10675888" y="2403277"/>
            <a:ext cx="722063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OTHER SCENARIOS</a:t>
            </a:r>
            <a:endParaRPr b="0" i="0" sz="1800" u="none" cap="none" strike="noStrike">
              <a:solidFill>
                <a:schemeClr val="dk1"/>
              </a:solidFill>
              <a:latin typeface="Calibri"/>
              <a:ea typeface="Calibri"/>
              <a:cs typeface="Calibri"/>
              <a:sym typeface="Calibri"/>
            </a:endParaRPr>
          </a:p>
        </p:txBody>
      </p:sp>
      <p:sp>
        <p:nvSpPr>
          <p:cNvPr id="471" name="Google Shape;471;p12"/>
          <p:cNvSpPr/>
          <p:nvPr/>
        </p:nvSpPr>
        <p:spPr>
          <a:xfrm>
            <a:off x="10675888" y="2793802"/>
            <a:ext cx="6564213" cy="6096000"/>
          </a:xfrm>
          <a:prstGeom prst="roundRect">
            <a:avLst>
              <a:gd fmla="val 2188"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2"/>
          <p:cNvSpPr/>
          <p:nvPr/>
        </p:nvSpPr>
        <p:spPr>
          <a:xfrm>
            <a:off x="10952113" y="30795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73" name="Google Shape;473;p12"/>
          <p:cNvSpPr/>
          <p:nvPr/>
        </p:nvSpPr>
        <p:spPr>
          <a:xfrm>
            <a:off x="11223427" y="3089077"/>
            <a:ext cx="304109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Engagement survey questions</a:t>
            </a:r>
            <a:endParaRPr b="0" i="0" sz="1800" u="none" cap="none" strike="noStrike">
              <a:solidFill>
                <a:schemeClr val="dk1"/>
              </a:solidFill>
              <a:latin typeface="Calibri"/>
              <a:ea typeface="Calibri"/>
              <a:cs typeface="Calibri"/>
              <a:sym typeface="Calibri"/>
            </a:endParaRPr>
          </a:p>
        </p:txBody>
      </p:sp>
      <p:sp>
        <p:nvSpPr>
          <p:cNvPr id="474" name="Google Shape;474;p12"/>
          <p:cNvSpPr/>
          <p:nvPr/>
        </p:nvSpPr>
        <p:spPr>
          <a:xfrm>
            <a:off x="10952113" y="34700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75" name="Google Shape;475;p12"/>
          <p:cNvSpPr/>
          <p:nvPr/>
        </p:nvSpPr>
        <p:spPr>
          <a:xfrm>
            <a:off x="11223427" y="3479602"/>
            <a:ext cx="1365022"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Pulse surveys</a:t>
            </a:r>
            <a:endParaRPr b="0" i="0" sz="1800" u="none" cap="none" strike="noStrike">
              <a:solidFill>
                <a:schemeClr val="dk1"/>
              </a:solidFill>
              <a:latin typeface="Calibri"/>
              <a:ea typeface="Calibri"/>
              <a:cs typeface="Calibri"/>
              <a:sym typeface="Calibri"/>
            </a:endParaRPr>
          </a:p>
        </p:txBody>
      </p:sp>
      <p:sp>
        <p:nvSpPr>
          <p:cNvPr id="476" name="Google Shape;476;p12"/>
          <p:cNvSpPr/>
          <p:nvPr/>
        </p:nvSpPr>
        <p:spPr>
          <a:xfrm>
            <a:off x="10952113" y="38606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77" name="Google Shape;477;p12"/>
          <p:cNvSpPr/>
          <p:nvPr/>
        </p:nvSpPr>
        <p:spPr>
          <a:xfrm>
            <a:off x="11223427" y="3870127"/>
            <a:ext cx="301801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Recognition and reward ideas</a:t>
            </a:r>
            <a:endParaRPr b="0" i="0" sz="1800" u="none" cap="none" strike="noStrike">
              <a:solidFill>
                <a:schemeClr val="dk1"/>
              </a:solidFill>
              <a:latin typeface="Calibri"/>
              <a:ea typeface="Calibri"/>
              <a:cs typeface="Calibri"/>
              <a:sym typeface="Calibri"/>
            </a:endParaRPr>
          </a:p>
        </p:txBody>
      </p:sp>
      <p:sp>
        <p:nvSpPr>
          <p:cNvPr id="478" name="Google Shape;478;p12"/>
          <p:cNvSpPr/>
          <p:nvPr/>
        </p:nvSpPr>
        <p:spPr>
          <a:xfrm>
            <a:off x="10952113" y="42511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79" name="Google Shape;479;p12"/>
          <p:cNvSpPr/>
          <p:nvPr/>
        </p:nvSpPr>
        <p:spPr>
          <a:xfrm>
            <a:off x="11223427" y="4260652"/>
            <a:ext cx="283907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Onboarding feedback forms</a:t>
            </a:r>
            <a:endParaRPr b="0" i="0" sz="1800" u="none" cap="none" strike="noStrike">
              <a:solidFill>
                <a:schemeClr val="dk1"/>
              </a:solidFill>
              <a:latin typeface="Calibri"/>
              <a:ea typeface="Calibri"/>
              <a:cs typeface="Calibri"/>
              <a:sym typeface="Calibri"/>
            </a:endParaRPr>
          </a:p>
        </p:txBody>
      </p:sp>
      <p:sp>
        <p:nvSpPr>
          <p:cNvPr id="480" name="Google Shape;480;p12"/>
          <p:cNvSpPr/>
          <p:nvPr/>
        </p:nvSpPr>
        <p:spPr>
          <a:xfrm>
            <a:off x="10952113" y="46416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81" name="Google Shape;481;p12"/>
          <p:cNvSpPr/>
          <p:nvPr/>
        </p:nvSpPr>
        <p:spPr>
          <a:xfrm>
            <a:off x="11223427" y="4651177"/>
            <a:ext cx="243454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Exit interview questions</a:t>
            </a:r>
            <a:endParaRPr b="0" i="0" sz="1800" u="none" cap="none" strike="noStrike">
              <a:solidFill>
                <a:schemeClr val="dk1"/>
              </a:solidFill>
              <a:latin typeface="Calibri"/>
              <a:ea typeface="Calibri"/>
              <a:cs typeface="Calibri"/>
              <a:sym typeface="Calibri"/>
            </a:endParaRPr>
          </a:p>
        </p:txBody>
      </p:sp>
      <p:sp>
        <p:nvSpPr>
          <p:cNvPr id="482" name="Google Shape;482;p12"/>
          <p:cNvSpPr/>
          <p:nvPr/>
        </p:nvSpPr>
        <p:spPr>
          <a:xfrm>
            <a:off x="10952113" y="50321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83" name="Google Shape;483;p12"/>
          <p:cNvSpPr/>
          <p:nvPr/>
        </p:nvSpPr>
        <p:spPr>
          <a:xfrm>
            <a:off x="11223427" y="5041702"/>
            <a:ext cx="285037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Stay interview question sets</a:t>
            </a:r>
            <a:endParaRPr b="0" i="0" sz="1800" u="none" cap="none" strike="noStrike">
              <a:solidFill>
                <a:schemeClr val="dk1"/>
              </a:solidFill>
              <a:latin typeface="Calibri"/>
              <a:ea typeface="Calibri"/>
              <a:cs typeface="Calibri"/>
              <a:sym typeface="Calibri"/>
            </a:endParaRPr>
          </a:p>
        </p:txBody>
      </p:sp>
      <p:sp>
        <p:nvSpPr>
          <p:cNvPr id="484" name="Google Shape;484;p12"/>
          <p:cNvSpPr/>
          <p:nvPr/>
        </p:nvSpPr>
        <p:spPr>
          <a:xfrm>
            <a:off x="10952113" y="54227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85" name="Google Shape;485;p12"/>
          <p:cNvSpPr/>
          <p:nvPr/>
        </p:nvSpPr>
        <p:spPr>
          <a:xfrm>
            <a:off x="11223427" y="5432227"/>
            <a:ext cx="370232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Wellbeing initiative communications</a:t>
            </a:r>
            <a:endParaRPr b="0" i="0" sz="1800" u="none" cap="none" strike="noStrike">
              <a:solidFill>
                <a:schemeClr val="dk1"/>
              </a:solidFill>
              <a:latin typeface="Calibri"/>
              <a:ea typeface="Calibri"/>
              <a:cs typeface="Calibri"/>
              <a:sym typeface="Calibri"/>
            </a:endParaRPr>
          </a:p>
        </p:txBody>
      </p:sp>
      <p:sp>
        <p:nvSpPr>
          <p:cNvPr id="486" name="Google Shape;486;p12"/>
          <p:cNvSpPr/>
          <p:nvPr/>
        </p:nvSpPr>
        <p:spPr>
          <a:xfrm>
            <a:off x="10952113" y="58132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87" name="Google Shape;487;p12"/>
          <p:cNvSpPr/>
          <p:nvPr/>
        </p:nvSpPr>
        <p:spPr>
          <a:xfrm>
            <a:off x="11223427" y="5822752"/>
            <a:ext cx="269173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Team-building suggestions</a:t>
            </a:r>
            <a:endParaRPr b="0" i="0" sz="1800" u="none" cap="none" strike="noStrike">
              <a:solidFill>
                <a:schemeClr val="dk1"/>
              </a:solidFill>
              <a:latin typeface="Calibri"/>
              <a:ea typeface="Calibri"/>
              <a:cs typeface="Calibri"/>
              <a:sym typeface="Calibri"/>
            </a:endParaRPr>
          </a:p>
        </p:txBody>
      </p:sp>
      <p:sp>
        <p:nvSpPr>
          <p:cNvPr id="488" name="Google Shape;488;p12"/>
          <p:cNvSpPr/>
          <p:nvPr/>
        </p:nvSpPr>
        <p:spPr>
          <a:xfrm>
            <a:off x="10952113" y="62037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89" name="Google Shape;489;p12"/>
          <p:cNvSpPr/>
          <p:nvPr/>
        </p:nvSpPr>
        <p:spPr>
          <a:xfrm>
            <a:off x="11223427" y="6213277"/>
            <a:ext cx="308054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Focus-group discussion guides</a:t>
            </a:r>
            <a:endParaRPr b="0" i="0" sz="1800" u="none" cap="none" strike="noStrike">
              <a:solidFill>
                <a:schemeClr val="dk1"/>
              </a:solidFill>
              <a:latin typeface="Calibri"/>
              <a:ea typeface="Calibri"/>
              <a:cs typeface="Calibri"/>
              <a:sym typeface="Calibri"/>
            </a:endParaRPr>
          </a:p>
        </p:txBody>
      </p:sp>
      <p:sp>
        <p:nvSpPr>
          <p:cNvPr id="490" name="Google Shape;490;p12"/>
          <p:cNvSpPr/>
          <p:nvPr/>
        </p:nvSpPr>
        <p:spPr>
          <a:xfrm>
            <a:off x="10952113" y="65942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91" name="Google Shape;491;p12"/>
          <p:cNvSpPr/>
          <p:nvPr/>
        </p:nvSpPr>
        <p:spPr>
          <a:xfrm>
            <a:off x="11223427" y="6603802"/>
            <a:ext cx="345266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Survey follow-up communications</a:t>
            </a:r>
            <a:endParaRPr b="0" i="0" sz="1800" u="none" cap="none" strike="noStrike">
              <a:solidFill>
                <a:schemeClr val="dk1"/>
              </a:solidFill>
              <a:latin typeface="Calibri"/>
              <a:ea typeface="Calibri"/>
              <a:cs typeface="Calibri"/>
              <a:sym typeface="Calibri"/>
            </a:endParaRPr>
          </a:p>
        </p:txBody>
      </p:sp>
      <p:sp>
        <p:nvSpPr>
          <p:cNvPr id="492" name="Google Shape;492;p12"/>
          <p:cNvSpPr/>
          <p:nvPr/>
        </p:nvSpPr>
        <p:spPr>
          <a:xfrm>
            <a:off x="10952113" y="69848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93" name="Google Shape;493;p12"/>
          <p:cNvSpPr/>
          <p:nvPr/>
        </p:nvSpPr>
        <p:spPr>
          <a:xfrm>
            <a:off x="11223427" y="6994327"/>
            <a:ext cx="346412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One-to-one conversation prompts</a:t>
            </a:r>
            <a:endParaRPr b="0" i="0" sz="1800" u="none" cap="none" strike="noStrike">
              <a:solidFill>
                <a:schemeClr val="dk1"/>
              </a:solidFill>
              <a:latin typeface="Calibri"/>
              <a:ea typeface="Calibri"/>
              <a:cs typeface="Calibri"/>
              <a:sym typeface="Calibri"/>
            </a:endParaRPr>
          </a:p>
        </p:txBody>
      </p:sp>
      <p:sp>
        <p:nvSpPr>
          <p:cNvPr id="494" name="Google Shape;494;p12"/>
          <p:cNvSpPr/>
          <p:nvPr/>
        </p:nvSpPr>
        <p:spPr>
          <a:xfrm>
            <a:off x="10952113" y="73753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95" name="Google Shape;495;p12"/>
          <p:cNvSpPr/>
          <p:nvPr/>
        </p:nvSpPr>
        <p:spPr>
          <a:xfrm>
            <a:off x="11223427" y="7384852"/>
            <a:ext cx="338341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Employee appreciation messages</a:t>
            </a:r>
            <a:endParaRPr b="0" i="0" sz="1800" u="none" cap="none" strike="noStrike">
              <a:solidFill>
                <a:schemeClr val="dk1"/>
              </a:solidFill>
              <a:latin typeface="Calibri"/>
              <a:ea typeface="Calibri"/>
              <a:cs typeface="Calibri"/>
              <a:sym typeface="Calibri"/>
            </a:endParaRPr>
          </a:p>
        </p:txBody>
      </p:sp>
      <p:sp>
        <p:nvSpPr>
          <p:cNvPr id="496" name="Google Shape;496;p12"/>
          <p:cNvSpPr/>
          <p:nvPr/>
        </p:nvSpPr>
        <p:spPr>
          <a:xfrm>
            <a:off x="10952113" y="77658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97" name="Google Shape;497;p12"/>
          <p:cNvSpPr/>
          <p:nvPr/>
        </p:nvSpPr>
        <p:spPr>
          <a:xfrm>
            <a:off x="11223427" y="7775377"/>
            <a:ext cx="2987725"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Culture and values reminders</a:t>
            </a:r>
            <a:endParaRPr b="0" i="0" sz="1800" u="none" cap="none" strike="noStrike">
              <a:solidFill>
                <a:schemeClr val="dk1"/>
              </a:solidFill>
              <a:latin typeface="Calibri"/>
              <a:ea typeface="Calibri"/>
              <a:cs typeface="Calibri"/>
              <a:sym typeface="Calibri"/>
            </a:endParaRPr>
          </a:p>
        </p:txBody>
      </p:sp>
      <p:sp>
        <p:nvSpPr>
          <p:cNvPr id="498" name="Google Shape;498;p12"/>
          <p:cNvSpPr/>
          <p:nvPr/>
        </p:nvSpPr>
        <p:spPr>
          <a:xfrm>
            <a:off x="10952113" y="81563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499" name="Google Shape;499;p12"/>
          <p:cNvSpPr/>
          <p:nvPr/>
        </p:nvSpPr>
        <p:spPr>
          <a:xfrm>
            <a:off x="11223427" y="8165902"/>
            <a:ext cx="293386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30-day new-starter check-ins</a:t>
            </a:r>
            <a:endParaRPr b="0" i="0" sz="1800" u="none" cap="none" strike="noStrike">
              <a:solidFill>
                <a:schemeClr val="dk1"/>
              </a:solidFill>
              <a:latin typeface="Calibri"/>
              <a:ea typeface="Calibri"/>
              <a:cs typeface="Calibri"/>
              <a:sym typeface="Calibri"/>
            </a:endParaRPr>
          </a:p>
        </p:txBody>
      </p:sp>
      <p:sp>
        <p:nvSpPr>
          <p:cNvPr id="500" name="Google Shape;500;p12"/>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501" name="Google Shape;501;p12"/>
          <p:cNvSpPr/>
          <p:nvPr/>
        </p:nvSpPr>
        <p:spPr>
          <a:xfrm>
            <a:off x="16989177" y="9582150"/>
            <a:ext cx="32727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10</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506" name="Shape 506"/>
        <p:cNvGrpSpPr/>
        <p:nvPr/>
      </p:nvGrpSpPr>
      <p:grpSpPr>
        <a:xfrm>
          <a:off x="0" y="0"/>
          <a:ext cx="0" cy="0"/>
          <a:chOff x="0" y="0"/>
          <a:chExt cx="0" cy="0"/>
        </a:xfrm>
      </p:grpSpPr>
      <p:sp>
        <p:nvSpPr>
          <p:cNvPr id="507" name="Google Shape;507;p13"/>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3"/>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09 · AI FOR OPERATIONAL HR</a:t>
            </a:r>
            <a:endParaRPr b="0" i="0" sz="1950" u="none" cap="none" strike="noStrike">
              <a:solidFill>
                <a:schemeClr val="dk1"/>
              </a:solidFill>
              <a:latin typeface="Calibri"/>
              <a:ea typeface="Calibri"/>
              <a:cs typeface="Calibri"/>
              <a:sym typeface="Calibri"/>
            </a:endParaRPr>
          </a:p>
        </p:txBody>
      </p:sp>
      <p:sp>
        <p:nvSpPr>
          <p:cNvPr id="509" name="Google Shape;509;p13"/>
          <p:cNvSpPr/>
          <p:nvPr/>
        </p:nvSpPr>
        <p:spPr>
          <a:xfrm>
            <a:off x="1047750" y="102870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HR Systems Support</a:t>
            </a:r>
            <a:endParaRPr b="0" i="0" sz="4350" u="none" cap="none" strike="noStrike">
              <a:solidFill>
                <a:schemeClr val="dk1"/>
              </a:solidFill>
              <a:latin typeface="Calibri"/>
              <a:ea typeface="Calibri"/>
              <a:cs typeface="Calibri"/>
              <a:sym typeface="Calibri"/>
            </a:endParaRPr>
          </a:p>
        </p:txBody>
      </p:sp>
      <p:sp>
        <p:nvSpPr>
          <p:cNvPr id="510" name="Google Shape;510;p13"/>
          <p:cNvSpPr/>
          <p:nvPr/>
        </p:nvSpPr>
        <p:spPr>
          <a:xfrm>
            <a:off x="1047750" y="1736527"/>
            <a:ext cx="1781175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2175"/>
              <a:buFont typeface="Calibri"/>
              <a:buNone/>
            </a:pPr>
            <a:r>
              <a:rPr b="0" i="0" lang="en-US" sz="2175" u="none" cap="none" strike="noStrike">
                <a:solidFill>
                  <a:srgbClr val="9E9E9E"/>
                </a:solidFill>
                <a:latin typeface="Calibri"/>
                <a:ea typeface="Calibri"/>
                <a:cs typeface="Calibri"/>
                <a:sym typeface="Calibri"/>
              </a:rPr>
              <a:t>Help people use HR systems with less friction.</a:t>
            </a:r>
            <a:endParaRPr b="0" i="0" sz="2175" u="none" cap="none" strike="noStrike">
              <a:solidFill>
                <a:schemeClr val="dk1"/>
              </a:solidFill>
              <a:latin typeface="Calibri"/>
              <a:ea typeface="Calibri"/>
              <a:cs typeface="Calibri"/>
              <a:sym typeface="Calibri"/>
            </a:endParaRPr>
          </a:p>
        </p:txBody>
      </p:sp>
      <p:sp>
        <p:nvSpPr>
          <p:cNvPr id="511" name="Google Shape;511;p13"/>
          <p:cNvSpPr/>
          <p:nvPr/>
        </p:nvSpPr>
        <p:spPr>
          <a:xfrm>
            <a:off x="1047750" y="2403277"/>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SCENARIO</a:t>
            </a:r>
            <a:endParaRPr b="0" i="0" sz="1800" u="none" cap="none" strike="noStrike">
              <a:solidFill>
                <a:schemeClr val="dk1"/>
              </a:solidFill>
              <a:latin typeface="Calibri"/>
              <a:ea typeface="Calibri"/>
              <a:cs typeface="Calibri"/>
              <a:sym typeface="Calibri"/>
            </a:endParaRPr>
          </a:p>
        </p:txBody>
      </p:sp>
      <p:sp>
        <p:nvSpPr>
          <p:cNvPr id="512" name="Google Shape;512;p13"/>
          <p:cNvSpPr/>
          <p:nvPr/>
        </p:nvSpPr>
        <p:spPr>
          <a:xfrm>
            <a:off x="1047750" y="2793802"/>
            <a:ext cx="9465688" cy="75813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6E6E6"/>
              </a:buClr>
              <a:buSzPts val="2025"/>
              <a:buFont typeface="Calibri"/>
              <a:buNone/>
            </a:pPr>
            <a:r>
              <a:rPr b="0" i="0" lang="en-US" sz="2025" u="none" cap="none" strike="noStrike">
                <a:solidFill>
                  <a:srgbClr val="E6E6E6"/>
                </a:solidFill>
                <a:latin typeface="Calibri"/>
                <a:ea typeface="Calibri"/>
                <a:cs typeface="Calibri"/>
                <a:sym typeface="Calibri"/>
              </a:rPr>
              <a:t>The company is rolling out a new leave module in the HR system, and employees need a simple guide to use it without raising support tickets.</a:t>
            </a:r>
            <a:endParaRPr b="0" i="0" sz="2025" u="none" cap="none" strike="noStrike">
              <a:solidFill>
                <a:schemeClr val="dk1"/>
              </a:solidFill>
              <a:latin typeface="Calibri"/>
              <a:ea typeface="Calibri"/>
              <a:cs typeface="Calibri"/>
              <a:sym typeface="Calibri"/>
            </a:endParaRPr>
          </a:p>
        </p:txBody>
      </p:sp>
      <p:sp>
        <p:nvSpPr>
          <p:cNvPr id="513" name="Google Shape;513;p13"/>
          <p:cNvSpPr/>
          <p:nvPr/>
        </p:nvSpPr>
        <p:spPr>
          <a:xfrm>
            <a:off x="1047750" y="3761482"/>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PROMPT</a:t>
            </a:r>
            <a:endParaRPr b="0" i="0" sz="1800" u="none" cap="none" strike="noStrike">
              <a:solidFill>
                <a:schemeClr val="dk1"/>
              </a:solidFill>
              <a:latin typeface="Calibri"/>
              <a:ea typeface="Calibri"/>
              <a:cs typeface="Calibri"/>
              <a:sym typeface="Calibri"/>
            </a:endParaRPr>
          </a:p>
        </p:txBody>
      </p:sp>
      <p:sp>
        <p:nvSpPr>
          <p:cNvPr id="514" name="Google Shape;514;p13"/>
          <p:cNvSpPr/>
          <p:nvPr/>
        </p:nvSpPr>
        <p:spPr>
          <a:xfrm>
            <a:off x="1047750" y="4152007"/>
            <a:ext cx="9189988" cy="1128713"/>
          </a:xfrm>
          <a:prstGeom prst="roundRect">
            <a:avLst>
              <a:gd fmla="val 11814"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3"/>
          <p:cNvSpPr/>
          <p:nvPr/>
        </p:nvSpPr>
        <p:spPr>
          <a:xfrm>
            <a:off x="1304925" y="4371082"/>
            <a:ext cx="8951338" cy="728662"/>
          </a:xfrm>
          <a:prstGeom prst="rect">
            <a:avLst/>
          </a:prstGeom>
          <a:noFill/>
          <a:ln>
            <a:noFill/>
          </a:ln>
        </p:spPr>
        <p:txBody>
          <a:bodyPr anchorCtr="0" anchor="t" bIns="25400" lIns="25400" spcFirstLastPara="1" rIns="25400" wrap="square" tIns="25400">
            <a:noAutofit/>
          </a:bodyPr>
          <a:lstStyle/>
          <a:p>
            <a:pPr indent="0" lvl="0" marL="0" marR="0" rtl="0" algn="l">
              <a:lnSpc>
                <a:spcPct val="145000"/>
              </a:lnSpc>
              <a:spcBef>
                <a:spcPts val="0"/>
              </a:spcBef>
              <a:spcAft>
                <a:spcPts val="0"/>
              </a:spcAft>
              <a:buClr>
                <a:srgbClr val="E6E6E6"/>
              </a:buClr>
              <a:buSzPts val="1875"/>
              <a:buFont typeface="Calibri"/>
              <a:buNone/>
            </a:pPr>
            <a:r>
              <a:rPr b="0" i="0" lang="en-US" sz="1875" u="none" cap="none" strike="noStrike">
                <a:solidFill>
                  <a:srgbClr val="E6E6E6"/>
                </a:solidFill>
                <a:latin typeface="Calibri"/>
                <a:ea typeface="Calibri"/>
                <a:cs typeface="Calibri"/>
                <a:sym typeface="Calibri"/>
              </a:rPr>
              <a:t>Write a simple, step-by-step user guide for booking leave in the new HR system module, written for non-technical employees, with a short troubleshooting section.</a:t>
            </a:r>
            <a:endParaRPr b="0" i="0" sz="1875" u="none" cap="none" strike="noStrike">
              <a:solidFill>
                <a:schemeClr val="dk1"/>
              </a:solidFill>
              <a:latin typeface="Calibri"/>
              <a:ea typeface="Calibri"/>
              <a:cs typeface="Calibri"/>
              <a:sym typeface="Calibri"/>
            </a:endParaRPr>
          </a:p>
        </p:txBody>
      </p:sp>
      <p:sp>
        <p:nvSpPr>
          <p:cNvPr id="516" name="Google Shape;516;p13"/>
          <p:cNvSpPr/>
          <p:nvPr/>
        </p:nvSpPr>
        <p:spPr>
          <a:xfrm>
            <a:off x="1047750" y="5509320"/>
            <a:ext cx="1010898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AI DRAFT</a:t>
            </a:r>
            <a:endParaRPr b="0" i="0" sz="1800" u="none" cap="none" strike="noStrike">
              <a:solidFill>
                <a:schemeClr val="dk1"/>
              </a:solidFill>
              <a:latin typeface="Calibri"/>
              <a:ea typeface="Calibri"/>
              <a:cs typeface="Calibri"/>
              <a:sym typeface="Calibri"/>
            </a:endParaRPr>
          </a:p>
        </p:txBody>
      </p:sp>
      <p:sp>
        <p:nvSpPr>
          <p:cNvPr id="517" name="Google Shape;517;p13"/>
          <p:cNvSpPr/>
          <p:nvPr/>
        </p:nvSpPr>
        <p:spPr>
          <a:xfrm>
            <a:off x="1047750" y="5899845"/>
            <a:ext cx="9189988" cy="3247876"/>
          </a:xfrm>
          <a:prstGeom prst="roundRect">
            <a:avLst>
              <a:gd fmla="val 4106"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3"/>
          <p:cNvSpPr/>
          <p:nvPr/>
        </p:nvSpPr>
        <p:spPr>
          <a:xfrm>
            <a:off x="1304925" y="6118920"/>
            <a:ext cx="9543202"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75"/>
              <a:buFont typeface="Calibri"/>
              <a:buNone/>
            </a:pPr>
            <a:r>
              <a:rPr b="1" i="0" lang="en-US" sz="1875" u="none" cap="none" strike="noStrike">
                <a:solidFill>
                  <a:srgbClr val="FFD65C"/>
                </a:solidFill>
                <a:latin typeface="Calibri"/>
                <a:ea typeface="Calibri"/>
                <a:cs typeface="Calibri"/>
                <a:sym typeface="Calibri"/>
              </a:rPr>
              <a:t>Booking Leave in the HR System</a:t>
            </a:r>
            <a:endParaRPr b="0" i="0" sz="1875" u="none" cap="none" strike="noStrike">
              <a:solidFill>
                <a:schemeClr val="dk1"/>
              </a:solidFill>
              <a:latin typeface="Calibri"/>
              <a:ea typeface="Calibri"/>
              <a:cs typeface="Calibri"/>
              <a:sym typeface="Calibri"/>
            </a:endParaRPr>
          </a:p>
        </p:txBody>
      </p:sp>
      <p:sp>
        <p:nvSpPr>
          <p:cNvPr id="519" name="Google Shape;519;p13"/>
          <p:cNvSpPr/>
          <p:nvPr/>
        </p:nvSpPr>
        <p:spPr>
          <a:xfrm>
            <a:off x="1304925" y="6509445"/>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1 </a:t>
            </a:r>
            <a:r>
              <a:rPr b="0" i="0" lang="en-US" sz="1800" u="none" cap="none" strike="noStrike">
                <a:solidFill>
                  <a:srgbClr val="E6E6E6"/>
                </a:solidFill>
                <a:latin typeface="Calibri"/>
                <a:ea typeface="Calibri"/>
                <a:cs typeface="Calibri"/>
                <a:sym typeface="Calibri"/>
              </a:rPr>
              <a:t>Sign in and select “Leave” from the main menu.</a:t>
            </a:r>
            <a:endParaRPr b="0" i="0" sz="1800" u="none" cap="none" strike="noStrike">
              <a:solidFill>
                <a:schemeClr val="dk1"/>
              </a:solidFill>
              <a:latin typeface="Calibri"/>
              <a:ea typeface="Calibri"/>
              <a:cs typeface="Calibri"/>
              <a:sym typeface="Calibri"/>
            </a:endParaRPr>
          </a:p>
        </p:txBody>
      </p:sp>
      <p:sp>
        <p:nvSpPr>
          <p:cNvPr id="520" name="Google Shape;520;p13"/>
          <p:cNvSpPr/>
          <p:nvPr/>
        </p:nvSpPr>
        <p:spPr>
          <a:xfrm>
            <a:off x="1304925" y="6881664"/>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2 </a:t>
            </a:r>
            <a:r>
              <a:rPr b="0" i="0" lang="en-US" sz="1800" u="none" cap="none" strike="noStrike">
                <a:solidFill>
                  <a:srgbClr val="E6E6E6"/>
                </a:solidFill>
                <a:latin typeface="Calibri"/>
                <a:ea typeface="Calibri"/>
                <a:cs typeface="Calibri"/>
                <a:sym typeface="Calibri"/>
              </a:rPr>
              <a:t>Choose “New Request” and pick your leave type.</a:t>
            </a:r>
            <a:endParaRPr b="0" i="0" sz="1800" u="none" cap="none" strike="noStrike">
              <a:solidFill>
                <a:schemeClr val="dk1"/>
              </a:solidFill>
              <a:latin typeface="Calibri"/>
              <a:ea typeface="Calibri"/>
              <a:cs typeface="Calibri"/>
              <a:sym typeface="Calibri"/>
            </a:endParaRPr>
          </a:p>
        </p:txBody>
      </p:sp>
      <p:sp>
        <p:nvSpPr>
          <p:cNvPr id="521" name="Google Shape;521;p13"/>
          <p:cNvSpPr/>
          <p:nvPr/>
        </p:nvSpPr>
        <p:spPr>
          <a:xfrm>
            <a:off x="1304925" y="7253883"/>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3 </a:t>
            </a:r>
            <a:r>
              <a:rPr b="0" i="0" lang="en-US" sz="1800" u="none" cap="none" strike="noStrike">
                <a:solidFill>
                  <a:srgbClr val="E6E6E6"/>
                </a:solidFill>
                <a:latin typeface="Calibri"/>
                <a:ea typeface="Calibri"/>
                <a:cs typeface="Calibri"/>
                <a:sym typeface="Calibri"/>
              </a:rPr>
              <a:t>Select your dates and submit for approval.</a:t>
            </a:r>
            <a:endParaRPr b="0" i="0" sz="1800" u="none" cap="none" strike="noStrike">
              <a:solidFill>
                <a:schemeClr val="dk1"/>
              </a:solidFill>
              <a:latin typeface="Calibri"/>
              <a:ea typeface="Calibri"/>
              <a:cs typeface="Calibri"/>
              <a:sym typeface="Calibri"/>
            </a:endParaRPr>
          </a:p>
        </p:txBody>
      </p:sp>
      <p:sp>
        <p:nvSpPr>
          <p:cNvPr id="522" name="Google Shape;522;p13"/>
          <p:cNvSpPr/>
          <p:nvPr/>
        </p:nvSpPr>
        <p:spPr>
          <a:xfrm>
            <a:off x="1304925" y="7626102"/>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4 </a:t>
            </a:r>
            <a:r>
              <a:rPr b="0" i="0" lang="en-US" sz="1800" u="none" cap="none" strike="noStrike">
                <a:solidFill>
                  <a:srgbClr val="E6E6E6"/>
                </a:solidFill>
                <a:latin typeface="Calibri"/>
                <a:ea typeface="Calibri"/>
                <a:cs typeface="Calibri"/>
                <a:sym typeface="Calibri"/>
              </a:rPr>
              <a:t>You'll get an email once your manager responds.</a:t>
            </a:r>
            <a:endParaRPr b="0" i="0" sz="1800" u="none" cap="none" strike="noStrike">
              <a:solidFill>
                <a:schemeClr val="dk1"/>
              </a:solidFill>
              <a:latin typeface="Calibri"/>
              <a:ea typeface="Calibri"/>
              <a:cs typeface="Calibri"/>
              <a:sym typeface="Calibri"/>
            </a:endParaRPr>
          </a:p>
        </p:txBody>
      </p:sp>
      <p:sp>
        <p:nvSpPr>
          <p:cNvPr id="523" name="Google Shape;523;p13"/>
          <p:cNvSpPr/>
          <p:nvPr/>
        </p:nvSpPr>
        <p:spPr>
          <a:xfrm>
            <a:off x="1304925" y="7998321"/>
            <a:ext cx="9543202" cy="362694"/>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Troubleshooting </a:t>
            </a:r>
            <a:r>
              <a:rPr b="0" i="0" lang="en-US" sz="1800" u="none" cap="none" strike="noStrike">
                <a:solidFill>
                  <a:srgbClr val="E6E6E6"/>
                </a:solidFill>
                <a:latin typeface="Calibri"/>
                <a:ea typeface="Calibri"/>
                <a:cs typeface="Calibri"/>
                <a:sym typeface="Calibri"/>
              </a:rPr>
              <a:t>— If a date is blocked, it may be a public holiday.</a:t>
            </a:r>
            <a:endParaRPr b="0" i="0" sz="1800" u="none" cap="none" strike="noStrike">
              <a:solidFill>
                <a:schemeClr val="dk1"/>
              </a:solidFill>
              <a:latin typeface="Calibri"/>
              <a:ea typeface="Calibri"/>
              <a:cs typeface="Calibri"/>
              <a:sym typeface="Calibri"/>
            </a:endParaRPr>
          </a:p>
        </p:txBody>
      </p:sp>
      <p:sp>
        <p:nvSpPr>
          <p:cNvPr id="524" name="Google Shape;524;p13"/>
          <p:cNvSpPr/>
          <p:nvPr/>
        </p:nvSpPr>
        <p:spPr>
          <a:xfrm>
            <a:off x="1304925" y="8475315"/>
            <a:ext cx="8675638" cy="9525"/>
          </a:xfrm>
          <a:prstGeom prst="rect">
            <a:avLst/>
          </a:prstGeom>
          <a:solidFill>
            <a:srgbClr val="FFD65C">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3"/>
          <p:cNvSpPr/>
          <p:nvPr/>
        </p:nvSpPr>
        <p:spPr>
          <a:xfrm>
            <a:off x="1304925" y="8608665"/>
            <a:ext cx="8935907" cy="35808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HR review: </a:t>
            </a:r>
            <a:r>
              <a:rPr b="0" i="0" lang="en-US" sz="1800" u="none" cap="none" strike="noStrike">
                <a:solidFill>
                  <a:srgbClr val="9E9E9E"/>
                </a:solidFill>
                <a:latin typeface="Calibri"/>
                <a:ea typeface="Calibri"/>
                <a:cs typeface="Calibri"/>
                <a:sym typeface="Calibri"/>
              </a:rPr>
              <a:t>confirm menu names and screenshots match the live system.</a:t>
            </a:r>
            <a:endParaRPr b="0" i="0" sz="1800" u="none" cap="none" strike="noStrike">
              <a:solidFill>
                <a:schemeClr val="dk1"/>
              </a:solidFill>
              <a:latin typeface="Calibri"/>
              <a:ea typeface="Calibri"/>
              <a:cs typeface="Calibri"/>
              <a:sym typeface="Calibri"/>
            </a:endParaRPr>
          </a:p>
        </p:txBody>
      </p:sp>
      <p:sp>
        <p:nvSpPr>
          <p:cNvPr id="526" name="Google Shape;526;p13"/>
          <p:cNvSpPr/>
          <p:nvPr/>
        </p:nvSpPr>
        <p:spPr>
          <a:xfrm>
            <a:off x="10675888" y="2403277"/>
            <a:ext cx="722063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800"/>
              <a:buFont typeface="Calibri"/>
              <a:buNone/>
            </a:pPr>
            <a:r>
              <a:rPr b="1" i="0" lang="en-US" sz="1800" u="none" cap="none" strike="noStrike">
                <a:solidFill>
                  <a:srgbClr val="FFD65C"/>
                </a:solidFill>
                <a:latin typeface="Calibri"/>
                <a:ea typeface="Calibri"/>
                <a:cs typeface="Calibri"/>
                <a:sym typeface="Calibri"/>
              </a:rPr>
              <a:t>OTHER SCENARIOS</a:t>
            </a:r>
            <a:endParaRPr b="0" i="0" sz="1800" u="none" cap="none" strike="noStrike">
              <a:solidFill>
                <a:schemeClr val="dk1"/>
              </a:solidFill>
              <a:latin typeface="Calibri"/>
              <a:ea typeface="Calibri"/>
              <a:cs typeface="Calibri"/>
              <a:sym typeface="Calibri"/>
            </a:endParaRPr>
          </a:p>
        </p:txBody>
      </p:sp>
      <p:sp>
        <p:nvSpPr>
          <p:cNvPr id="527" name="Google Shape;527;p13"/>
          <p:cNvSpPr/>
          <p:nvPr/>
        </p:nvSpPr>
        <p:spPr>
          <a:xfrm>
            <a:off x="10675888" y="2793802"/>
            <a:ext cx="6564213" cy="6096000"/>
          </a:xfrm>
          <a:prstGeom prst="roundRect">
            <a:avLst>
              <a:gd fmla="val 2188"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3"/>
          <p:cNvSpPr/>
          <p:nvPr/>
        </p:nvSpPr>
        <p:spPr>
          <a:xfrm>
            <a:off x="10952113" y="30795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29" name="Google Shape;529;p13"/>
          <p:cNvSpPr/>
          <p:nvPr/>
        </p:nvSpPr>
        <p:spPr>
          <a:xfrm>
            <a:off x="11223427" y="3089077"/>
            <a:ext cx="116085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User guides</a:t>
            </a:r>
            <a:endParaRPr b="0" i="0" sz="1800" u="none" cap="none" strike="noStrike">
              <a:solidFill>
                <a:schemeClr val="dk1"/>
              </a:solidFill>
              <a:latin typeface="Calibri"/>
              <a:ea typeface="Calibri"/>
              <a:cs typeface="Calibri"/>
              <a:sym typeface="Calibri"/>
            </a:endParaRPr>
          </a:p>
        </p:txBody>
      </p:sp>
      <p:sp>
        <p:nvSpPr>
          <p:cNvPr id="530" name="Google Shape;530;p13"/>
          <p:cNvSpPr/>
          <p:nvPr/>
        </p:nvSpPr>
        <p:spPr>
          <a:xfrm>
            <a:off x="10952113" y="34700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31" name="Google Shape;531;p13"/>
          <p:cNvSpPr/>
          <p:nvPr/>
        </p:nvSpPr>
        <p:spPr>
          <a:xfrm>
            <a:off x="11223427" y="3479602"/>
            <a:ext cx="2573536"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System training materials</a:t>
            </a:r>
            <a:endParaRPr b="0" i="0" sz="1800" u="none" cap="none" strike="noStrike">
              <a:solidFill>
                <a:schemeClr val="dk1"/>
              </a:solidFill>
              <a:latin typeface="Calibri"/>
              <a:ea typeface="Calibri"/>
              <a:cs typeface="Calibri"/>
              <a:sym typeface="Calibri"/>
            </a:endParaRPr>
          </a:p>
        </p:txBody>
      </p:sp>
      <p:sp>
        <p:nvSpPr>
          <p:cNvPr id="532" name="Google Shape;532;p13"/>
          <p:cNvSpPr/>
          <p:nvPr/>
        </p:nvSpPr>
        <p:spPr>
          <a:xfrm>
            <a:off x="10952113" y="38606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33" name="Google Shape;533;p13"/>
          <p:cNvSpPr/>
          <p:nvPr/>
        </p:nvSpPr>
        <p:spPr>
          <a:xfrm>
            <a:off x="11223427" y="3870127"/>
            <a:ext cx="2033290"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FAQ documentation</a:t>
            </a:r>
            <a:endParaRPr b="0" i="0" sz="1800" u="none" cap="none" strike="noStrike">
              <a:solidFill>
                <a:schemeClr val="dk1"/>
              </a:solidFill>
              <a:latin typeface="Calibri"/>
              <a:ea typeface="Calibri"/>
              <a:cs typeface="Calibri"/>
              <a:sym typeface="Calibri"/>
            </a:endParaRPr>
          </a:p>
        </p:txBody>
      </p:sp>
      <p:sp>
        <p:nvSpPr>
          <p:cNvPr id="534" name="Google Shape;534;p13"/>
          <p:cNvSpPr/>
          <p:nvPr/>
        </p:nvSpPr>
        <p:spPr>
          <a:xfrm>
            <a:off x="10952113" y="42511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35" name="Google Shape;535;p13"/>
          <p:cNvSpPr/>
          <p:nvPr/>
        </p:nvSpPr>
        <p:spPr>
          <a:xfrm>
            <a:off x="11223427" y="4260652"/>
            <a:ext cx="237708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Troubleshooting guides</a:t>
            </a:r>
            <a:endParaRPr b="0" i="0" sz="1800" u="none" cap="none" strike="noStrike">
              <a:solidFill>
                <a:schemeClr val="dk1"/>
              </a:solidFill>
              <a:latin typeface="Calibri"/>
              <a:ea typeface="Calibri"/>
              <a:cs typeface="Calibri"/>
              <a:sym typeface="Calibri"/>
            </a:endParaRPr>
          </a:p>
        </p:txBody>
      </p:sp>
      <p:sp>
        <p:nvSpPr>
          <p:cNvPr id="536" name="Google Shape;536;p13"/>
          <p:cNvSpPr/>
          <p:nvPr/>
        </p:nvSpPr>
        <p:spPr>
          <a:xfrm>
            <a:off x="10952113" y="46416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37" name="Google Shape;537;p13"/>
          <p:cNvSpPr/>
          <p:nvPr/>
        </p:nvSpPr>
        <p:spPr>
          <a:xfrm>
            <a:off x="11223427" y="4651177"/>
            <a:ext cx="263541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Release notes for updates</a:t>
            </a:r>
            <a:endParaRPr b="0" i="0" sz="1800" u="none" cap="none" strike="noStrike">
              <a:solidFill>
                <a:schemeClr val="dk1"/>
              </a:solidFill>
              <a:latin typeface="Calibri"/>
              <a:ea typeface="Calibri"/>
              <a:cs typeface="Calibri"/>
              <a:sym typeface="Calibri"/>
            </a:endParaRPr>
          </a:p>
        </p:txBody>
      </p:sp>
      <p:sp>
        <p:nvSpPr>
          <p:cNvPr id="538" name="Google Shape;538;p13"/>
          <p:cNvSpPr/>
          <p:nvPr/>
        </p:nvSpPr>
        <p:spPr>
          <a:xfrm>
            <a:off x="10952113" y="50321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39" name="Google Shape;539;p13"/>
          <p:cNvSpPr/>
          <p:nvPr/>
        </p:nvSpPr>
        <p:spPr>
          <a:xfrm>
            <a:off x="11223427" y="5041702"/>
            <a:ext cx="296464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Quick-reference cheat sheets</a:t>
            </a:r>
            <a:endParaRPr b="0" i="0" sz="1800" u="none" cap="none" strike="noStrike">
              <a:solidFill>
                <a:schemeClr val="dk1"/>
              </a:solidFill>
              <a:latin typeface="Calibri"/>
              <a:ea typeface="Calibri"/>
              <a:cs typeface="Calibri"/>
              <a:sym typeface="Calibri"/>
            </a:endParaRPr>
          </a:p>
        </p:txBody>
      </p:sp>
      <p:sp>
        <p:nvSpPr>
          <p:cNvPr id="540" name="Google Shape;540;p13"/>
          <p:cNvSpPr/>
          <p:nvPr/>
        </p:nvSpPr>
        <p:spPr>
          <a:xfrm>
            <a:off x="10952113" y="54227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41" name="Google Shape;541;p13"/>
          <p:cNvSpPr/>
          <p:nvPr/>
        </p:nvSpPr>
        <p:spPr>
          <a:xfrm>
            <a:off x="11223427" y="5432227"/>
            <a:ext cx="326865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Self-service portal walkthroughs</a:t>
            </a:r>
            <a:endParaRPr b="0" i="0" sz="1800" u="none" cap="none" strike="noStrike">
              <a:solidFill>
                <a:schemeClr val="dk1"/>
              </a:solidFill>
              <a:latin typeface="Calibri"/>
              <a:ea typeface="Calibri"/>
              <a:cs typeface="Calibri"/>
              <a:sym typeface="Calibri"/>
            </a:endParaRPr>
          </a:p>
        </p:txBody>
      </p:sp>
      <p:sp>
        <p:nvSpPr>
          <p:cNvPr id="542" name="Google Shape;542;p13"/>
          <p:cNvSpPr/>
          <p:nvPr/>
        </p:nvSpPr>
        <p:spPr>
          <a:xfrm>
            <a:off x="10952113" y="58132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43" name="Google Shape;543;p13"/>
          <p:cNvSpPr/>
          <p:nvPr/>
        </p:nvSpPr>
        <p:spPr>
          <a:xfrm>
            <a:off x="11223427" y="5822752"/>
            <a:ext cx="3368844"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Manager approval how-to guides</a:t>
            </a:r>
            <a:endParaRPr b="0" i="0" sz="1800" u="none" cap="none" strike="noStrike">
              <a:solidFill>
                <a:schemeClr val="dk1"/>
              </a:solidFill>
              <a:latin typeface="Calibri"/>
              <a:ea typeface="Calibri"/>
              <a:cs typeface="Calibri"/>
              <a:sym typeface="Calibri"/>
            </a:endParaRPr>
          </a:p>
        </p:txBody>
      </p:sp>
      <p:sp>
        <p:nvSpPr>
          <p:cNvPr id="544" name="Google Shape;544;p13"/>
          <p:cNvSpPr/>
          <p:nvPr/>
        </p:nvSpPr>
        <p:spPr>
          <a:xfrm>
            <a:off x="10952113" y="62037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45" name="Google Shape;545;p13"/>
          <p:cNvSpPr/>
          <p:nvPr/>
        </p:nvSpPr>
        <p:spPr>
          <a:xfrm>
            <a:off x="11223427" y="6213277"/>
            <a:ext cx="2764259"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Record-update instructions</a:t>
            </a:r>
            <a:endParaRPr b="0" i="0" sz="1800" u="none" cap="none" strike="noStrike">
              <a:solidFill>
                <a:schemeClr val="dk1"/>
              </a:solidFill>
              <a:latin typeface="Calibri"/>
              <a:ea typeface="Calibri"/>
              <a:cs typeface="Calibri"/>
              <a:sym typeface="Calibri"/>
            </a:endParaRPr>
          </a:p>
        </p:txBody>
      </p:sp>
      <p:sp>
        <p:nvSpPr>
          <p:cNvPr id="546" name="Google Shape;546;p13"/>
          <p:cNvSpPr/>
          <p:nvPr/>
        </p:nvSpPr>
        <p:spPr>
          <a:xfrm>
            <a:off x="10952113" y="65942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47" name="Google Shape;547;p13"/>
          <p:cNvSpPr/>
          <p:nvPr/>
        </p:nvSpPr>
        <p:spPr>
          <a:xfrm>
            <a:off x="11223427" y="6603802"/>
            <a:ext cx="3763878"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New-module rollout announcements</a:t>
            </a:r>
            <a:endParaRPr b="0" i="0" sz="1800" u="none" cap="none" strike="noStrike">
              <a:solidFill>
                <a:schemeClr val="dk1"/>
              </a:solidFill>
              <a:latin typeface="Calibri"/>
              <a:ea typeface="Calibri"/>
              <a:cs typeface="Calibri"/>
              <a:sym typeface="Calibri"/>
            </a:endParaRPr>
          </a:p>
        </p:txBody>
      </p:sp>
      <p:sp>
        <p:nvSpPr>
          <p:cNvPr id="548" name="Google Shape;548;p13"/>
          <p:cNvSpPr/>
          <p:nvPr/>
        </p:nvSpPr>
        <p:spPr>
          <a:xfrm>
            <a:off x="10952113" y="698480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49" name="Google Shape;549;p13"/>
          <p:cNvSpPr/>
          <p:nvPr/>
        </p:nvSpPr>
        <p:spPr>
          <a:xfrm>
            <a:off x="11223427" y="6994327"/>
            <a:ext cx="312000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Access and permissions guides</a:t>
            </a:r>
            <a:endParaRPr b="0" i="0" sz="1800" u="none" cap="none" strike="noStrike">
              <a:solidFill>
                <a:schemeClr val="dk1"/>
              </a:solidFill>
              <a:latin typeface="Calibri"/>
              <a:ea typeface="Calibri"/>
              <a:cs typeface="Calibri"/>
              <a:sym typeface="Calibri"/>
            </a:endParaRPr>
          </a:p>
        </p:txBody>
      </p:sp>
      <p:sp>
        <p:nvSpPr>
          <p:cNvPr id="550" name="Google Shape;550;p13"/>
          <p:cNvSpPr/>
          <p:nvPr/>
        </p:nvSpPr>
        <p:spPr>
          <a:xfrm>
            <a:off x="10952113" y="737532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51" name="Google Shape;551;p13"/>
          <p:cNvSpPr/>
          <p:nvPr/>
        </p:nvSpPr>
        <p:spPr>
          <a:xfrm>
            <a:off x="11223427" y="7384852"/>
            <a:ext cx="285741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Common error explanations</a:t>
            </a:r>
            <a:endParaRPr b="0" i="0" sz="1800" u="none" cap="none" strike="noStrike">
              <a:solidFill>
                <a:schemeClr val="dk1"/>
              </a:solidFill>
              <a:latin typeface="Calibri"/>
              <a:ea typeface="Calibri"/>
              <a:cs typeface="Calibri"/>
              <a:sym typeface="Calibri"/>
            </a:endParaRPr>
          </a:p>
        </p:txBody>
      </p:sp>
      <p:sp>
        <p:nvSpPr>
          <p:cNvPr id="552" name="Google Shape;552;p13"/>
          <p:cNvSpPr/>
          <p:nvPr/>
        </p:nvSpPr>
        <p:spPr>
          <a:xfrm>
            <a:off x="10952113" y="7765852"/>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53" name="Google Shape;553;p13"/>
          <p:cNvSpPr/>
          <p:nvPr/>
        </p:nvSpPr>
        <p:spPr>
          <a:xfrm>
            <a:off x="11223427" y="7775377"/>
            <a:ext cx="2962513"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New system user onboarding</a:t>
            </a:r>
            <a:endParaRPr b="0" i="0" sz="1800" u="none" cap="none" strike="noStrike">
              <a:solidFill>
                <a:schemeClr val="dk1"/>
              </a:solidFill>
              <a:latin typeface="Calibri"/>
              <a:ea typeface="Calibri"/>
              <a:cs typeface="Calibri"/>
              <a:sym typeface="Calibri"/>
            </a:endParaRPr>
          </a:p>
        </p:txBody>
      </p:sp>
      <p:sp>
        <p:nvSpPr>
          <p:cNvPr id="554" name="Google Shape;554;p13"/>
          <p:cNvSpPr/>
          <p:nvPr/>
        </p:nvSpPr>
        <p:spPr>
          <a:xfrm>
            <a:off x="10952113" y="8156377"/>
            <a:ext cx="2332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1650"/>
              <a:buFont typeface="Calibri"/>
              <a:buNone/>
            </a:pPr>
            <a:r>
              <a:rPr b="1" i="0" lang="en-US" sz="1650" u="none" cap="none" strike="noStrike">
                <a:solidFill>
                  <a:srgbClr val="43B7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555" name="Google Shape;555;p13"/>
          <p:cNvSpPr/>
          <p:nvPr/>
        </p:nvSpPr>
        <p:spPr>
          <a:xfrm>
            <a:off x="11223427" y="8165902"/>
            <a:ext cx="3496211" cy="32385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E6E6E6"/>
              </a:buClr>
              <a:buSzPts val="1800"/>
              <a:buFont typeface="Calibri"/>
              <a:buNone/>
            </a:pPr>
            <a:r>
              <a:rPr b="0" i="0" lang="en-US" sz="1800" u="none" cap="none" strike="noStrike">
                <a:solidFill>
                  <a:srgbClr val="E6E6E6"/>
                </a:solidFill>
                <a:latin typeface="Calibri"/>
                <a:ea typeface="Calibri"/>
                <a:cs typeface="Calibri"/>
                <a:sym typeface="Calibri"/>
              </a:rPr>
              <a:t>Support ticket response templates</a:t>
            </a:r>
            <a:endParaRPr b="0" i="0" sz="1800" u="none" cap="none" strike="noStrike">
              <a:solidFill>
                <a:schemeClr val="dk1"/>
              </a:solidFill>
              <a:latin typeface="Calibri"/>
              <a:ea typeface="Calibri"/>
              <a:cs typeface="Calibri"/>
              <a:sym typeface="Calibri"/>
            </a:endParaRPr>
          </a:p>
        </p:txBody>
      </p:sp>
      <p:sp>
        <p:nvSpPr>
          <p:cNvPr id="556" name="Google Shape;556;p13"/>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557" name="Google Shape;557;p13"/>
          <p:cNvSpPr/>
          <p:nvPr/>
        </p:nvSpPr>
        <p:spPr>
          <a:xfrm>
            <a:off x="16989177" y="9582150"/>
            <a:ext cx="32727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11</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562" name="Shape 562"/>
        <p:cNvGrpSpPr/>
        <p:nvPr/>
      </p:nvGrpSpPr>
      <p:grpSpPr>
        <a:xfrm>
          <a:off x="0" y="0"/>
          <a:ext cx="0" cy="0"/>
          <a:chOff x="0" y="0"/>
          <a:chExt cx="0" cy="0"/>
        </a:xfrm>
      </p:grpSpPr>
      <p:sp>
        <p:nvSpPr>
          <p:cNvPr id="563" name="Google Shape;563;p14"/>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4"/>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PROMPT LIBRARY</a:t>
            </a:r>
            <a:endParaRPr b="0" i="0" sz="1950" u="none" cap="none" strike="noStrike">
              <a:solidFill>
                <a:schemeClr val="dk1"/>
              </a:solidFill>
              <a:latin typeface="Calibri"/>
              <a:ea typeface="Calibri"/>
              <a:cs typeface="Calibri"/>
              <a:sym typeface="Calibri"/>
            </a:endParaRPr>
          </a:p>
        </p:txBody>
      </p:sp>
      <p:sp>
        <p:nvSpPr>
          <p:cNvPr id="565" name="Google Shape;565;p14"/>
          <p:cNvSpPr/>
          <p:nvPr/>
        </p:nvSpPr>
        <p:spPr>
          <a:xfrm>
            <a:off x="1047750" y="104775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Prompt Library</a:t>
            </a:r>
            <a:endParaRPr b="0" i="0" sz="4350" u="none" cap="none" strike="noStrike">
              <a:solidFill>
                <a:schemeClr val="dk1"/>
              </a:solidFill>
              <a:latin typeface="Calibri"/>
              <a:ea typeface="Calibri"/>
              <a:cs typeface="Calibri"/>
              <a:sym typeface="Calibri"/>
            </a:endParaRPr>
          </a:p>
        </p:txBody>
      </p:sp>
      <p:sp>
        <p:nvSpPr>
          <p:cNvPr id="566" name="Google Shape;566;p14"/>
          <p:cNvSpPr/>
          <p:nvPr/>
        </p:nvSpPr>
        <p:spPr>
          <a:xfrm>
            <a:off x="1047750" y="1774627"/>
            <a:ext cx="1781175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2175"/>
              <a:buFont typeface="Calibri"/>
              <a:buNone/>
            </a:pPr>
            <a:r>
              <a:rPr b="0" i="0" lang="en-US" sz="2175" u="none" cap="none" strike="noStrike">
                <a:solidFill>
                  <a:srgbClr val="9E9E9E"/>
                </a:solidFill>
                <a:latin typeface="Calibri"/>
                <a:ea typeface="Calibri"/>
                <a:cs typeface="Calibri"/>
                <a:sym typeface="Calibri"/>
              </a:rPr>
              <a:t>Copy-and-adapt prompts for everyday HR tasks.</a:t>
            </a:r>
            <a:endParaRPr b="0" i="0" sz="2175" u="none" cap="none" strike="noStrike">
              <a:solidFill>
                <a:schemeClr val="dk1"/>
              </a:solidFill>
              <a:latin typeface="Calibri"/>
              <a:ea typeface="Calibri"/>
              <a:cs typeface="Calibri"/>
              <a:sym typeface="Calibri"/>
            </a:endParaRPr>
          </a:p>
        </p:txBody>
      </p:sp>
      <p:sp>
        <p:nvSpPr>
          <p:cNvPr id="567" name="Google Shape;567;p14"/>
          <p:cNvSpPr/>
          <p:nvPr/>
        </p:nvSpPr>
        <p:spPr>
          <a:xfrm>
            <a:off x="1047750" y="2498527"/>
            <a:ext cx="16192500" cy="923925"/>
          </a:xfrm>
          <a:prstGeom prst="roundRect">
            <a:avLst>
              <a:gd fmla="val 14433"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4"/>
          <p:cNvSpPr/>
          <p:nvPr/>
        </p:nvSpPr>
        <p:spPr>
          <a:xfrm>
            <a:off x="1381125" y="2774752"/>
            <a:ext cx="16011525"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400"/>
              <a:buFont typeface="Calibri"/>
              <a:buNone/>
            </a:pPr>
            <a:r>
              <a:rPr b="0" i="0" lang="en-US" sz="2400" u="none" cap="none" strike="noStrike">
                <a:solidFill>
                  <a:srgbClr val="FFD65C"/>
                </a:solidFill>
                <a:latin typeface="Calibri"/>
                <a:ea typeface="Calibri"/>
                <a:cs typeface="Calibri"/>
                <a:sym typeface="Calibri"/>
              </a:rPr>
              <a:t>“Create a professional onboarding checklist for a new employee.”</a:t>
            </a:r>
            <a:endParaRPr b="0" i="0" sz="2400" u="none" cap="none" strike="noStrike">
              <a:solidFill>
                <a:schemeClr val="dk1"/>
              </a:solidFill>
              <a:latin typeface="Calibri"/>
              <a:ea typeface="Calibri"/>
              <a:cs typeface="Calibri"/>
              <a:sym typeface="Calibri"/>
            </a:endParaRPr>
          </a:p>
        </p:txBody>
      </p:sp>
      <p:sp>
        <p:nvSpPr>
          <p:cNvPr id="569" name="Google Shape;569;p14"/>
          <p:cNvSpPr/>
          <p:nvPr/>
        </p:nvSpPr>
        <p:spPr>
          <a:xfrm>
            <a:off x="1047750" y="3612952"/>
            <a:ext cx="16192500" cy="923925"/>
          </a:xfrm>
          <a:prstGeom prst="roundRect">
            <a:avLst>
              <a:gd fmla="val 14433"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4"/>
          <p:cNvSpPr/>
          <p:nvPr/>
        </p:nvSpPr>
        <p:spPr>
          <a:xfrm>
            <a:off x="1381125" y="3889177"/>
            <a:ext cx="16011525"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400"/>
              <a:buFont typeface="Calibri"/>
              <a:buNone/>
            </a:pPr>
            <a:r>
              <a:rPr b="0" i="0" lang="en-US" sz="2400" u="none" cap="none" strike="noStrike">
                <a:solidFill>
                  <a:srgbClr val="FFD65C"/>
                </a:solidFill>
                <a:latin typeface="Calibri"/>
                <a:ea typeface="Calibri"/>
                <a:cs typeface="Calibri"/>
                <a:sym typeface="Calibri"/>
              </a:rPr>
              <a:t>“Summarize this HR policy in plain English.”</a:t>
            </a:r>
            <a:endParaRPr b="0" i="0" sz="2400" u="none" cap="none" strike="noStrike">
              <a:solidFill>
                <a:schemeClr val="dk1"/>
              </a:solidFill>
              <a:latin typeface="Calibri"/>
              <a:ea typeface="Calibri"/>
              <a:cs typeface="Calibri"/>
              <a:sym typeface="Calibri"/>
            </a:endParaRPr>
          </a:p>
        </p:txBody>
      </p:sp>
      <p:sp>
        <p:nvSpPr>
          <p:cNvPr id="571" name="Google Shape;571;p14"/>
          <p:cNvSpPr/>
          <p:nvPr/>
        </p:nvSpPr>
        <p:spPr>
          <a:xfrm>
            <a:off x="1047750" y="4727377"/>
            <a:ext cx="16192500" cy="923925"/>
          </a:xfrm>
          <a:prstGeom prst="roundRect">
            <a:avLst>
              <a:gd fmla="val 14433"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4"/>
          <p:cNvSpPr/>
          <p:nvPr/>
        </p:nvSpPr>
        <p:spPr>
          <a:xfrm>
            <a:off x="1381125" y="5003602"/>
            <a:ext cx="16011525"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400"/>
              <a:buFont typeface="Calibri"/>
              <a:buNone/>
            </a:pPr>
            <a:r>
              <a:rPr b="0" i="0" lang="en-US" sz="2400" u="none" cap="none" strike="noStrike">
                <a:solidFill>
                  <a:srgbClr val="FFD65C"/>
                </a:solidFill>
                <a:latin typeface="Calibri"/>
                <a:ea typeface="Calibri"/>
                <a:cs typeface="Calibri"/>
                <a:sym typeface="Calibri"/>
              </a:rPr>
              <a:t>“Draft an email reminding employees to submit timesheets.”</a:t>
            </a:r>
            <a:endParaRPr b="0" i="0" sz="2400" u="none" cap="none" strike="noStrike">
              <a:solidFill>
                <a:schemeClr val="dk1"/>
              </a:solidFill>
              <a:latin typeface="Calibri"/>
              <a:ea typeface="Calibri"/>
              <a:cs typeface="Calibri"/>
              <a:sym typeface="Calibri"/>
            </a:endParaRPr>
          </a:p>
        </p:txBody>
      </p:sp>
      <p:sp>
        <p:nvSpPr>
          <p:cNvPr id="573" name="Google Shape;573;p14"/>
          <p:cNvSpPr/>
          <p:nvPr/>
        </p:nvSpPr>
        <p:spPr>
          <a:xfrm>
            <a:off x="1047750" y="5841802"/>
            <a:ext cx="16192500" cy="923925"/>
          </a:xfrm>
          <a:prstGeom prst="roundRect">
            <a:avLst>
              <a:gd fmla="val 14433"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4"/>
          <p:cNvSpPr/>
          <p:nvPr/>
        </p:nvSpPr>
        <p:spPr>
          <a:xfrm>
            <a:off x="1381125" y="6118027"/>
            <a:ext cx="16011525"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400"/>
              <a:buFont typeface="Calibri"/>
              <a:buNone/>
            </a:pPr>
            <a:r>
              <a:rPr b="0" i="0" lang="en-US" sz="2400" u="none" cap="none" strike="noStrike">
                <a:solidFill>
                  <a:srgbClr val="FFD65C"/>
                </a:solidFill>
                <a:latin typeface="Calibri"/>
                <a:ea typeface="Calibri"/>
                <a:cs typeface="Calibri"/>
                <a:sym typeface="Calibri"/>
              </a:rPr>
              <a:t>“Generate interview questions for an HR Generalist.”</a:t>
            </a:r>
            <a:endParaRPr b="0" i="0" sz="2400" u="none" cap="none" strike="noStrike">
              <a:solidFill>
                <a:schemeClr val="dk1"/>
              </a:solidFill>
              <a:latin typeface="Calibri"/>
              <a:ea typeface="Calibri"/>
              <a:cs typeface="Calibri"/>
              <a:sym typeface="Calibri"/>
            </a:endParaRPr>
          </a:p>
        </p:txBody>
      </p:sp>
      <p:sp>
        <p:nvSpPr>
          <p:cNvPr id="575" name="Google Shape;575;p14"/>
          <p:cNvSpPr/>
          <p:nvPr/>
        </p:nvSpPr>
        <p:spPr>
          <a:xfrm>
            <a:off x="1047750" y="6956227"/>
            <a:ext cx="16192500" cy="923925"/>
          </a:xfrm>
          <a:prstGeom prst="roundRect">
            <a:avLst>
              <a:gd fmla="val 14433"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4"/>
          <p:cNvSpPr/>
          <p:nvPr/>
        </p:nvSpPr>
        <p:spPr>
          <a:xfrm>
            <a:off x="1381125" y="7232452"/>
            <a:ext cx="16011525"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400"/>
              <a:buFont typeface="Calibri"/>
              <a:buNone/>
            </a:pPr>
            <a:r>
              <a:rPr b="0" i="0" lang="en-US" sz="2400" u="none" cap="none" strike="noStrike">
                <a:solidFill>
                  <a:srgbClr val="FFD65C"/>
                </a:solidFill>
                <a:latin typeface="Calibri"/>
                <a:ea typeface="Calibri"/>
                <a:cs typeface="Calibri"/>
                <a:sym typeface="Calibri"/>
              </a:rPr>
              <a:t>“Create a return-to-work meeting agenda.”</a:t>
            </a:r>
            <a:endParaRPr b="0" i="0" sz="2400" u="none" cap="none" strike="noStrike">
              <a:solidFill>
                <a:schemeClr val="dk1"/>
              </a:solidFill>
              <a:latin typeface="Calibri"/>
              <a:ea typeface="Calibri"/>
              <a:cs typeface="Calibri"/>
              <a:sym typeface="Calibri"/>
            </a:endParaRPr>
          </a:p>
        </p:txBody>
      </p:sp>
      <p:sp>
        <p:nvSpPr>
          <p:cNvPr id="577" name="Google Shape;577;p14"/>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578" name="Google Shape;578;p14"/>
          <p:cNvSpPr/>
          <p:nvPr/>
        </p:nvSpPr>
        <p:spPr>
          <a:xfrm>
            <a:off x="16989177" y="9582150"/>
            <a:ext cx="32727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12</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583" name="Shape 583"/>
        <p:cNvGrpSpPr/>
        <p:nvPr/>
      </p:nvGrpSpPr>
      <p:grpSpPr>
        <a:xfrm>
          <a:off x="0" y="0"/>
          <a:ext cx="0" cy="0"/>
          <a:chOff x="0" y="0"/>
          <a:chExt cx="0" cy="0"/>
        </a:xfrm>
      </p:grpSpPr>
      <p:sp>
        <p:nvSpPr>
          <p:cNvPr id="584" name="Google Shape;584;p15"/>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5"/>
          <p:cNvSpPr/>
          <p:nvPr/>
        </p:nvSpPr>
        <p:spPr>
          <a:xfrm>
            <a:off x="1047750" y="628650"/>
            <a:ext cx="178117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RESPONSIBLE AI USE</a:t>
            </a:r>
            <a:endParaRPr b="0" i="0" sz="1950" u="none" cap="none" strike="noStrike">
              <a:solidFill>
                <a:schemeClr val="dk1"/>
              </a:solidFill>
              <a:latin typeface="Calibri"/>
              <a:ea typeface="Calibri"/>
              <a:cs typeface="Calibri"/>
              <a:sym typeface="Calibri"/>
            </a:endParaRPr>
          </a:p>
        </p:txBody>
      </p:sp>
      <p:sp>
        <p:nvSpPr>
          <p:cNvPr id="586" name="Google Shape;586;p15"/>
          <p:cNvSpPr/>
          <p:nvPr/>
        </p:nvSpPr>
        <p:spPr>
          <a:xfrm>
            <a:off x="1047750" y="1047750"/>
            <a:ext cx="17811750" cy="612577"/>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FFD65C"/>
              </a:buClr>
              <a:buSzPts val="4350"/>
              <a:buFont typeface="Calibri"/>
              <a:buNone/>
            </a:pPr>
            <a:r>
              <a:rPr b="1" i="0" lang="en-US" sz="4350" u="none" cap="none" strike="noStrike">
                <a:solidFill>
                  <a:srgbClr val="FFD65C"/>
                </a:solidFill>
                <a:latin typeface="Calibri"/>
                <a:ea typeface="Calibri"/>
                <a:cs typeface="Calibri"/>
                <a:sym typeface="Calibri"/>
              </a:rPr>
              <a:t>Responsible AI Use</a:t>
            </a:r>
            <a:endParaRPr b="0" i="0" sz="4350" u="none" cap="none" strike="noStrike">
              <a:solidFill>
                <a:schemeClr val="dk1"/>
              </a:solidFill>
              <a:latin typeface="Calibri"/>
              <a:ea typeface="Calibri"/>
              <a:cs typeface="Calibri"/>
              <a:sym typeface="Calibri"/>
            </a:endParaRPr>
          </a:p>
        </p:txBody>
      </p:sp>
      <p:sp>
        <p:nvSpPr>
          <p:cNvPr id="587" name="Google Shape;587;p15"/>
          <p:cNvSpPr/>
          <p:nvPr/>
        </p:nvSpPr>
        <p:spPr>
          <a:xfrm>
            <a:off x="1047750" y="1812727"/>
            <a:ext cx="17811750" cy="4286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2550"/>
              <a:buFont typeface="Calibri"/>
              <a:buNone/>
            </a:pPr>
            <a:r>
              <a:rPr b="1" i="0" lang="en-US" sz="2550" u="none" cap="none" strike="noStrike">
                <a:solidFill>
                  <a:srgbClr val="FFD65C"/>
                </a:solidFill>
                <a:latin typeface="Calibri"/>
                <a:ea typeface="Calibri"/>
                <a:cs typeface="Calibri"/>
                <a:sym typeface="Calibri"/>
              </a:rPr>
              <a:t>AI should support</a:t>
            </a:r>
            <a:r>
              <a:rPr b="1" lang="en-US" sz="2550">
                <a:solidFill>
                  <a:srgbClr val="FFD65C"/>
                </a:solidFill>
                <a:latin typeface="Calibri"/>
                <a:ea typeface="Calibri"/>
                <a:cs typeface="Calibri"/>
                <a:sym typeface="Calibri"/>
              </a:rPr>
              <a:t>, </a:t>
            </a:r>
            <a:r>
              <a:rPr b="1" i="0" lang="en-US" sz="2550" u="none" cap="none" strike="noStrike">
                <a:solidFill>
                  <a:srgbClr val="FFD65C"/>
                </a:solidFill>
                <a:latin typeface="Calibri"/>
                <a:ea typeface="Calibri"/>
                <a:cs typeface="Calibri"/>
                <a:sym typeface="Calibri"/>
              </a:rPr>
              <a:t>not replace HR professionals.</a:t>
            </a:r>
            <a:endParaRPr b="0" i="0" sz="2550" u="none" cap="none" strike="noStrike">
              <a:solidFill>
                <a:schemeClr val="dk1"/>
              </a:solidFill>
              <a:latin typeface="Calibri"/>
              <a:ea typeface="Calibri"/>
              <a:cs typeface="Calibri"/>
              <a:sym typeface="Calibri"/>
            </a:endParaRPr>
          </a:p>
        </p:txBody>
      </p:sp>
      <p:sp>
        <p:nvSpPr>
          <p:cNvPr id="588" name="Google Shape;588;p15"/>
          <p:cNvSpPr/>
          <p:nvPr/>
        </p:nvSpPr>
        <p:spPr>
          <a:xfrm>
            <a:off x="1047750" y="2412802"/>
            <a:ext cx="17811750"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9E9E"/>
              </a:buClr>
              <a:buSzPts val="2025"/>
              <a:buFont typeface="Calibri"/>
              <a:buNone/>
            </a:pPr>
            <a:r>
              <a:rPr b="0" i="0" lang="en-US" sz="2025" u="none" cap="none" strike="noStrike">
                <a:solidFill>
                  <a:srgbClr val="9E9E9E"/>
                </a:solidFill>
                <a:latin typeface="Calibri"/>
                <a:ea typeface="Calibri"/>
                <a:cs typeface="Calibri"/>
                <a:sym typeface="Calibri"/>
              </a:rPr>
              <a:t>Always:</a:t>
            </a:r>
            <a:endParaRPr b="0" i="0" sz="2025" u="none" cap="none" strike="noStrike">
              <a:solidFill>
                <a:schemeClr val="dk1"/>
              </a:solidFill>
              <a:latin typeface="Calibri"/>
              <a:ea typeface="Calibri"/>
              <a:cs typeface="Calibri"/>
              <a:sym typeface="Calibri"/>
            </a:endParaRPr>
          </a:p>
        </p:txBody>
      </p:sp>
      <p:sp>
        <p:nvSpPr>
          <p:cNvPr id="589" name="Google Shape;589;p15"/>
          <p:cNvSpPr/>
          <p:nvPr/>
        </p:nvSpPr>
        <p:spPr>
          <a:xfrm>
            <a:off x="1047750" y="2879527"/>
            <a:ext cx="16192500" cy="800100"/>
          </a:xfrm>
          <a:prstGeom prst="roundRect">
            <a:avLst>
              <a:gd fmla="val 16667"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5"/>
          <p:cNvSpPr/>
          <p:nvPr/>
        </p:nvSpPr>
        <p:spPr>
          <a:xfrm>
            <a:off x="1343025" y="3098602"/>
            <a:ext cx="276076" cy="4000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2100"/>
              <a:buFont typeface="Calibri"/>
              <a:buNone/>
            </a:pPr>
            <a:r>
              <a:rPr b="1" i="0" lang="en-US" sz="2100" u="none" cap="none" strike="noStrike">
                <a:solidFill>
                  <a:srgbClr val="43B778"/>
                </a:solidFill>
                <a:latin typeface="Calibri"/>
                <a:ea typeface="Calibri"/>
                <a:cs typeface="Calibri"/>
                <a:sym typeface="Calibri"/>
              </a:rPr>
              <a:t>✓</a:t>
            </a:r>
            <a:endParaRPr b="0" i="0" sz="2100" u="none" cap="none" strike="noStrike">
              <a:solidFill>
                <a:schemeClr val="dk1"/>
              </a:solidFill>
              <a:latin typeface="Calibri"/>
              <a:ea typeface="Calibri"/>
              <a:cs typeface="Calibri"/>
              <a:sym typeface="Calibri"/>
            </a:endParaRPr>
          </a:p>
        </p:txBody>
      </p:sp>
      <p:sp>
        <p:nvSpPr>
          <p:cNvPr id="591" name="Google Shape;591;p15"/>
          <p:cNvSpPr/>
          <p:nvPr/>
        </p:nvSpPr>
        <p:spPr>
          <a:xfrm>
            <a:off x="1733401" y="3112889"/>
            <a:ext cx="5012501"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100"/>
              <a:buFont typeface="Calibri"/>
              <a:buNone/>
            </a:pPr>
            <a:r>
              <a:rPr b="0" i="0" lang="en-US" sz="2100" u="none" cap="none" strike="noStrike">
                <a:solidFill>
                  <a:srgbClr val="E6E6E6"/>
                </a:solidFill>
                <a:latin typeface="Calibri"/>
                <a:ea typeface="Calibri"/>
                <a:cs typeface="Calibri"/>
                <a:sym typeface="Calibri"/>
              </a:rPr>
              <a:t>Review AI-generated content for accuracy.</a:t>
            </a:r>
            <a:endParaRPr b="0" i="0" sz="2100" u="none" cap="none" strike="noStrike">
              <a:solidFill>
                <a:schemeClr val="dk1"/>
              </a:solidFill>
              <a:latin typeface="Calibri"/>
              <a:ea typeface="Calibri"/>
              <a:cs typeface="Calibri"/>
              <a:sym typeface="Calibri"/>
            </a:endParaRPr>
          </a:p>
        </p:txBody>
      </p:sp>
      <p:sp>
        <p:nvSpPr>
          <p:cNvPr id="592" name="Google Shape;592;p15"/>
          <p:cNvSpPr/>
          <p:nvPr/>
        </p:nvSpPr>
        <p:spPr>
          <a:xfrm>
            <a:off x="1047750" y="3851077"/>
            <a:ext cx="16192500" cy="800100"/>
          </a:xfrm>
          <a:prstGeom prst="roundRect">
            <a:avLst>
              <a:gd fmla="val 16667"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5"/>
          <p:cNvSpPr/>
          <p:nvPr/>
        </p:nvSpPr>
        <p:spPr>
          <a:xfrm>
            <a:off x="1343025" y="4070152"/>
            <a:ext cx="276076" cy="4000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2100"/>
              <a:buFont typeface="Calibri"/>
              <a:buNone/>
            </a:pPr>
            <a:r>
              <a:rPr b="1" i="0" lang="en-US" sz="2100" u="none" cap="none" strike="noStrike">
                <a:solidFill>
                  <a:srgbClr val="43B778"/>
                </a:solidFill>
                <a:latin typeface="Calibri"/>
                <a:ea typeface="Calibri"/>
                <a:cs typeface="Calibri"/>
                <a:sym typeface="Calibri"/>
              </a:rPr>
              <a:t>✓</a:t>
            </a:r>
            <a:endParaRPr b="0" i="0" sz="2100" u="none" cap="none" strike="noStrike">
              <a:solidFill>
                <a:schemeClr val="dk1"/>
              </a:solidFill>
              <a:latin typeface="Calibri"/>
              <a:ea typeface="Calibri"/>
              <a:cs typeface="Calibri"/>
              <a:sym typeface="Calibri"/>
            </a:endParaRPr>
          </a:p>
        </p:txBody>
      </p:sp>
      <p:sp>
        <p:nvSpPr>
          <p:cNvPr id="594" name="Google Shape;594;p15"/>
          <p:cNvSpPr/>
          <p:nvPr/>
        </p:nvSpPr>
        <p:spPr>
          <a:xfrm>
            <a:off x="1733401" y="4084439"/>
            <a:ext cx="6738015"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100"/>
              <a:buFont typeface="Calibri"/>
              <a:buNone/>
            </a:pPr>
            <a:r>
              <a:rPr b="0" i="0" lang="en-US" sz="2100" u="none" cap="none" strike="noStrike">
                <a:solidFill>
                  <a:srgbClr val="E6E6E6"/>
                </a:solidFill>
                <a:latin typeface="Calibri"/>
                <a:ea typeface="Calibri"/>
                <a:cs typeface="Calibri"/>
                <a:sym typeface="Calibri"/>
              </a:rPr>
              <a:t>Protect confidential and personal employee information.</a:t>
            </a:r>
            <a:endParaRPr b="0" i="0" sz="2100" u="none" cap="none" strike="noStrike">
              <a:solidFill>
                <a:schemeClr val="dk1"/>
              </a:solidFill>
              <a:latin typeface="Calibri"/>
              <a:ea typeface="Calibri"/>
              <a:cs typeface="Calibri"/>
              <a:sym typeface="Calibri"/>
            </a:endParaRPr>
          </a:p>
        </p:txBody>
      </p:sp>
      <p:sp>
        <p:nvSpPr>
          <p:cNvPr id="595" name="Google Shape;595;p15"/>
          <p:cNvSpPr/>
          <p:nvPr/>
        </p:nvSpPr>
        <p:spPr>
          <a:xfrm>
            <a:off x="1047750" y="4822627"/>
            <a:ext cx="16192500" cy="800100"/>
          </a:xfrm>
          <a:prstGeom prst="roundRect">
            <a:avLst>
              <a:gd fmla="val 16667"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1343025" y="5041702"/>
            <a:ext cx="276076" cy="4000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2100"/>
              <a:buFont typeface="Calibri"/>
              <a:buNone/>
            </a:pPr>
            <a:r>
              <a:rPr b="1" i="0" lang="en-US" sz="2100" u="none" cap="none" strike="noStrike">
                <a:solidFill>
                  <a:srgbClr val="43B778"/>
                </a:solidFill>
                <a:latin typeface="Calibri"/>
                <a:ea typeface="Calibri"/>
                <a:cs typeface="Calibri"/>
                <a:sym typeface="Calibri"/>
              </a:rPr>
              <a:t>✓</a:t>
            </a:r>
            <a:endParaRPr b="0" i="0" sz="2100" u="none" cap="none" strike="noStrike">
              <a:solidFill>
                <a:schemeClr val="dk1"/>
              </a:solidFill>
              <a:latin typeface="Calibri"/>
              <a:ea typeface="Calibri"/>
              <a:cs typeface="Calibri"/>
              <a:sym typeface="Calibri"/>
            </a:endParaRPr>
          </a:p>
        </p:txBody>
      </p:sp>
      <p:sp>
        <p:nvSpPr>
          <p:cNvPr id="597" name="Google Shape;597;p15"/>
          <p:cNvSpPr/>
          <p:nvPr/>
        </p:nvSpPr>
        <p:spPr>
          <a:xfrm>
            <a:off x="1733401" y="5055989"/>
            <a:ext cx="8992151"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100"/>
              <a:buFont typeface="Calibri"/>
              <a:buNone/>
            </a:pPr>
            <a:r>
              <a:rPr b="0" i="0" lang="en-US" sz="2100" u="none" cap="none" strike="noStrike">
                <a:solidFill>
                  <a:srgbClr val="E6E6E6"/>
                </a:solidFill>
                <a:latin typeface="Calibri"/>
                <a:ea typeface="Calibri"/>
                <a:cs typeface="Calibri"/>
                <a:sym typeface="Calibri"/>
              </a:rPr>
              <a:t>Ensure compliance with employment legislation and organizational policies.</a:t>
            </a:r>
            <a:endParaRPr b="0" i="0" sz="2100" u="none" cap="none" strike="noStrike">
              <a:solidFill>
                <a:schemeClr val="dk1"/>
              </a:solidFill>
              <a:latin typeface="Calibri"/>
              <a:ea typeface="Calibri"/>
              <a:cs typeface="Calibri"/>
              <a:sym typeface="Calibri"/>
            </a:endParaRPr>
          </a:p>
        </p:txBody>
      </p:sp>
      <p:sp>
        <p:nvSpPr>
          <p:cNvPr id="598" name="Google Shape;598;p15"/>
          <p:cNvSpPr/>
          <p:nvPr/>
        </p:nvSpPr>
        <p:spPr>
          <a:xfrm>
            <a:off x="1047750" y="5794177"/>
            <a:ext cx="16192500" cy="800100"/>
          </a:xfrm>
          <a:prstGeom prst="roundRect">
            <a:avLst>
              <a:gd fmla="val 16667"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5"/>
          <p:cNvSpPr/>
          <p:nvPr/>
        </p:nvSpPr>
        <p:spPr>
          <a:xfrm>
            <a:off x="1343025" y="6013252"/>
            <a:ext cx="276076" cy="4000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2100"/>
              <a:buFont typeface="Calibri"/>
              <a:buNone/>
            </a:pPr>
            <a:r>
              <a:rPr b="1" i="0" lang="en-US" sz="2100" u="none" cap="none" strike="noStrike">
                <a:solidFill>
                  <a:srgbClr val="43B778"/>
                </a:solidFill>
                <a:latin typeface="Calibri"/>
                <a:ea typeface="Calibri"/>
                <a:cs typeface="Calibri"/>
                <a:sym typeface="Calibri"/>
              </a:rPr>
              <a:t>✓</a:t>
            </a:r>
            <a:endParaRPr b="0" i="0" sz="2100" u="none" cap="none" strike="noStrike">
              <a:solidFill>
                <a:schemeClr val="dk1"/>
              </a:solidFill>
              <a:latin typeface="Calibri"/>
              <a:ea typeface="Calibri"/>
              <a:cs typeface="Calibri"/>
              <a:sym typeface="Calibri"/>
            </a:endParaRPr>
          </a:p>
        </p:txBody>
      </p:sp>
      <p:sp>
        <p:nvSpPr>
          <p:cNvPr id="600" name="Google Shape;600;p15"/>
          <p:cNvSpPr/>
          <p:nvPr/>
        </p:nvSpPr>
        <p:spPr>
          <a:xfrm>
            <a:off x="1733401" y="6027539"/>
            <a:ext cx="6509147"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100"/>
              <a:buFont typeface="Calibri"/>
              <a:buNone/>
            </a:pPr>
            <a:r>
              <a:rPr b="0" i="0" lang="en-US" sz="2100" u="none" cap="none" strike="noStrike">
                <a:solidFill>
                  <a:srgbClr val="E6E6E6"/>
                </a:solidFill>
                <a:latin typeface="Calibri"/>
                <a:ea typeface="Calibri"/>
                <a:cs typeface="Calibri"/>
                <a:sym typeface="Calibri"/>
              </a:rPr>
              <a:t>Apply human judgment to sensitive employee matters.</a:t>
            </a:r>
            <a:endParaRPr b="0" i="0" sz="2100" u="none" cap="none" strike="noStrike">
              <a:solidFill>
                <a:schemeClr val="dk1"/>
              </a:solidFill>
              <a:latin typeface="Calibri"/>
              <a:ea typeface="Calibri"/>
              <a:cs typeface="Calibri"/>
              <a:sym typeface="Calibri"/>
            </a:endParaRPr>
          </a:p>
        </p:txBody>
      </p:sp>
      <p:sp>
        <p:nvSpPr>
          <p:cNvPr id="601" name="Google Shape;601;p15"/>
          <p:cNvSpPr/>
          <p:nvPr/>
        </p:nvSpPr>
        <p:spPr>
          <a:xfrm>
            <a:off x="1047750" y="6765727"/>
            <a:ext cx="16192500" cy="800100"/>
          </a:xfrm>
          <a:prstGeom prst="roundRect">
            <a:avLst>
              <a:gd fmla="val 16667" name="adj"/>
            </a:avLst>
          </a:prstGeom>
          <a:solidFill>
            <a:srgbClr val="1A1A1B"/>
          </a:solidFill>
          <a:ln cap="flat" cmpd="sng" w="9525">
            <a:solidFill>
              <a:srgbClr val="FFFFFF">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5"/>
          <p:cNvSpPr/>
          <p:nvPr/>
        </p:nvSpPr>
        <p:spPr>
          <a:xfrm>
            <a:off x="1343025" y="6984802"/>
            <a:ext cx="276076" cy="4000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3B778"/>
              </a:buClr>
              <a:buSzPts val="2100"/>
              <a:buFont typeface="Calibri"/>
              <a:buNone/>
            </a:pPr>
            <a:r>
              <a:rPr b="1" i="0" lang="en-US" sz="2100" u="none" cap="none" strike="noStrike">
                <a:solidFill>
                  <a:srgbClr val="43B778"/>
                </a:solidFill>
                <a:latin typeface="Calibri"/>
                <a:ea typeface="Calibri"/>
                <a:cs typeface="Calibri"/>
                <a:sym typeface="Calibri"/>
              </a:rPr>
              <a:t>✓</a:t>
            </a:r>
            <a:endParaRPr b="0" i="0" sz="2100" u="none" cap="none" strike="noStrike">
              <a:solidFill>
                <a:schemeClr val="dk1"/>
              </a:solidFill>
              <a:latin typeface="Calibri"/>
              <a:ea typeface="Calibri"/>
              <a:cs typeface="Calibri"/>
              <a:sym typeface="Calibri"/>
            </a:endParaRPr>
          </a:p>
        </p:txBody>
      </p:sp>
      <p:sp>
        <p:nvSpPr>
          <p:cNvPr id="603" name="Google Shape;603;p15"/>
          <p:cNvSpPr/>
          <p:nvPr/>
        </p:nvSpPr>
        <p:spPr>
          <a:xfrm>
            <a:off x="1733401" y="6999089"/>
            <a:ext cx="8508057"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6E6E6"/>
              </a:buClr>
              <a:buSzPts val="2100"/>
              <a:buFont typeface="Calibri"/>
              <a:buNone/>
            </a:pPr>
            <a:r>
              <a:rPr b="0" i="0" lang="en-US" sz="2100" u="none" cap="none" strike="noStrike">
                <a:solidFill>
                  <a:srgbClr val="E6E6E6"/>
                </a:solidFill>
                <a:latin typeface="Calibri"/>
                <a:ea typeface="Calibri"/>
                <a:cs typeface="Calibri"/>
                <a:sym typeface="Calibri"/>
              </a:rPr>
              <a:t>Use AI to improve efficiency while maintaining fairness and consistency.</a:t>
            </a:r>
            <a:endParaRPr b="0" i="0" sz="2100" u="none" cap="none" strike="noStrike">
              <a:solidFill>
                <a:schemeClr val="dk1"/>
              </a:solidFill>
              <a:latin typeface="Calibri"/>
              <a:ea typeface="Calibri"/>
              <a:cs typeface="Calibri"/>
              <a:sym typeface="Calibri"/>
            </a:endParaRPr>
          </a:p>
        </p:txBody>
      </p:sp>
      <p:sp>
        <p:nvSpPr>
          <p:cNvPr id="604" name="Google Shape;604;p15"/>
          <p:cNvSpPr/>
          <p:nvPr/>
        </p:nvSpPr>
        <p:spPr>
          <a:xfrm>
            <a:off x="1047750" y="9591675"/>
            <a:ext cx="32557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E6E6E"/>
              </a:buClr>
              <a:buSzPts val="1800"/>
              <a:buFont typeface="Calibri"/>
              <a:buNone/>
            </a:pPr>
            <a:r>
              <a:rPr b="0" i="0" lang="en-US" sz="1800" u="none" cap="none" strike="noStrike">
                <a:solidFill>
                  <a:srgbClr val="6E6E6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
        <p:nvSpPr>
          <p:cNvPr id="605" name="Google Shape;605;p15"/>
          <p:cNvSpPr/>
          <p:nvPr/>
        </p:nvSpPr>
        <p:spPr>
          <a:xfrm>
            <a:off x="16989177" y="9582150"/>
            <a:ext cx="32727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D65C"/>
              </a:buClr>
              <a:buSzPts val="1950"/>
              <a:buFont typeface="Calibri"/>
              <a:buNone/>
            </a:pPr>
            <a:r>
              <a:rPr b="1" i="0" lang="en-US" sz="1950" u="none" cap="none" strike="noStrike">
                <a:solidFill>
                  <a:srgbClr val="FFD65C"/>
                </a:solidFill>
                <a:latin typeface="Calibri"/>
                <a:ea typeface="Calibri"/>
                <a:cs typeface="Calibri"/>
                <a:sym typeface="Calibri"/>
              </a:rPr>
              <a:t>13</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610" name="Shape 610"/>
        <p:cNvGrpSpPr/>
        <p:nvPr/>
      </p:nvGrpSpPr>
      <p:grpSpPr>
        <a:xfrm>
          <a:off x="0" y="0"/>
          <a:ext cx="0" cy="0"/>
          <a:chOff x="0" y="0"/>
          <a:chExt cx="0" cy="0"/>
        </a:xfrm>
      </p:grpSpPr>
      <p:sp>
        <p:nvSpPr>
          <p:cNvPr id="611" name="Google Shape;611;p16"/>
          <p:cNvSpPr/>
          <p:nvPr/>
        </p:nvSpPr>
        <p:spPr>
          <a:xfrm>
            <a:off x="0" y="0"/>
            <a:ext cx="18288000" cy="10287000"/>
          </a:xfrm>
          <a:prstGeom prst="rect">
            <a:avLst/>
          </a:pr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2" name="Google Shape;612;p16"/>
          <p:cNvPicPr preferRelativeResize="0"/>
          <p:nvPr/>
        </p:nvPicPr>
        <p:blipFill rotWithShape="1">
          <a:blip r:embed="rId3">
            <a:alphaModFix/>
          </a:blip>
          <a:srcRect b="0" l="0" r="0" t="0"/>
          <a:stretch/>
        </p:blipFill>
        <p:spPr>
          <a:xfrm>
            <a:off x="7715250" y="3171527"/>
            <a:ext cx="2857500" cy="934045"/>
          </a:xfrm>
          <a:prstGeom prst="rect">
            <a:avLst/>
          </a:prstGeom>
          <a:noFill/>
          <a:ln>
            <a:noFill/>
          </a:ln>
        </p:spPr>
      </p:pic>
      <p:sp>
        <p:nvSpPr>
          <p:cNvPr id="613" name="Google Shape;613;p16"/>
          <p:cNvSpPr/>
          <p:nvPr/>
        </p:nvSpPr>
        <p:spPr>
          <a:xfrm>
            <a:off x="7009053" y="4638973"/>
            <a:ext cx="4269745" cy="8763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FFD65C"/>
              </a:buClr>
              <a:buSzPts val="6600"/>
              <a:buFont typeface="Calibri"/>
              <a:buNone/>
            </a:pPr>
            <a:r>
              <a:rPr b="1" i="0" lang="en-US" sz="6600" u="none" cap="none" strike="noStrike">
                <a:solidFill>
                  <a:srgbClr val="FFD65C"/>
                </a:solidFill>
                <a:latin typeface="Calibri"/>
                <a:ea typeface="Calibri"/>
                <a:cs typeface="Calibri"/>
                <a:sym typeface="Calibri"/>
              </a:rPr>
              <a:t>Thank you!</a:t>
            </a:r>
            <a:endParaRPr b="0" i="0" sz="6600" u="none" cap="none" strike="noStrike">
              <a:solidFill>
                <a:schemeClr val="dk1"/>
              </a:solidFill>
              <a:latin typeface="Calibri"/>
              <a:ea typeface="Calibri"/>
              <a:cs typeface="Calibri"/>
              <a:sym typeface="Calibri"/>
            </a:endParaRPr>
          </a:p>
        </p:txBody>
      </p:sp>
      <p:sp>
        <p:nvSpPr>
          <p:cNvPr id="614" name="Google Shape;614;p16"/>
          <p:cNvSpPr/>
          <p:nvPr/>
        </p:nvSpPr>
        <p:spPr>
          <a:xfrm>
            <a:off x="7516066" y="6839248"/>
            <a:ext cx="3255719" cy="314325"/>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9E9E9E"/>
              </a:buClr>
              <a:buSzPts val="1800"/>
              <a:buFont typeface="Calibri"/>
              <a:buNone/>
            </a:pPr>
            <a:r>
              <a:rPr b="0" i="0" lang="en-US" sz="1800" u="none" cap="none" strike="noStrike">
                <a:solidFill>
                  <a:srgbClr val="9E9E9E"/>
                </a:solidFill>
                <a:latin typeface="Calibri"/>
                <a:ea typeface="Calibri"/>
                <a:cs typeface="Calibri"/>
                <a:sym typeface="Calibri"/>
              </a:rPr>
              <a:t>Taru HR · AI for Operational HR</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