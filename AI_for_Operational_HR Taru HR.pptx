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0E131-9F23-05F9-DA7E-1F889B886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A2313-F0EB-F957-CB1C-810B1D9CE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DDD9-0FE9-B75E-2FF1-80FDBA9D0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56D0D-03D7-4A22-A2F0-CA7E1698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51A10-56BC-BF28-57DD-7FC8F3A9E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57731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4D1D-1091-426B-1AF7-323E08DC3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C8A60-0F15-EB86-5E46-B40FE667D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4DF3E-80A9-908B-0981-2F148AC7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346E8-0AE4-C773-268A-7A44CFBC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265A0-B326-0A52-B912-D4508DB1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7441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591B-DE64-7E50-BCA3-C290818E7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2F225-FE87-8FB7-AAD9-4DCB93968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6985A-558B-BB5E-340F-A0C4DF77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D27E0-5482-E020-6C03-703701A0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70794-F9EE-EA24-C785-8E0D4AF6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3370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B7C21-DF20-2CFA-A313-B2D804B1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745EA-F22A-0E49-CA89-FD79CF8E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8D709-31E1-718B-0ACF-2FE280514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AE54A-CDD0-F945-93EF-79F85DCE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D9F7D-5E74-C557-A132-58306FFD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74A32-E949-3E43-0F7E-2318F1AAA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7786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6E08-7DF2-6474-10FF-87283642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B485F-DF56-2907-07B7-D64489447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3D1A8-691F-793E-E73C-004DD2273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39D3D-98D2-0040-E640-A344CED89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407743-4C15-601E-B2E4-D3D849322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AC04A6-BBE2-DE96-5AAA-10218A7F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E1B748-0E00-B024-86FA-B4C22CFBA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92687-10BF-A961-9B41-6EC517190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1178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44CBC-90B1-19BD-0EE1-A472A0B06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413EF5-A3AD-01C7-7489-EB89C560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0E511-AA41-C19D-7161-40B6A381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72919-21A5-9839-0321-AC5692C18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67281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F68CFC-5E6E-0A6C-4628-AF92761F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BF09B-6D8A-0213-FEAD-706FFE2D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61FCD-C32E-CD1E-B59E-71E7EA60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9436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6331-01DD-A057-DA02-A550F2EF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E3C15-6AA8-9081-FD5B-43A5F3F9B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270C8-6157-8172-792A-9F3078180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E9987-D1F5-EE7C-E6F9-B603134E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FBA23-1A17-17C1-3A6D-A8BFE184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D6F8F-F22C-41C4-D59A-A957FEEE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8567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A829-6666-7B3C-D666-56E1DC8E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CA1FD4-3736-57E9-C958-F6F9E0FC0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51774-4EDB-7599-705C-286D2B2C4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D0DF9-6177-0476-9889-E3EA5A40B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2D585-59E1-B673-ECE4-EF9C9955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9E5C6-8C0B-BF93-C0F1-9B712EE5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71306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087F-87F8-857E-AC1C-6CBB32FBB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8E624-9964-FC82-492C-3F06BBE3F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6F531-806A-8320-B062-8F8CCDFC7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64078-3FF8-C03D-E9FD-4532D8FDC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BE6EA-A8B9-C970-A55B-7D8E3A9D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11692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D33F7-868F-D4A3-21AF-DED87E80D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9E9F0-4C4C-AB70-7B59-22D26E98F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160C3-0095-190C-4A82-E2E3B5B2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D44F6-3129-B34F-246F-CE52DB1D7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2D594-C23C-C9E0-5FCC-9571B2FC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6627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75CBD-38D2-E17F-0363-39530E874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D0F63-7D26-1CF4-2F28-837C413BE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D8654-5EF1-F08A-5AC3-521E9413B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4DFFC-AD9D-42CE-8680-448B6001BC6F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3F35F-3A21-970F-9E33-241FC2B4D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20285-531E-0780-AC1A-1B4D5D140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59628-3949-4CEC-8118-9235BA9C7C2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0187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67259-979B-FAE0-E94C-0EC618E8FD16}"/>
              </a:ext>
            </a:extLst>
          </p:cNvPr>
          <p:cNvSpPr txBox="1"/>
          <p:nvPr/>
        </p:nvSpPr>
        <p:spPr>
          <a:xfrm>
            <a:off x="812800" y="2387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500" b="1">
                <a:solidFill>
                  <a:srgbClr val="FFD65C"/>
                </a:solidFill>
                <a:latin typeface="Calibri" panose="020F0502020204030204" pitchFamily="34" charset="0"/>
              </a:rPr>
              <a:t>TARU HR   ·   PRACTICAL GUIDE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1D8148-5539-568B-8980-8F7BB95903E7}"/>
              </a:ext>
            </a:extLst>
          </p:cNvPr>
          <p:cNvSpPr txBox="1"/>
          <p:nvPr/>
        </p:nvSpPr>
        <p:spPr>
          <a:xfrm>
            <a:off x="812800" y="2768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5400" b="1">
                <a:solidFill>
                  <a:srgbClr val="FFD65C"/>
                </a:solidFill>
                <a:latin typeface="Calibri" panose="020F0502020204030204" pitchFamily="34" charset="0"/>
              </a:rPr>
              <a:t>AI for Operational HR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FE47B-FE65-C421-D0F8-D566268CB443}"/>
              </a:ext>
            </a:extLst>
          </p:cNvPr>
          <p:cNvSpPr txBox="1"/>
          <p:nvPr/>
        </p:nvSpPr>
        <p:spPr>
          <a:xfrm>
            <a:off x="812800" y="40894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E6E6E6"/>
                </a:solidFill>
                <a:latin typeface="Calibri" panose="020F0502020204030204" pitchFamily="34" charset="0"/>
              </a:rPr>
              <a:t>How AI can support routine HR work — improving efficiency and the employee experience, while HR stays responsible for reviewing and validating every output.</a:t>
            </a:r>
            <a:endParaRPr lang="fi-FI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BD193-FEBC-C680-E550-244CA73F8B76}"/>
              </a:ext>
            </a:extLst>
          </p:cNvPr>
          <p:cNvSpPr txBox="1"/>
          <p:nvPr/>
        </p:nvSpPr>
        <p:spPr>
          <a:xfrm>
            <a:off x="812800" y="5969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200">
                <a:solidFill>
                  <a:srgbClr val="9E9E9E"/>
                </a:solidFill>
                <a:latin typeface="Calibri" panose="020F0502020204030204" pitchFamily="34" charset="0"/>
              </a:rPr>
              <a:t>Taru HR   ·   A practical guide   ·   2026</a:t>
            </a:r>
          </a:p>
        </p:txBody>
      </p:sp>
    </p:spTree>
    <p:extLst>
      <p:ext uri="{BB962C8B-B14F-4D97-AF65-F5344CB8AC3E}">
        <p14:creationId xmlns:p14="http://schemas.microsoft.com/office/powerpoint/2010/main" val="295566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423911-3AC8-9D51-3152-EED5074681B1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676D6-B366-6297-B012-438C967E2587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FFD65C"/>
                </a:solidFill>
                <a:latin typeface="Calibri" panose="020F0502020204030204" pitchFamily="34" charset="0"/>
              </a:rPr>
              <a:t>How to use this guide</a:t>
            </a:r>
            <a:endParaRPr lang="fi-FI" sz="34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8259DC-B0C3-C7CE-241B-66BEAE3C8002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E6E6E6"/>
                </a:solidFill>
                <a:latin typeface="Calibri" panose="020F0502020204030204" pitchFamily="34" charset="0"/>
              </a:rPr>
              <a:t>A practical guide demonstrating how artificial intelligence can support routine HR tasks, improve efficiency, and enhance the employee experience while keeping HR professionals responsible for reviewing and validating all outputs.</a:t>
            </a:r>
            <a:endParaRPr lang="fi-FI" sz="15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64C39C-D8D4-4B7F-E5D5-95E47273D58D}"/>
              </a:ext>
            </a:extLst>
          </p:cNvPr>
          <p:cNvSpPr/>
          <p:nvPr/>
        </p:nvSpPr>
        <p:spPr>
          <a:xfrm>
            <a:off x="685800" y="2489200"/>
            <a:ext cx="3454400" cy="9017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Recruitment Support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EE5B14-3435-4459-BB42-CEA2E26C5261}"/>
              </a:ext>
            </a:extLst>
          </p:cNvPr>
          <p:cNvSpPr/>
          <p:nvPr/>
        </p:nvSpPr>
        <p:spPr>
          <a:xfrm>
            <a:off x="4368800" y="2489200"/>
            <a:ext cx="3454400" cy="9017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Onboarding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F80CEE-4196-E692-3C55-005CD9918DDA}"/>
              </a:ext>
            </a:extLst>
          </p:cNvPr>
          <p:cNvSpPr/>
          <p:nvPr/>
        </p:nvSpPr>
        <p:spPr>
          <a:xfrm>
            <a:off x="8051800" y="2489200"/>
            <a:ext cx="3454400" cy="9017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HR Documentation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1C5DCD-DA21-B2F8-5F2A-B20F53E4BB7E}"/>
              </a:ext>
            </a:extLst>
          </p:cNvPr>
          <p:cNvSpPr/>
          <p:nvPr/>
        </p:nvSpPr>
        <p:spPr>
          <a:xfrm>
            <a:off x="685800" y="3619500"/>
            <a:ext cx="3454400" cy="9017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HR Communication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9F49A0-B281-0CDC-8FD7-CAA8B844451E}"/>
              </a:ext>
            </a:extLst>
          </p:cNvPr>
          <p:cNvSpPr/>
          <p:nvPr/>
        </p:nvSpPr>
        <p:spPr>
          <a:xfrm>
            <a:off x="4368800" y="3619500"/>
            <a:ext cx="3454400" cy="9017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05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Payroll &amp; Benefits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25A38B-5CFB-82C4-B9E6-BE5F82F0DC5E}"/>
              </a:ext>
            </a:extLst>
          </p:cNvPr>
          <p:cNvSpPr/>
          <p:nvPr/>
        </p:nvSpPr>
        <p:spPr>
          <a:xfrm>
            <a:off x="8051800" y="3619500"/>
            <a:ext cx="3454400" cy="9017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06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Leave Management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E43B54-D8AC-850A-8DAD-4FA709667CB2}"/>
              </a:ext>
            </a:extLst>
          </p:cNvPr>
          <p:cNvSpPr/>
          <p:nvPr/>
        </p:nvSpPr>
        <p:spPr>
          <a:xfrm>
            <a:off x="685800" y="4749800"/>
            <a:ext cx="3454400" cy="9017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07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HR Reporting &amp; Analytics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E4434DC-A3CC-A251-D92D-92DBE45DBB71}"/>
              </a:ext>
            </a:extLst>
          </p:cNvPr>
          <p:cNvSpPr/>
          <p:nvPr/>
        </p:nvSpPr>
        <p:spPr>
          <a:xfrm>
            <a:off x="4368800" y="4749800"/>
            <a:ext cx="3454400" cy="9017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08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Employee Experience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B5209E-5007-01B9-B890-6B9270BCAB76}"/>
              </a:ext>
            </a:extLst>
          </p:cNvPr>
          <p:cNvSpPr/>
          <p:nvPr/>
        </p:nvSpPr>
        <p:spPr>
          <a:xfrm>
            <a:off x="8051800" y="4749800"/>
            <a:ext cx="3454400" cy="9017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09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HR Systems Support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969AA4-D422-47A1-0F44-53787DACE1B0}"/>
              </a:ext>
            </a:extLst>
          </p:cNvPr>
          <p:cNvSpPr txBox="1"/>
          <p:nvPr/>
        </p:nvSpPr>
        <p:spPr>
          <a:xfrm>
            <a:off x="685800" y="5740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9E9E9E"/>
                </a:solidFill>
                <a:latin typeface="Calibri" panose="020F0502020204030204" pitchFamily="34" charset="0"/>
              </a:rPr>
              <a:t>Plus a ready-to-use Prompt Library and a closing note on Responsible AI Use.</a:t>
            </a:r>
            <a:endParaRPr lang="fi-FI" sz="13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1F46A0-9589-C649-D389-269CC5673AAB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EBDAE5-AE53-C007-816D-27B18D35828B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964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41C39F-5724-37DE-F8C3-60C3B094B7CA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300" b="1">
                <a:solidFill>
                  <a:srgbClr val="FFD65C"/>
                </a:solidFill>
                <a:latin typeface="Calibri" panose="020F0502020204030204" pitchFamily="34" charset="0"/>
              </a:rPr>
              <a:t>01   ·   AI FOR OPERATIONAL HR</a:t>
            </a:r>
            <a:endParaRPr lang="fi-FI" sz="13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A3972-1C8F-5734-C2E9-D45D2E14AADC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400" b="1">
                <a:solidFill>
                  <a:srgbClr val="FFD65C"/>
                </a:solidFill>
                <a:latin typeface="Calibri" panose="020F0502020204030204" pitchFamily="34" charset="0"/>
              </a:rPr>
              <a:t>Recruitment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5A5F4-65C8-B68D-2023-E7EF9974398B}"/>
              </a:ext>
            </a:extLst>
          </p:cNvPr>
          <p:cNvSpPr txBox="1"/>
          <p:nvPr/>
        </p:nvSpPr>
        <p:spPr>
          <a:xfrm>
            <a:off x="685800" y="1549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9E9E9E"/>
                </a:solidFill>
                <a:latin typeface="Calibri" panose="020F0502020204030204" pitchFamily="34" charset="0"/>
              </a:rPr>
              <a:t>Speed up hiring admin while keeping a human in the loop.</a:t>
            </a:r>
            <a:endParaRPr lang="fi-FI" sz="15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A56226-9BFE-5CE9-2AEA-7ED42BF872C4}"/>
              </a:ext>
            </a:extLst>
          </p:cNvPr>
          <p:cNvSpPr/>
          <p:nvPr/>
        </p:nvSpPr>
        <p:spPr>
          <a:xfrm>
            <a:off x="685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Drafting job advertisements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65AE06-89FF-182C-0B5A-002D539AA2DE}"/>
              </a:ext>
            </a:extLst>
          </p:cNvPr>
          <p:cNvSpPr/>
          <p:nvPr/>
        </p:nvSpPr>
        <p:spPr>
          <a:xfrm>
            <a:off x="4368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Writing interview questions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DEB873-E676-08AD-0E23-9FDC356A1203}"/>
              </a:ext>
            </a:extLst>
          </p:cNvPr>
          <p:cNvSpPr/>
          <p:nvPr/>
        </p:nvSpPr>
        <p:spPr>
          <a:xfrm>
            <a:off x="8051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en-US" sz="1400">
                <a:solidFill>
                  <a:srgbClr val="E6E6E6"/>
                </a:solidFill>
                <a:latin typeface="Calibri" panose="020F0502020204030204" pitchFamily="34" charset="0"/>
              </a:rPr>
              <a:t>    Creating candidate communication emails</a:t>
            </a:r>
            <a:endParaRPr lang="fi-FI" sz="14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A1E7FB-5DEC-F7F0-6C3A-784BCF0A9CD9}"/>
              </a:ext>
            </a:extLst>
          </p:cNvPr>
          <p:cNvSpPr/>
          <p:nvPr/>
        </p:nvSpPr>
        <p:spPr>
          <a:xfrm>
            <a:off x="685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Summarizing interview notes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189249-8AA3-56F6-9B52-A91A9B06CA1A}"/>
              </a:ext>
            </a:extLst>
          </p:cNvPr>
          <p:cNvSpPr/>
          <p:nvPr/>
        </p:nvSpPr>
        <p:spPr>
          <a:xfrm>
            <a:off x="4368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05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Building recruitment checklists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51C33-E4AD-95FA-68B9-2B3D802C79AC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9BEB47-B1EB-E5F7-2180-E3E7E3D5D3EF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5887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DF9658-BABE-EE2A-EDA1-96168CD7D05B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300" b="1">
                <a:solidFill>
                  <a:srgbClr val="FFD65C"/>
                </a:solidFill>
                <a:latin typeface="Calibri" panose="020F0502020204030204" pitchFamily="34" charset="0"/>
              </a:rPr>
              <a:t>02   ·   AI FOR OPERATIONAL HR</a:t>
            </a:r>
            <a:endParaRPr lang="fi-FI" sz="13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ABCFD-1F74-3274-25AD-371D9BC3B97B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400" b="1">
                <a:solidFill>
                  <a:srgbClr val="FFD65C"/>
                </a:solidFill>
                <a:latin typeface="Calibri" panose="020F0502020204030204" pitchFamily="34" charset="0"/>
              </a:rPr>
              <a:t>Onboarding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D380C1-2CB8-350C-BE51-FB0AD9608DD1}"/>
              </a:ext>
            </a:extLst>
          </p:cNvPr>
          <p:cNvSpPr txBox="1"/>
          <p:nvPr/>
        </p:nvSpPr>
        <p:spPr>
          <a:xfrm>
            <a:off x="685800" y="1549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9E9E9E"/>
                </a:solidFill>
                <a:latin typeface="Calibri" panose="020F0502020204030204" pitchFamily="34" charset="0"/>
              </a:rPr>
              <a:t>Give every new hire a consistent, welcoming start.</a:t>
            </a:r>
            <a:endParaRPr lang="fi-FI" sz="15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424E60-CB71-05C2-9350-3A73A090552A}"/>
              </a:ext>
            </a:extLst>
          </p:cNvPr>
          <p:cNvSpPr/>
          <p:nvPr/>
        </p:nvSpPr>
        <p:spPr>
          <a:xfrm>
            <a:off x="685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Welcome email templates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9626A2-E21F-688C-4F4B-ABA30D717735}"/>
              </a:ext>
            </a:extLst>
          </p:cNvPr>
          <p:cNvSpPr/>
          <p:nvPr/>
        </p:nvSpPr>
        <p:spPr>
          <a:xfrm>
            <a:off x="4368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First-week onboarding schedules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FD0DE4-7E46-DE55-E342-2C12F9C94231}"/>
              </a:ext>
            </a:extLst>
          </p:cNvPr>
          <p:cNvSpPr/>
          <p:nvPr/>
        </p:nvSpPr>
        <p:spPr>
          <a:xfrm>
            <a:off x="8051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New hire checklists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874DE-8287-29D8-437B-90C66A4D0D6E}"/>
              </a:ext>
            </a:extLst>
          </p:cNvPr>
          <p:cNvSpPr/>
          <p:nvPr/>
        </p:nvSpPr>
        <p:spPr>
          <a:xfrm>
            <a:off x="685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Frequently asked questions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9B1E7C-DBEF-08D8-C8CA-CBC2D8C7F181}"/>
              </a:ext>
            </a:extLst>
          </p:cNvPr>
          <p:cNvSpPr/>
          <p:nvPr/>
        </p:nvSpPr>
        <p:spPr>
          <a:xfrm>
            <a:off x="4368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05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Orientation guides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C20FE6-C861-785F-71A9-A1EE3F1ED215}"/>
              </a:ext>
            </a:extLst>
          </p:cNvPr>
          <p:cNvSpPr/>
          <p:nvPr/>
        </p:nvSpPr>
        <p:spPr>
          <a:xfrm>
            <a:off x="8051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06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Buddy program guidance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4EF2FF-A1F3-6A54-97C1-FC33E20337BB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5F81C-6CA4-9D6A-FA77-70DE2AB5B079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653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31447D-C859-B624-73BD-CB7634F93C60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300" b="1">
                <a:solidFill>
                  <a:srgbClr val="FFD65C"/>
                </a:solidFill>
                <a:latin typeface="Calibri" panose="020F0502020204030204" pitchFamily="34" charset="0"/>
              </a:rPr>
              <a:t>03   ·   AI FOR OPERATIONAL HR</a:t>
            </a:r>
            <a:endParaRPr lang="fi-FI" sz="13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A2461-3FAC-3145-6BC5-DB695ACE5663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400" b="1">
                <a:solidFill>
                  <a:srgbClr val="FFD65C"/>
                </a:solidFill>
                <a:latin typeface="Calibri" panose="020F0502020204030204" pitchFamily="34" charset="0"/>
              </a:rPr>
              <a:t>HR Documentation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2DC0F6-9136-4742-BA5B-8C38D5504057}"/>
              </a:ext>
            </a:extLst>
          </p:cNvPr>
          <p:cNvSpPr txBox="1"/>
          <p:nvPr/>
        </p:nvSpPr>
        <p:spPr>
          <a:xfrm>
            <a:off x="685800" y="1549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500">
                <a:solidFill>
                  <a:srgbClr val="9E9E9E"/>
                </a:solidFill>
                <a:latin typeface="Calibri" panose="020F0502020204030204" pitchFamily="34" charset="0"/>
              </a:rPr>
              <a:t>Draft and maintain clear, consistent HR documents faster.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82195-AE28-1528-62EF-8C01EE9FED6B}"/>
              </a:ext>
            </a:extLst>
          </p:cNvPr>
          <p:cNvSpPr/>
          <p:nvPr/>
        </p:nvSpPr>
        <p:spPr>
          <a:xfrm>
            <a:off x="685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HR policies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C5474B-9C19-83F1-2C51-AC29CC98E947}"/>
              </a:ext>
            </a:extLst>
          </p:cNvPr>
          <p:cNvSpPr/>
          <p:nvPr/>
        </p:nvSpPr>
        <p:spPr>
          <a:xfrm>
            <a:off x="4368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Employee handbooks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DDF241-3ECB-4985-7D12-28587F9CBD49}"/>
              </a:ext>
            </a:extLst>
          </p:cNvPr>
          <p:cNvSpPr/>
          <p:nvPr/>
        </p:nvSpPr>
        <p:spPr>
          <a:xfrm>
            <a:off x="8051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Process documentation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0BAFAF-961E-9E05-A7C9-1FE961204085}"/>
              </a:ext>
            </a:extLst>
          </p:cNvPr>
          <p:cNvSpPr/>
          <p:nvPr/>
        </p:nvSpPr>
        <p:spPr>
          <a:xfrm>
            <a:off x="685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en-US" sz="1400">
                <a:solidFill>
                  <a:srgbClr val="E6E6E6"/>
                </a:solidFill>
                <a:latin typeface="Calibri" panose="020F0502020204030204" pitchFamily="34" charset="0"/>
              </a:rPr>
              <a:t>    Standard operating procedures (SOPs)</a:t>
            </a:r>
            <a:endParaRPr lang="fi-FI" sz="14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494B19-AD44-1539-3310-E16D50FE90C1}"/>
              </a:ext>
            </a:extLst>
          </p:cNvPr>
          <p:cNvSpPr/>
          <p:nvPr/>
        </p:nvSpPr>
        <p:spPr>
          <a:xfrm>
            <a:off x="4368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05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HR guidelines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A17FE7-2839-A6D0-A865-BA1F3C3F08FE}"/>
              </a:ext>
            </a:extLst>
          </p:cNvPr>
          <p:cNvSpPr/>
          <p:nvPr/>
        </p:nvSpPr>
        <p:spPr>
          <a:xfrm>
            <a:off x="8051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06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Forms and templates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EF4A86-A12A-CA4C-AD87-10D817D212B2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595F7-6ABD-0D90-9B89-74274BB51F7B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86702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568445-D3F2-D52E-187A-2B2AB4B0406F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300" b="1">
                <a:solidFill>
                  <a:srgbClr val="FFD65C"/>
                </a:solidFill>
                <a:latin typeface="Calibri" panose="020F0502020204030204" pitchFamily="34" charset="0"/>
              </a:rPr>
              <a:t>04   ·   AI FOR OPERATIONAL HR</a:t>
            </a:r>
            <a:endParaRPr lang="fi-FI" sz="13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D43E9-5487-F36F-F964-5AB36327F688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400" b="1">
                <a:solidFill>
                  <a:srgbClr val="FFD65C"/>
                </a:solidFill>
                <a:latin typeface="Calibri" panose="020F0502020204030204" pitchFamily="34" charset="0"/>
              </a:rPr>
              <a:t>HR Communication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4A894-4609-B3C5-6BE8-80BD3C6DC45D}"/>
              </a:ext>
            </a:extLst>
          </p:cNvPr>
          <p:cNvSpPr txBox="1"/>
          <p:nvPr/>
        </p:nvSpPr>
        <p:spPr>
          <a:xfrm>
            <a:off x="685800" y="1549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9E9E9E"/>
                </a:solidFill>
                <a:latin typeface="Calibri" panose="020F0502020204030204" pitchFamily="34" charset="0"/>
              </a:rPr>
              <a:t>Write clear internal messages in the right tone, quickly.</a:t>
            </a:r>
            <a:endParaRPr lang="fi-FI" sz="15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7F44E7-2FE7-679B-6360-B2AFF126A12E}"/>
              </a:ext>
            </a:extLst>
          </p:cNvPr>
          <p:cNvSpPr/>
          <p:nvPr/>
        </p:nvSpPr>
        <p:spPr>
          <a:xfrm>
            <a:off x="685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Internal announcements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AC3983-EACE-C345-6D2A-CE372D5AB620}"/>
              </a:ext>
            </a:extLst>
          </p:cNvPr>
          <p:cNvSpPr/>
          <p:nvPr/>
        </p:nvSpPr>
        <p:spPr>
          <a:xfrm>
            <a:off x="4368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Payroll reminders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7BF82D-FE3D-87D5-666E-ED383FFD3C14}"/>
              </a:ext>
            </a:extLst>
          </p:cNvPr>
          <p:cNvSpPr/>
          <p:nvPr/>
        </p:nvSpPr>
        <p:spPr>
          <a:xfrm>
            <a:off x="8051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Leave policy updates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0CF158-9788-82BC-0867-6B397E45215F}"/>
              </a:ext>
            </a:extLst>
          </p:cNvPr>
          <p:cNvSpPr/>
          <p:nvPr/>
        </p:nvSpPr>
        <p:spPr>
          <a:xfrm>
            <a:off x="685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Manager communications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8B0951-730A-240D-B3DA-152FC68AB934}"/>
              </a:ext>
            </a:extLst>
          </p:cNvPr>
          <p:cNvSpPr/>
          <p:nvPr/>
        </p:nvSpPr>
        <p:spPr>
          <a:xfrm>
            <a:off x="4368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05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Event invitations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DCA765-2739-2A5F-9DB7-0B68C2674F1F}"/>
              </a:ext>
            </a:extLst>
          </p:cNvPr>
          <p:cNvSpPr/>
          <p:nvPr/>
        </p:nvSpPr>
        <p:spPr>
          <a:xfrm>
            <a:off x="8051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06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FAQ responses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A60EBB-2CAE-E81B-4087-B2EEAB7B78DE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DBC0B9-BB5F-5038-C782-B47AF1C56EF6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16914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D99E28-A132-2C86-F0C3-5B7D999D2D82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300" b="1">
                <a:solidFill>
                  <a:srgbClr val="FFD65C"/>
                </a:solidFill>
                <a:latin typeface="Calibri" panose="020F0502020204030204" pitchFamily="34" charset="0"/>
              </a:rPr>
              <a:t>05   ·   AI FOR OPERATIONAL HR</a:t>
            </a:r>
            <a:endParaRPr lang="fi-FI" sz="13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67699-ABF0-00D1-3B9C-1C429FEE2844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400" b="1">
                <a:solidFill>
                  <a:srgbClr val="FFD65C"/>
                </a:solidFill>
                <a:latin typeface="Calibri" panose="020F0502020204030204" pitchFamily="34" charset="0"/>
              </a:rPr>
              <a:t>Payroll &amp; Benefits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6AEA2-59A0-82EC-F8EE-22CD311C0BA9}"/>
              </a:ext>
            </a:extLst>
          </p:cNvPr>
          <p:cNvSpPr txBox="1"/>
          <p:nvPr/>
        </p:nvSpPr>
        <p:spPr>
          <a:xfrm>
            <a:off x="685800" y="1549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9E9E9E"/>
                </a:solidFill>
                <a:latin typeface="Calibri" panose="020F0502020204030204" pitchFamily="34" charset="0"/>
              </a:rPr>
              <a:t>Make pay and benefits easier for employees to understand.</a:t>
            </a:r>
            <a:endParaRPr lang="fi-FI" sz="15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3E7617-F009-0B26-F1CA-57E79DDAF53E}"/>
              </a:ext>
            </a:extLst>
          </p:cNvPr>
          <p:cNvSpPr/>
          <p:nvPr/>
        </p:nvSpPr>
        <p:spPr>
          <a:xfrm>
            <a:off x="685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en-US" sz="1400">
                <a:solidFill>
                  <a:srgbClr val="E6E6E6"/>
                </a:solidFill>
                <a:latin typeface="Calibri" panose="020F0502020204030204" pitchFamily="34" charset="0"/>
              </a:rPr>
              <a:t>    Explaining payslips in simple language</a:t>
            </a:r>
            <a:endParaRPr lang="fi-FI" sz="14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365B62-B87A-11CF-C937-5120256E432B}"/>
              </a:ext>
            </a:extLst>
          </p:cNvPr>
          <p:cNvSpPr/>
          <p:nvPr/>
        </p:nvSpPr>
        <p:spPr>
          <a:xfrm>
            <a:off x="4368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Creating payroll checklists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97101A-C35D-9FC8-4907-5654E4B40A50}"/>
              </a:ext>
            </a:extLst>
          </p:cNvPr>
          <p:cNvSpPr/>
          <p:nvPr/>
        </p:nvSpPr>
        <p:spPr>
          <a:xfrm>
            <a:off x="8051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Benefits summaries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5C516D-480B-5B31-C0B5-F965A9354F7A}"/>
              </a:ext>
            </a:extLst>
          </p:cNvPr>
          <p:cNvSpPr/>
          <p:nvPr/>
        </p:nvSpPr>
        <p:spPr>
          <a:xfrm>
            <a:off x="685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en-US" sz="1400">
                <a:solidFill>
                  <a:srgbClr val="E6E6E6"/>
                </a:solidFill>
                <a:latin typeface="Calibri" panose="020F0502020204030204" pitchFamily="34" charset="0"/>
              </a:rPr>
              <a:t>    Tax guidance for employees (non-legal)</a:t>
            </a:r>
            <a:endParaRPr lang="fi-FI" sz="14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471676-FF86-05C3-0383-8FF801DCA75B}"/>
              </a:ext>
            </a:extLst>
          </p:cNvPr>
          <p:cNvSpPr/>
          <p:nvPr/>
        </p:nvSpPr>
        <p:spPr>
          <a:xfrm>
            <a:off x="4368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05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Payroll FAQ documents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2222BF-4CD6-5A93-D11E-DF23B608E96F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4A6754-CF82-F4AD-3FE8-EBFFDE28AA4A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37190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CB45F4-4623-AFF2-4968-75F02F9830F2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300" b="1">
                <a:solidFill>
                  <a:srgbClr val="FFD65C"/>
                </a:solidFill>
                <a:latin typeface="Calibri" panose="020F0502020204030204" pitchFamily="34" charset="0"/>
              </a:rPr>
              <a:t>06   ·   AI FOR OPERATIONAL HR</a:t>
            </a:r>
            <a:endParaRPr lang="fi-FI" sz="13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BFF20-5388-6A70-6A6A-03408F742EA2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400" b="1">
                <a:solidFill>
                  <a:srgbClr val="FFD65C"/>
                </a:solidFill>
                <a:latin typeface="Calibri" panose="020F0502020204030204" pitchFamily="34" charset="0"/>
              </a:rPr>
              <a:t>Leave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DD3BF-C927-D13F-A1F6-9F3B68197303}"/>
              </a:ext>
            </a:extLst>
          </p:cNvPr>
          <p:cNvSpPr txBox="1"/>
          <p:nvPr/>
        </p:nvSpPr>
        <p:spPr>
          <a:xfrm>
            <a:off x="685800" y="1549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9E9E9E"/>
                </a:solidFill>
                <a:latin typeface="Calibri" panose="020F0502020204030204" pitchFamily="34" charset="0"/>
              </a:rPr>
              <a:t>Simplify leave requests, approvals and returns to work.</a:t>
            </a:r>
            <a:endParaRPr lang="fi-FI" sz="15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A629C6-B549-DB93-1231-69F5F157EF05}"/>
              </a:ext>
            </a:extLst>
          </p:cNvPr>
          <p:cNvSpPr/>
          <p:nvPr/>
        </p:nvSpPr>
        <p:spPr>
          <a:xfrm>
            <a:off x="685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Annual leave guides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9FD7B8-72C6-7793-E859-4A64E6275338}"/>
              </a:ext>
            </a:extLst>
          </p:cNvPr>
          <p:cNvSpPr/>
          <p:nvPr/>
        </p:nvSpPr>
        <p:spPr>
          <a:xfrm>
            <a:off x="4368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Manager approval checklists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05ADC2-0DDC-E443-50D2-2C9B21A54C99}"/>
              </a:ext>
            </a:extLst>
          </p:cNvPr>
          <p:cNvSpPr/>
          <p:nvPr/>
        </p:nvSpPr>
        <p:spPr>
          <a:xfrm>
            <a:off x="8051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Return-to-work conversation templates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305E08-98C1-3D98-0442-9E5687C85F37}"/>
              </a:ext>
            </a:extLst>
          </p:cNvPr>
          <p:cNvSpPr/>
          <p:nvPr/>
        </p:nvSpPr>
        <p:spPr>
          <a:xfrm>
            <a:off x="685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Leave process documentation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D00D07-5FE0-E354-11EE-8048C04F7B6C}"/>
              </a:ext>
            </a:extLst>
          </p:cNvPr>
          <p:cNvSpPr/>
          <p:nvPr/>
        </p:nvSpPr>
        <p:spPr>
          <a:xfrm>
            <a:off x="4368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05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Employee self-service instructions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20B16-5AAB-C06C-07CD-2BA36ACE016C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4C9630-7DB3-1683-839B-F387736DE1E4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38356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2B98C-57F6-8EFF-1E15-4D4E98864BA9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300" b="1">
                <a:solidFill>
                  <a:srgbClr val="FFD65C"/>
                </a:solidFill>
                <a:latin typeface="Calibri" panose="020F0502020204030204" pitchFamily="34" charset="0"/>
              </a:rPr>
              <a:t>07   ·   AI FOR OPERATIONAL HR</a:t>
            </a:r>
            <a:endParaRPr lang="fi-FI" sz="13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35F69-DDE6-0133-6920-E5F37BFE0373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400" b="1">
                <a:solidFill>
                  <a:srgbClr val="FFD65C"/>
                </a:solidFill>
                <a:latin typeface="Calibri" panose="020F0502020204030204" pitchFamily="34" charset="0"/>
              </a:rPr>
              <a:t>HR Reporting &amp;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C7363-E7B8-856B-731E-B19F33541F2E}"/>
              </a:ext>
            </a:extLst>
          </p:cNvPr>
          <p:cNvSpPr txBox="1"/>
          <p:nvPr/>
        </p:nvSpPr>
        <p:spPr>
          <a:xfrm>
            <a:off x="685800" y="1549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9E9E9E"/>
                </a:solidFill>
                <a:latin typeface="Calibri" panose="020F0502020204030204" pitchFamily="34" charset="0"/>
              </a:rPr>
              <a:t>Turn HR data into clear, readable insight.</a:t>
            </a:r>
            <a:endParaRPr lang="fi-FI" sz="15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990F85-88BB-E734-090F-27CE8C6028CD}"/>
              </a:ext>
            </a:extLst>
          </p:cNvPr>
          <p:cNvSpPr/>
          <p:nvPr/>
        </p:nvSpPr>
        <p:spPr>
          <a:xfrm>
            <a:off x="685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Explaining HR metrics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CA4D17-1C4D-67F8-570C-00A9F6ED686C}"/>
              </a:ext>
            </a:extLst>
          </p:cNvPr>
          <p:cNvSpPr/>
          <p:nvPr/>
        </p:nvSpPr>
        <p:spPr>
          <a:xfrm>
            <a:off x="4368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Summarizing monthly reports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220AAF-03D2-7132-A41D-58A2BECECD9F}"/>
              </a:ext>
            </a:extLst>
          </p:cNvPr>
          <p:cNvSpPr/>
          <p:nvPr/>
        </p:nvSpPr>
        <p:spPr>
          <a:xfrm>
            <a:off x="8051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Identifying trends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F395E9-3E35-CCB7-2AA8-F213B53CDE06}"/>
              </a:ext>
            </a:extLst>
          </p:cNvPr>
          <p:cNvSpPr/>
          <p:nvPr/>
        </p:nvSpPr>
        <p:spPr>
          <a:xfrm>
            <a:off x="685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Writing executive summaries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94B79E-83D1-EDCE-38CE-3374DE61B350}"/>
              </a:ext>
            </a:extLst>
          </p:cNvPr>
          <p:cNvSpPr/>
          <p:nvPr/>
        </p:nvSpPr>
        <p:spPr>
          <a:xfrm>
            <a:off x="4368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en-US" sz="1400" b="1">
                <a:solidFill>
                  <a:srgbClr val="FFD65C"/>
                </a:solidFill>
                <a:latin typeface="Calibri" panose="020F0502020204030204" pitchFamily="34" charset="0"/>
              </a:rPr>
              <a:t>05</a:t>
            </a:r>
            <a:r>
              <a:rPr lang="en-US" sz="1400">
                <a:solidFill>
                  <a:srgbClr val="E6E6E6"/>
                </a:solidFill>
                <a:latin typeface="Calibri" panose="020F0502020204030204" pitchFamily="34" charset="0"/>
              </a:rPr>
              <a:t>    Suggesting visualizations for dashboards</a:t>
            </a:r>
            <a:endParaRPr lang="fi-FI" sz="14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8A5F5C-BB6E-76AC-74A2-C03531D88DCD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60FF-71B9-3FCB-F604-56AD5877322B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558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BF286E-1A2D-8C0B-82AB-29FD4D698F05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300" b="1">
                <a:solidFill>
                  <a:srgbClr val="FFD65C"/>
                </a:solidFill>
                <a:latin typeface="Calibri" panose="020F0502020204030204" pitchFamily="34" charset="0"/>
              </a:rPr>
              <a:t>08   ·   AI FOR OPERATIONAL HR</a:t>
            </a:r>
            <a:endParaRPr lang="fi-FI" sz="13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BB4A4-55DC-4E54-5E9F-38CB3C9A42A1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400" b="1">
                <a:solidFill>
                  <a:srgbClr val="FFD65C"/>
                </a:solidFill>
                <a:latin typeface="Calibri" panose="020F0502020204030204" pitchFamily="34" charset="0"/>
              </a:rPr>
              <a:t>Employee Experience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4D871-37B5-E231-7346-0FDE55E7BAB2}"/>
              </a:ext>
            </a:extLst>
          </p:cNvPr>
          <p:cNvSpPr txBox="1"/>
          <p:nvPr/>
        </p:nvSpPr>
        <p:spPr>
          <a:xfrm>
            <a:off x="685800" y="1549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9E9E9E"/>
                </a:solidFill>
                <a:latin typeface="Calibri" panose="020F0502020204030204" pitchFamily="34" charset="0"/>
              </a:rPr>
              <a:t>Listen, recognise and act on how people feel at work.</a:t>
            </a:r>
            <a:endParaRPr lang="fi-FI" sz="15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786F4A-2F37-507E-9FD3-F58C394A1F9C}"/>
              </a:ext>
            </a:extLst>
          </p:cNvPr>
          <p:cNvSpPr/>
          <p:nvPr/>
        </p:nvSpPr>
        <p:spPr>
          <a:xfrm>
            <a:off x="685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Engagement survey questions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3EA8D0-842C-47E8-4C75-8265CA4BDD37}"/>
              </a:ext>
            </a:extLst>
          </p:cNvPr>
          <p:cNvSpPr/>
          <p:nvPr/>
        </p:nvSpPr>
        <p:spPr>
          <a:xfrm>
            <a:off x="4368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Pulse surveys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DAFE3E-76E2-9C7E-94B6-C5E6832E3D3E}"/>
              </a:ext>
            </a:extLst>
          </p:cNvPr>
          <p:cNvSpPr/>
          <p:nvPr/>
        </p:nvSpPr>
        <p:spPr>
          <a:xfrm>
            <a:off x="8051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Recognition ideas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9CBC85-2A5B-9C90-2B56-4B94F61AF665}"/>
              </a:ext>
            </a:extLst>
          </p:cNvPr>
          <p:cNvSpPr/>
          <p:nvPr/>
        </p:nvSpPr>
        <p:spPr>
          <a:xfrm>
            <a:off x="685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Onboarding feedback forms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E13C98-348F-A6FC-4A38-E1062806D23C}"/>
              </a:ext>
            </a:extLst>
          </p:cNvPr>
          <p:cNvSpPr/>
          <p:nvPr/>
        </p:nvSpPr>
        <p:spPr>
          <a:xfrm>
            <a:off x="4368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05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Exit interview questions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EA67E9-4659-7D55-34DD-8F66AFDD309D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2BED78-C8BE-36A6-ECD4-EDC7792286EB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8876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C17491-4CAD-0C60-B001-5C567C2D960F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300" b="1">
                <a:solidFill>
                  <a:srgbClr val="FFD65C"/>
                </a:solidFill>
                <a:latin typeface="Calibri" panose="020F0502020204030204" pitchFamily="34" charset="0"/>
              </a:rPr>
              <a:t>09   ·   AI FOR OPERATIONAL HR</a:t>
            </a:r>
            <a:endParaRPr lang="fi-FI" sz="13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6635A-B3F0-6C86-C3DB-3E0EAE4B1D6D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400" b="1">
                <a:solidFill>
                  <a:srgbClr val="FFD65C"/>
                </a:solidFill>
                <a:latin typeface="Calibri" panose="020F0502020204030204" pitchFamily="34" charset="0"/>
              </a:rPr>
              <a:t>HR Systems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C544B-CA29-F600-86B1-5E9366ADE3FF}"/>
              </a:ext>
            </a:extLst>
          </p:cNvPr>
          <p:cNvSpPr txBox="1"/>
          <p:nvPr/>
        </p:nvSpPr>
        <p:spPr>
          <a:xfrm>
            <a:off x="685800" y="1549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9E9E9E"/>
                </a:solidFill>
                <a:latin typeface="Calibri" panose="020F0502020204030204" pitchFamily="34" charset="0"/>
              </a:rPr>
              <a:t>Help people use HR systems with less friction.</a:t>
            </a:r>
            <a:endParaRPr lang="fi-FI" sz="15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1480BD-43F2-EEBB-6AA0-672AEB64739A}"/>
              </a:ext>
            </a:extLst>
          </p:cNvPr>
          <p:cNvSpPr/>
          <p:nvPr/>
        </p:nvSpPr>
        <p:spPr>
          <a:xfrm>
            <a:off x="685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01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User guides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C9558D-66C4-B63F-087A-B2CEEC72C7FD}"/>
              </a:ext>
            </a:extLst>
          </p:cNvPr>
          <p:cNvSpPr/>
          <p:nvPr/>
        </p:nvSpPr>
        <p:spPr>
          <a:xfrm>
            <a:off x="4368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02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System training materials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0FDE45-0F13-99DF-4C7C-28C7956B3EE5}"/>
              </a:ext>
            </a:extLst>
          </p:cNvPr>
          <p:cNvSpPr/>
          <p:nvPr/>
        </p:nvSpPr>
        <p:spPr>
          <a:xfrm>
            <a:off x="8051800" y="24384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03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FAQ documentation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009399-4716-326B-C778-BCAB26547559}"/>
              </a:ext>
            </a:extLst>
          </p:cNvPr>
          <p:cNvSpPr/>
          <p:nvPr/>
        </p:nvSpPr>
        <p:spPr>
          <a:xfrm>
            <a:off x="685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04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Troubleshooting guides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9D118C-9671-40B0-BFF6-818D506EA643}"/>
              </a:ext>
            </a:extLst>
          </p:cNvPr>
          <p:cNvSpPr/>
          <p:nvPr/>
        </p:nvSpPr>
        <p:spPr>
          <a:xfrm>
            <a:off x="4368800" y="4165600"/>
            <a:ext cx="3454400" cy="14986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152400" bIns="101600" rtlCol="0" anchor="ctr"/>
          <a:lstStyle/>
          <a:p>
            <a:r>
              <a:rPr lang="fi-FI" sz="1400" b="1">
                <a:solidFill>
                  <a:srgbClr val="FFD65C"/>
                </a:solidFill>
                <a:latin typeface="Calibri" panose="020F0502020204030204" pitchFamily="34" charset="0"/>
              </a:rPr>
              <a:t>05</a:t>
            </a:r>
            <a:r>
              <a:rPr lang="fi-FI" sz="1400">
                <a:solidFill>
                  <a:srgbClr val="E6E6E6"/>
                </a:solidFill>
                <a:latin typeface="Calibri" panose="020F0502020204030204" pitchFamily="34" charset="0"/>
              </a:rPr>
              <a:t>    Release notes for system updates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AFD41-F084-3673-D67F-7B52C613EDE4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002C7-062E-EE21-4343-C97D65337338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40158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2329B1-7381-EB44-6B41-A8765DBB26FE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PROMPT LIBRARY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79BC4-2405-7A0A-9C06-1E0DB8AA4DBC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400" b="1">
                <a:solidFill>
                  <a:srgbClr val="FFD65C"/>
                </a:solidFill>
                <a:latin typeface="Calibri" panose="020F0502020204030204" pitchFamily="34" charset="0"/>
              </a:rPr>
              <a:t>Prompt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83BC97-0D8D-5DBB-1A42-1A71CD1CC696}"/>
              </a:ext>
            </a:extLst>
          </p:cNvPr>
          <p:cNvSpPr txBox="1"/>
          <p:nvPr/>
        </p:nvSpPr>
        <p:spPr>
          <a:xfrm>
            <a:off x="685800" y="15494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9E9E9E"/>
                </a:solidFill>
                <a:latin typeface="Calibri" panose="020F0502020204030204" pitchFamily="34" charset="0"/>
              </a:rPr>
              <a:t>Copy-and-adapt prompts for everyday HR tasks.</a:t>
            </a:r>
            <a:endParaRPr lang="fi-FI" sz="15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DFC035-D42D-748D-3225-FCD3BC18BDFC}"/>
              </a:ext>
            </a:extLst>
          </p:cNvPr>
          <p:cNvSpPr/>
          <p:nvPr/>
        </p:nvSpPr>
        <p:spPr>
          <a:xfrm>
            <a:off x="685800" y="2133600"/>
            <a:ext cx="10820400" cy="7112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76200" rIns="203200" bIns="76200" rtlCol="0" anchor="ctr"/>
          <a:lstStyle/>
          <a:p>
            <a:r>
              <a:rPr lang="en-US" sz="1600" i="1">
                <a:solidFill>
                  <a:srgbClr val="FFD65C"/>
                </a:solidFill>
                <a:latin typeface="Calibri" panose="020F0502020204030204" pitchFamily="34" charset="0"/>
              </a:rPr>
              <a:t>“</a:t>
            </a:r>
            <a:r>
              <a:rPr lang="en-US" sz="1600" i="1">
                <a:solidFill>
                  <a:srgbClr val="E6E6E6"/>
                </a:solidFill>
                <a:latin typeface="Calibri" panose="020F0502020204030204" pitchFamily="34" charset="0"/>
              </a:rPr>
              <a:t>Create a professional onboarding checklist for a new employee.”</a:t>
            </a:r>
            <a:endParaRPr lang="fi-FI" sz="1600" i="1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0CB95A-A257-950E-C913-4DEC39583C36}"/>
              </a:ext>
            </a:extLst>
          </p:cNvPr>
          <p:cNvSpPr/>
          <p:nvPr/>
        </p:nvSpPr>
        <p:spPr>
          <a:xfrm>
            <a:off x="685800" y="2997200"/>
            <a:ext cx="10820400" cy="7112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76200" rIns="203200" bIns="76200" rtlCol="0" anchor="ctr"/>
          <a:lstStyle/>
          <a:p>
            <a:r>
              <a:rPr lang="en-US" sz="1600" i="1">
                <a:solidFill>
                  <a:srgbClr val="FFD65C"/>
                </a:solidFill>
                <a:latin typeface="Calibri" panose="020F0502020204030204" pitchFamily="34" charset="0"/>
              </a:rPr>
              <a:t>“</a:t>
            </a:r>
            <a:r>
              <a:rPr lang="en-US" sz="1600" i="1">
                <a:solidFill>
                  <a:srgbClr val="E6E6E6"/>
                </a:solidFill>
                <a:latin typeface="Calibri" panose="020F0502020204030204" pitchFamily="34" charset="0"/>
              </a:rPr>
              <a:t>Summarize this HR policy in plain English.”</a:t>
            </a:r>
            <a:endParaRPr lang="fi-FI" sz="1600" i="1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0DC7C0-D31E-57C0-5569-304E0B29B5F9}"/>
              </a:ext>
            </a:extLst>
          </p:cNvPr>
          <p:cNvSpPr/>
          <p:nvPr/>
        </p:nvSpPr>
        <p:spPr>
          <a:xfrm>
            <a:off x="685800" y="3860800"/>
            <a:ext cx="10820400" cy="7112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76200" rIns="203200" bIns="76200" rtlCol="0" anchor="ctr"/>
          <a:lstStyle/>
          <a:p>
            <a:r>
              <a:rPr lang="en-US" sz="1600" i="1">
                <a:solidFill>
                  <a:srgbClr val="FFD65C"/>
                </a:solidFill>
                <a:latin typeface="Calibri" panose="020F0502020204030204" pitchFamily="34" charset="0"/>
              </a:rPr>
              <a:t>“</a:t>
            </a:r>
            <a:r>
              <a:rPr lang="en-US" sz="1600" i="1">
                <a:solidFill>
                  <a:srgbClr val="E6E6E6"/>
                </a:solidFill>
                <a:latin typeface="Calibri" panose="020F0502020204030204" pitchFamily="34" charset="0"/>
              </a:rPr>
              <a:t>Draft an email reminding employees to submit timesheets.”</a:t>
            </a:r>
            <a:endParaRPr lang="fi-FI" sz="1600" i="1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D99683-924C-B6C3-0D90-EAAAF5BE0E16}"/>
              </a:ext>
            </a:extLst>
          </p:cNvPr>
          <p:cNvSpPr/>
          <p:nvPr/>
        </p:nvSpPr>
        <p:spPr>
          <a:xfrm>
            <a:off x="685800" y="4724400"/>
            <a:ext cx="10820400" cy="7112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76200" rIns="203200" bIns="76200" rtlCol="0" anchor="ctr"/>
          <a:lstStyle/>
          <a:p>
            <a:r>
              <a:rPr lang="fi-FI" sz="1600" i="1">
                <a:solidFill>
                  <a:srgbClr val="FFD65C"/>
                </a:solidFill>
                <a:latin typeface="Calibri" panose="020F0502020204030204" pitchFamily="34" charset="0"/>
              </a:rPr>
              <a:t>“</a:t>
            </a:r>
            <a:r>
              <a:rPr lang="fi-FI" sz="1600" i="1">
                <a:solidFill>
                  <a:srgbClr val="E6E6E6"/>
                </a:solidFill>
                <a:latin typeface="Calibri" panose="020F0502020204030204" pitchFamily="34" charset="0"/>
              </a:rPr>
              <a:t>Generate interview questions for an HR Generalist.”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A653B2C-EE50-7DB7-F4CB-F19B613CE23B}"/>
              </a:ext>
            </a:extLst>
          </p:cNvPr>
          <p:cNvSpPr/>
          <p:nvPr/>
        </p:nvSpPr>
        <p:spPr>
          <a:xfrm>
            <a:off x="685800" y="5588000"/>
            <a:ext cx="10820400" cy="7112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76200" rIns="203200" bIns="76200" rtlCol="0" anchor="ctr"/>
          <a:lstStyle/>
          <a:p>
            <a:r>
              <a:rPr lang="en-US" sz="1600" i="1">
                <a:solidFill>
                  <a:srgbClr val="FFD65C"/>
                </a:solidFill>
                <a:latin typeface="Calibri" panose="020F0502020204030204" pitchFamily="34" charset="0"/>
              </a:rPr>
              <a:t>“</a:t>
            </a:r>
            <a:r>
              <a:rPr lang="en-US" sz="1600" i="1">
                <a:solidFill>
                  <a:srgbClr val="E6E6E6"/>
                </a:solidFill>
                <a:latin typeface="Calibri" panose="020F0502020204030204" pitchFamily="34" charset="0"/>
              </a:rPr>
              <a:t>Create a return-to-work meeting agenda.”</a:t>
            </a:r>
            <a:endParaRPr lang="fi-FI" sz="1600" i="1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FEB54B-211C-438C-E81F-B07C85F99A54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873C36-4CCE-160A-6F67-FEEEAA809EE5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81955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C64B7C-8A57-8FE4-D28C-B000559B9606}"/>
              </a:ext>
            </a:extLst>
          </p:cNvPr>
          <p:cNvSpPr txBox="1"/>
          <p:nvPr/>
        </p:nvSpPr>
        <p:spPr>
          <a:xfrm>
            <a:off x="685800" y="508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300" b="1">
                <a:solidFill>
                  <a:srgbClr val="FFD65C"/>
                </a:solidFill>
                <a:latin typeface="Calibri" panose="020F0502020204030204" pitchFamily="34" charset="0"/>
              </a:rPr>
              <a:t>RESPONSIBLE AI 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E0E356-DCF4-451A-7C30-2BA4AA683E0C}"/>
              </a:ext>
            </a:extLst>
          </p:cNvPr>
          <p:cNvSpPr txBox="1"/>
          <p:nvPr/>
        </p:nvSpPr>
        <p:spPr>
          <a:xfrm>
            <a:off x="685800" y="812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400" b="1">
                <a:solidFill>
                  <a:srgbClr val="FFD65C"/>
                </a:solidFill>
                <a:latin typeface="Calibri" panose="020F0502020204030204" pitchFamily="34" charset="0"/>
              </a:rPr>
              <a:t>Responsible AI 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C45D50-DE00-B85B-4B60-9573410FF9F5}"/>
              </a:ext>
            </a:extLst>
          </p:cNvPr>
          <p:cNvSpPr txBox="1"/>
          <p:nvPr/>
        </p:nvSpPr>
        <p:spPr>
          <a:xfrm>
            <a:off x="685800" y="16256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FFD65C"/>
                </a:solidFill>
                <a:latin typeface="Calibri" panose="020F0502020204030204" pitchFamily="34" charset="0"/>
              </a:rPr>
              <a:t>AI should support — not replace — HR professionals.</a:t>
            </a:r>
            <a:endParaRPr lang="fi-FI" sz="22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9F4FC-DEAC-612B-7497-5E9C507A8055}"/>
              </a:ext>
            </a:extLst>
          </p:cNvPr>
          <p:cNvSpPr txBox="1"/>
          <p:nvPr/>
        </p:nvSpPr>
        <p:spPr>
          <a:xfrm>
            <a:off x="685800" y="2260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500" b="1">
                <a:solidFill>
                  <a:srgbClr val="9E9E9E"/>
                </a:solidFill>
                <a:latin typeface="Calibri" panose="020F0502020204030204" pitchFamily="34" charset="0"/>
              </a:rPr>
              <a:t>Always: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B68AF9-C183-EAA4-062F-290A81321E8A}"/>
              </a:ext>
            </a:extLst>
          </p:cNvPr>
          <p:cNvSpPr/>
          <p:nvPr/>
        </p:nvSpPr>
        <p:spPr>
          <a:xfrm>
            <a:off x="685800" y="2641600"/>
            <a:ext cx="10820400" cy="6350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76200" rIns="177800" bIns="76200" rtlCol="0" anchor="ctr"/>
          <a:lstStyle/>
          <a:p>
            <a:r>
              <a:rPr lang="en-US" sz="1500" b="1">
                <a:solidFill>
                  <a:srgbClr val="43B778"/>
                </a:solidFill>
                <a:latin typeface="Calibri" panose="020F0502020204030204" pitchFamily="34" charset="0"/>
              </a:rPr>
              <a:t>✓</a:t>
            </a:r>
            <a:r>
              <a:rPr lang="en-US" sz="1500">
                <a:solidFill>
                  <a:srgbClr val="E6E6E6"/>
                </a:solidFill>
                <a:latin typeface="Calibri" panose="020F0502020204030204" pitchFamily="34" charset="0"/>
              </a:rPr>
              <a:t>   Review AI-generated content for accuracy.</a:t>
            </a:r>
            <a:endParaRPr lang="fi-FI" sz="15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49C786-0EBF-555A-E2AF-1F6E7B30E748}"/>
              </a:ext>
            </a:extLst>
          </p:cNvPr>
          <p:cNvSpPr/>
          <p:nvPr/>
        </p:nvSpPr>
        <p:spPr>
          <a:xfrm>
            <a:off x="685800" y="3403600"/>
            <a:ext cx="10820400" cy="6350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76200" rIns="177800" bIns="76200" rtlCol="0" anchor="ctr"/>
          <a:lstStyle/>
          <a:p>
            <a:r>
              <a:rPr lang="en-US" sz="1500" b="1">
                <a:solidFill>
                  <a:srgbClr val="43B778"/>
                </a:solidFill>
                <a:latin typeface="Calibri" panose="020F0502020204030204" pitchFamily="34" charset="0"/>
              </a:rPr>
              <a:t>✓</a:t>
            </a:r>
            <a:r>
              <a:rPr lang="en-US" sz="1500">
                <a:solidFill>
                  <a:srgbClr val="E6E6E6"/>
                </a:solidFill>
                <a:latin typeface="Calibri" panose="020F0502020204030204" pitchFamily="34" charset="0"/>
              </a:rPr>
              <a:t>   Protect confidential and personal employee information.</a:t>
            </a:r>
            <a:endParaRPr lang="fi-FI" sz="15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C3F956-AA8A-F2FC-D893-0DC2154FDD19}"/>
              </a:ext>
            </a:extLst>
          </p:cNvPr>
          <p:cNvSpPr/>
          <p:nvPr/>
        </p:nvSpPr>
        <p:spPr>
          <a:xfrm>
            <a:off x="685800" y="4165600"/>
            <a:ext cx="10820400" cy="6350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76200" rIns="177800" bIns="76200" rtlCol="0" anchor="ctr"/>
          <a:lstStyle/>
          <a:p>
            <a:r>
              <a:rPr lang="en-US" sz="1500" b="1">
                <a:solidFill>
                  <a:srgbClr val="43B778"/>
                </a:solidFill>
                <a:latin typeface="Calibri" panose="020F0502020204030204" pitchFamily="34" charset="0"/>
              </a:rPr>
              <a:t>✓</a:t>
            </a:r>
            <a:r>
              <a:rPr lang="en-US" sz="1500">
                <a:solidFill>
                  <a:srgbClr val="E6E6E6"/>
                </a:solidFill>
                <a:latin typeface="Calibri" panose="020F0502020204030204" pitchFamily="34" charset="0"/>
              </a:rPr>
              <a:t>   Ensure compliance with employment legislation and organizational policies.</a:t>
            </a:r>
            <a:endParaRPr lang="fi-FI" sz="15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43FEFA-3990-B823-D9B3-B99D5A0FD244}"/>
              </a:ext>
            </a:extLst>
          </p:cNvPr>
          <p:cNvSpPr/>
          <p:nvPr/>
        </p:nvSpPr>
        <p:spPr>
          <a:xfrm>
            <a:off x="685800" y="4927600"/>
            <a:ext cx="10820400" cy="6350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76200" rIns="177800" bIns="76200" rtlCol="0" anchor="ctr"/>
          <a:lstStyle/>
          <a:p>
            <a:r>
              <a:rPr lang="en-US" sz="1500" b="1">
                <a:solidFill>
                  <a:srgbClr val="43B778"/>
                </a:solidFill>
                <a:latin typeface="Calibri" panose="020F0502020204030204" pitchFamily="34" charset="0"/>
              </a:rPr>
              <a:t>✓</a:t>
            </a:r>
            <a:r>
              <a:rPr lang="en-US" sz="1500">
                <a:solidFill>
                  <a:srgbClr val="E6E6E6"/>
                </a:solidFill>
                <a:latin typeface="Calibri" panose="020F0502020204030204" pitchFamily="34" charset="0"/>
              </a:rPr>
              <a:t>   Apply human judgment to sensitive employee matters.</a:t>
            </a:r>
            <a:endParaRPr lang="fi-FI" sz="15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8D76A2-B3C6-904E-3D1E-7615A8986BBB}"/>
              </a:ext>
            </a:extLst>
          </p:cNvPr>
          <p:cNvSpPr/>
          <p:nvPr/>
        </p:nvSpPr>
        <p:spPr>
          <a:xfrm>
            <a:off x="685800" y="5689600"/>
            <a:ext cx="10820400" cy="635000"/>
          </a:xfrm>
          <a:prstGeom prst="roundRect">
            <a:avLst>
              <a:gd name="adj" fmla="val 9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76200" rIns="177800" bIns="76200" rtlCol="0" anchor="ctr"/>
          <a:lstStyle/>
          <a:p>
            <a:r>
              <a:rPr lang="en-US" sz="1500" b="1">
                <a:solidFill>
                  <a:srgbClr val="43B778"/>
                </a:solidFill>
                <a:latin typeface="Calibri" panose="020F0502020204030204" pitchFamily="34" charset="0"/>
              </a:rPr>
              <a:t>✓</a:t>
            </a:r>
            <a:r>
              <a:rPr lang="en-US" sz="1500">
                <a:solidFill>
                  <a:srgbClr val="E6E6E6"/>
                </a:solidFill>
                <a:latin typeface="Calibri" panose="020F0502020204030204" pitchFamily="34" charset="0"/>
              </a:rPr>
              <a:t>   Use AI to improve efficiency while maintaining fairness and consistency.</a:t>
            </a:r>
            <a:endParaRPr lang="fi-FI" sz="15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A18E0F-F603-FAB8-981B-B2C99F62ADB9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F7B07-5849-E290-F591-25FA50040506}"/>
              </a:ext>
            </a:extLst>
          </p:cNvPr>
          <p:cNvSpPr txBox="1"/>
          <p:nvPr/>
        </p:nvSpPr>
        <p:spPr>
          <a:xfrm>
            <a:off x="10820400" y="6413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50258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F77063-D1F9-99FA-8D7A-D185FB49E5AB}"/>
              </a:ext>
            </a:extLst>
          </p:cNvPr>
          <p:cNvSpPr txBox="1"/>
          <p:nvPr/>
        </p:nvSpPr>
        <p:spPr>
          <a:xfrm>
            <a:off x="812800" y="2870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4800" b="1">
                <a:solidFill>
                  <a:srgbClr val="FFD65C"/>
                </a:solidFill>
                <a:latin typeface="Calibri" panose="020F0502020204030204" pitchFamily="34" charset="0"/>
              </a:rPr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EB2EA-E043-6DE3-91D5-6D03362B00DE}"/>
              </a:ext>
            </a:extLst>
          </p:cNvPr>
          <p:cNvSpPr txBox="1"/>
          <p:nvPr/>
        </p:nvSpPr>
        <p:spPr>
          <a:xfrm>
            <a:off x="812800" y="4089400"/>
            <a:ext cx="10566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E6E6E6"/>
                </a:solidFill>
                <a:latin typeface="Calibri" panose="020F0502020204030204" pitchFamily="34" charset="0"/>
              </a:rPr>
              <a:t>Use AI to work faster — and keep HR judgement at the centre.</a:t>
            </a:r>
            <a:endParaRPr lang="fi-FI" sz="17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CE5C62-33AB-DE12-72EF-20FC87752FFF}"/>
              </a:ext>
            </a:extLst>
          </p:cNvPr>
          <p:cNvSpPr txBox="1"/>
          <p:nvPr/>
        </p:nvSpPr>
        <p:spPr>
          <a:xfrm>
            <a:off x="812800" y="4724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200">
                <a:solidFill>
                  <a:srgbClr val="9E9E9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2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Microsoft Office PowerPoint</Application>
  <PresentationFormat>Custom</PresentationFormat>
  <Paragraphs>136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Tarppaa </dc:creator>
  <cp:lastModifiedBy>Tarppaa </cp:lastModifiedBy>
  <cp:revision>1</cp:revision>
  <dcterms:created xsi:type="dcterms:W3CDTF">2026-07-02T17:43:36Z</dcterms:created>
  <dcterms:modified xsi:type="dcterms:W3CDTF">2026-07-02T17:43:36Z</dcterms:modified>
</cp:coreProperties>
</file>