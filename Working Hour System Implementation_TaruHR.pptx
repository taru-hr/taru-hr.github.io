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A39CBA-E58B-4EF4-AEEA-F4ABA332FF46}">
  <a:tblStyle styleId="{DBA39CBA-E58B-4EF4-AEEA-F4ABA332FF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hyperlink" Target="http://taru-hr.github.io" TargetMode="External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0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8.png"/><Relationship Id="rId13" Type="http://schemas.openxmlformats.org/officeDocument/2006/relationships/image" Target="../media/image24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58.png"/><Relationship Id="rId7" Type="http://schemas.openxmlformats.org/officeDocument/2006/relationships/image" Target="../media/image26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39.png"/><Relationship Id="rId13" Type="http://schemas.openxmlformats.org/officeDocument/2006/relationships/image" Target="../media/image48.png"/><Relationship Id="rId1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42.png"/><Relationship Id="rId5" Type="http://schemas.openxmlformats.org/officeDocument/2006/relationships/image" Target="../media/image29.png"/><Relationship Id="rId6" Type="http://schemas.openxmlformats.org/officeDocument/2006/relationships/image" Target="../media/image41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31.png"/><Relationship Id="rId5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6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9" Type="http://schemas.openxmlformats.org/officeDocument/2006/relationships/image" Target="../media/image90.png"/><Relationship Id="rId5" Type="http://schemas.openxmlformats.org/officeDocument/2006/relationships/image" Target="../media/image56.png"/><Relationship Id="rId6" Type="http://schemas.openxmlformats.org/officeDocument/2006/relationships/image" Target="../media/image91.png"/><Relationship Id="rId7" Type="http://schemas.openxmlformats.org/officeDocument/2006/relationships/image" Target="../media/image94.png"/><Relationship Id="rId8" Type="http://schemas.openxmlformats.org/officeDocument/2006/relationships/image" Target="../media/image6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61.png"/><Relationship Id="rId5" Type="http://schemas.openxmlformats.org/officeDocument/2006/relationships/image" Target="../media/image72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3.png"/><Relationship Id="rId4" Type="http://schemas.openxmlformats.org/officeDocument/2006/relationships/image" Target="../media/image76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99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8.png"/><Relationship Id="rId1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77.png"/><Relationship Id="rId9" Type="http://schemas.openxmlformats.org/officeDocument/2006/relationships/image" Target="../media/image105.png"/><Relationship Id="rId5" Type="http://schemas.openxmlformats.org/officeDocument/2006/relationships/image" Target="../media/image101.png"/><Relationship Id="rId6" Type="http://schemas.openxmlformats.org/officeDocument/2006/relationships/image" Target="../media/image89.png"/><Relationship Id="rId7" Type="http://schemas.openxmlformats.org/officeDocument/2006/relationships/image" Target="../media/image82.png"/><Relationship Id="rId8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0.png"/><Relationship Id="rId4" Type="http://schemas.openxmlformats.org/officeDocument/2006/relationships/image" Target="../media/image27.png"/><Relationship Id="rId5" Type="http://schemas.openxmlformats.org/officeDocument/2006/relationships/image" Target="../media/image98.png"/><Relationship Id="rId6" Type="http://schemas.openxmlformats.org/officeDocument/2006/relationships/image" Target="../media/image122.png"/><Relationship Id="rId7" Type="http://schemas.openxmlformats.org/officeDocument/2006/relationships/image" Target="../media/image111.png"/><Relationship Id="rId8" Type="http://schemas.openxmlformats.org/officeDocument/2006/relationships/image" Target="../media/image1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0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Relationship Id="rId4" Type="http://schemas.openxmlformats.org/officeDocument/2006/relationships/image" Target="../media/image26.png"/><Relationship Id="rId5" Type="http://schemas.openxmlformats.org/officeDocument/2006/relationships/image" Target="../media/image120.png"/><Relationship Id="rId6" Type="http://schemas.openxmlformats.org/officeDocument/2006/relationships/image" Target="../media/image14.png"/><Relationship Id="rId7" Type="http://schemas.openxmlformats.org/officeDocument/2006/relationships/image" Target="../media/image8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9.png"/><Relationship Id="rId4" Type="http://schemas.openxmlformats.org/officeDocument/2006/relationships/image" Target="../media/image125.png"/><Relationship Id="rId5" Type="http://schemas.openxmlformats.org/officeDocument/2006/relationships/image" Target="../media/image16.png"/><Relationship Id="rId6" Type="http://schemas.openxmlformats.org/officeDocument/2006/relationships/image" Target="../media/image68.png"/><Relationship Id="rId7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2.png"/><Relationship Id="rId4" Type="http://schemas.openxmlformats.org/officeDocument/2006/relationships/image" Target="../media/image2.png"/><Relationship Id="rId5" Type="http://schemas.openxmlformats.org/officeDocument/2006/relationships/image" Target="../media/image114.png"/><Relationship Id="rId6" Type="http://schemas.openxmlformats.org/officeDocument/2006/relationships/image" Target="../media/image97.png"/><Relationship Id="rId7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1.png"/><Relationship Id="rId4" Type="http://schemas.openxmlformats.org/officeDocument/2006/relationships/image" Target="../media/image124.png"/><Relationship Id="rId5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FFD36E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058400" y="3566160"/>
            <a:ext cx="4206240" cy="4206240"/>
          </a:xfrm>
          <a:prstGeom prst="ellipse">
            <a:avLst/>
          </a:prstGeom>
          <a:solidFill>
            <a:srgbClr val="1C3255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280160" y="4297680"/>
            <a:ext cx="3840480" cy="3840480"/>
          </a:xfrm>
          <a:prstGeom prst="ellipse">
            <a:avLst/>
          </a:prstGeom>
          <a:solidFill>
            <a:srgbClr val="1C325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58368" y="1828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HR TRANSFORMATION  ·  PROJECT 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21792" y="224028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Hour System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" y="411480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DB0CC"/>
              </a:buClr>
              <a:buSzPts val="1650"/>
              <a:buFont typeface="Calibri"/>
              <a:buNone/>
            </a:pPr>
            <a:r>
              <a:rPr lang="en-US" sz="1650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A project plan demonstrating the implementation of a working time and attendance system for a large international organisation. 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8368" y="5074920"/>
            <a:ext cx="2743200" cy="749808"/>
          </a:xfrm>
          <a:prstGeom prst="roundRect">
            <a:avLst>
              <a:gd fmla="val 12195" name="adj"/>
            </a:avLst>
          </a:prstGeom>
          <a:solidFill>
            <a:srgbClr val="13233B"/>
          </a:solidFill>
          <a:ln cap="flat" cmpd="sng" w="12700">
            <a:solidFill>
              <a:srgbClr val="2A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41248" y="507492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€1.04M   </a:t>
            </a:r>
            <a:r>
              <a:rPr b="0" i="0" lang="en-US" sz="110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indicative budget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30168" y="5074920"/>
            <a:ext cx="2743200" cy="749808"/>
          </a:xfrm>
          <a:prstGeom prst="roundRect">
            <a:avLst>
              <a:gd fmla="val 12195" name="adj"/>
            </a:avLst>
          </a:prstGeom>
          <a:solidFill>
            <a:srgbClr val="13233B"/>
          </a:solidFill>
          <a:ln cap="flat" cmpd="sng" w="12700">
            <a:solidFill>
              <a:srgbClr val="2A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813048" y="507492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~15 months   </a:t>
            </a:r>
            <a:r>
              <a:rPr b="0" i="0" lang="en-US" sz="110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phased roadmap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601968" y="5074920"/>
            <a:ext cx="2743200" cy="749808"/>
          </a:xfrm>
          <a:prstGeom prst="roundRect">
            <a:avLst>
              <a:gd fmla="val 12195" name="adj"/>
            </a:avLst>
          </a:prstGeom>
          <a:solidFill>
            <a:srgbClr val="13233B"/>
          </a:solidFill>
          <a:ln cap="flat" cmpd="sng" w="12700">
            <a:solidFill>
              <a:srgbClr val="2A3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784848" y="5074920"/>
            <a:ext cx="24688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9 phases   </a:t>
            </a:r>
            <a:r>
              <a:rPr b="0" i="0" lang="en-US" sz="110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initiation → hypercare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561320" y="5120640"/>
            <a:ext cx="658500" cy="6585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6161" y="5265481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658368" y="63093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9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7F9C"/>
                </a:solidFill>
                <a:latin typeface="Calibri"/>
                <a:ea typeface="Calibri"/>
                <a:cs typeface="Calibri"/>
                <a:sym typeface="Calibri"/>
              </a:rPr>
              <a:t>Illustrative demonstration project · portfolio piece · </a:t>
            </a:r>
            <a:r>
              <a:rPr b="0" i="1" lang="en-US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taru-hr.github.io</a:t>
            </a:r>
            <a:r>
              <a:rPr b="0" i="1" lang="en-US" sz="1000" u="none" cap="none" strike="noStrike">
                <a:solidFill>
                  <a:srgbClr val="6E7F9C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1" lang="en-US" sz="1000" u="none" cap="none" strike="noStrike">
                <a:solidFill>
                  <a:srgbClr val="6E7F9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i="1" lang="en-US" sz="1000">
                <a:solidFill>
                  <a:srgbClr val="6E7F9C"/>
                </a:solidFill>
                <a:latin typeface="Calibri"/>
                <a:ea typeface="Calibri"/>
                <a:cs typeface="Calibri"/>
                <a:sym typeface="Calibri"/>
              </a:rPr>
              <a:t>o-authored with Claude AI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225" y="322625"/>
            <a:ext cx="2857499" cy="93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2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9692640" y="-2194560"/>
            <a:ext cx="4754880" cy="4754880"/>
          </a:xfrm>
          <a:prstGeom prst="ellipse">
            <a:avLst/>
          </a:prstGeom>
          <a:solidFill>
            <a:srgbClr val="1C3255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2648" y="74980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plan covers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0080" y="1737360"/>
            <a:ext cx="2615184" cy="4297680"/>
          </a:xfrm>
          <a:prstGeom prst="roundRect">
            <a:avLst>
              <a:gd fmla="val 3147" name="adj"/>
            </a:avLst>
          </a:prstGeom>
          <a:solidFill>
            <a:srgbClr val="12213A"/>
          </a:solidFill>
          <a:ln cap="flat" cmpd="sng" w="12700">
            <a:solidFill>
              <a:srgbClr val="263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59536" y="1975104"/>
            <a:ext cx="566928" cy="566928"/>
          </a:xfrm>
          <a:prstGeom prst="ellipse">
            <a:avLst/>
          </a:prstGeom>
          <a:solidFill>
            <a:srgbClr val="1C3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1168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2203704" y="19019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B7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34B7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59536" y="2670048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Case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77824" y="3108960"/>
            <a:ext cx="21945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Future state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474720" y="1737360"/>
            <a:ext cx="2615184" cy="4297680"/>
          </a:xfrm>
          <a:prstGeom prst="roundRect">
            <a:avLst>
              <a:gd fmla="val 3147" name="adj"/>
            </a:avLst>
          </a:prstGeom>
          <a:solidFill>
            <a:srgbClr val="12213A"/>
          </a:solidFill>
          <a:ln cap="flat" cmpd="sng" w="12700">
            <a:solidFill>
              <a:srgbClr val="263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94176" y="1975104"/>
            <a:ext cx="566928" cy="566928"/>
          </a:xfrm>
          <a:prstGeom prst="ellipse">
            <a:avLst/>
          </a:prstGeom>
          <a:solidFill>
            <a:srgbClr val="1C3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5908" y="21168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5038344" y="19019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B7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34B7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94176" y="2670048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Plan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712464" y="3108960"/>
            <a:ext cx="21945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Objectives &amp; success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Governance &amp; stakeholders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Timeline &amp; roadmap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309360" y="1737360"/>
            <a:ext cx="2615184" cy="4297680"/>
          </a:xfrm>
          <a:prstGeom prst="roundRect">
            <a:avLst>
              <a:gd fmla="val 3147" name="adj"/>
            </a:avLst>
          </a:prstGeom>
          <a:solidFill>
            <a:srgbClr val="12213A"/>
          </a:solidFill>
          <a:ln cap="flat" cmpd="sng" w="12700">
            <a:solidFill>
              <a:srgbClr val="263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528816" y="1975104"/>
            <a:ext cx="566928" cy="566928"/>
          </a:xfrm>
          <a:prstGeom prst="ellipse">
            <a:avLst/>
          </a:prstGeom>
          <a:solidFill>
            <a:srgbClr val="1C3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0548" y="21168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7872984" y="19019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B7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34B7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528816" y="2670048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547104" y="3108960"/>
            <a:ext cx="21945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Risks &amp; mitigation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Change management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Training strategy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Communication plan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Go-live &amp; hypercare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9144000" y="1737360"/>
            <a:ext cx="2615184" cy="4297680"/>
          </a:xfrm>
          <a:prstGeom prst="roundRect">
            <a:avLst>
              <a:gd fmla="val 3147" name="adj"/>
            </a:avLst>
          </a:prstGeom>
          <a:solidFill>
            <a:srgbClr val="12213A"/>
          </a:solidFill>
          <a:ln cap="flat" cmpd="sng" w="12700">
            <a:solidFill>
              <a:srgbClr val="263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363456" y="1975104"/>
            <a:ext cx="566928" cy="566928"/>
          </a:xfrm>
          <a:prstGeom prst="ellipse">
            <a:avLst/>
          </a:prstGeom>
          <a:solidFill>
            <a:srgbClr val="1C3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5188" y="211683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10707624" y="190195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B7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34B7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9363456" y="2670048"/>
            <a:ext cx="22494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&amp; Insight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9381744" y="3108960"/>
            <a:ext cx="21945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KPIs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AI opportunities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Dashboard mock-up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E8EEF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Summary &amp; next steps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9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E7F9C"/>
                </a:solidFill>
                <a:latin typeface="Calibri"/>
                <a:ea typeface="Calibri"/>
                <a:cs typeface="Calibri"/>
                <a:sym typeface="Calibri"/>
              </a:rPr>
              <a:t>A demonstration project plan · figures and data are illustrative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01 · THE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Replace fragmented, manual timekeeping with one automated, compliant time &amp; attendance system — improving payroll accuracy, cutting administration, and giving HR real-time visibility across a 1,000+ employee organisation.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48640" y="2121408"/>
            <a:ext cx="2651760" cy="1097280"/>
          </a:xfrm>
          <a:prstGeom prst="roundRect">
            <a:avLst>
              <a:gd fmla="val 8333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58368" y="2249424"/>
            <a:ext cx="2432304" cy="460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€1.04M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76656" y="2670048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Total investment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76656" y="29260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incl. 10% contingency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355848" y="2121408"/>
            <a:ext cx="2651760" cy="1097280"/>
          </a:xfrm>
          <a:prstGeom prst="roundRect">
            <a:avLst>
              <a:gd fmla="val 8333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465576" y="2249424"/>
            <a:ext cx="2432304" cy="460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~15 mo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483864" y="2670048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Phased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483864" y="29260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9 sequenced phases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163056" y="2121408"/>
            <a:ext cx="2651760" cy="1097280"/>
          </a:xfrm>
          <a:prstGeom prst="roundRect">
            <a:avLst>
              <a:gd fmla="val 8333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272784" y="2249424"/>
            <a:ext cx="2432304" cy="460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291072" y="2670048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Adoption target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291072" y="29260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within first month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970264" y="2121408"/>
            <a:ext cx="2651760" cy="1097280"/>
          </a:xfrm>
          <a:prstGeom prst="roundRect">
            <a:avLst>
              <a:gd fmla="val 8333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9079992" y="2249424"/>
            <a:ext cx="2432304" cy="460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098280" y="2670048"/>
            <a:ext cx="2414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Fewer payroll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098280" y="2926080"/>
            <a:ext cx="24140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corrections vs today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3456432"/>
            <a:ext cx="3602736" cy="2651760"/>
          </a:xfrm>
          <a:prstGeom prst="roundRect">
            <a:avLst>
              <a:gd fmla="val 34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86384" y="3694176"/>
            <a:ext cx="512064" cy="512064"/>
          </a:xfrm>
          <a:prstGeom prst="ellipse">
            <a:avLst/>
          </a:prstGeom>
          <a:solidFill>
            <a:srgbClr val="C15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822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1417320" y="3712464"/>
            <a:ext cx="2596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The problem today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22960" y="4389120"/>
            <a:ext cx="30998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Manual timesheets &amp; spreadsheets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Payroll corrections &amp; rework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Missing / late approvals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Limited HR reporting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325112" y="3456432"/>
            <a:ext cx="3602736" cy="2651760"/>
          </a:xfrm>
          <a:prstGeom prst="roundRect">
            <a:avLst>
              <a:gd fmla="val 34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4562856" y="3694176"/>
            <a:ext cx="512064" cy="512064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0872" y="3822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5193792" y="3712464"/>
            <a:ext cx="2596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99432" y="4389120"/>
            <a:ext cx="30998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Central time &amp; attendance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Automated working-time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Digital approval workflows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Payroll integration &amp; dashboards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101584" y="3456432"/>
            <a:ext cx="3602736" cy="2651760"/>
          </a:xfrm>
          <a:prstGeom prst="roundRect">
            <a:avLst>
              <a:gd fmla="val 34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8339328" y="3694176"/>
            <a:ext cx="512064" cy="512064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7344" y="382219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8970264" y="3712464"/>
            <a:ext cx="25968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The value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375904" y="4389120"/>
            <a:ext cx="309981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Accurate, on-time payroll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Compliance with working-time law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Less HR &amp; manager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Better employee experience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01 · THE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141732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This project implements and rolls out a single working-hour (time &amp; attendance) system, replacing manual timesheets with automated capture, rules and approvals</a:t>
            </a:r>
            <a:r>
              <a:rPr lang="en-US" sz="1350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delivered by an HR-led, cross-functional team using a phased approach.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640" y="2788920"/>
            <a:ext cx="5212080" cy="3246120"/>
          </a:xfrm>
          <a:prstGeom prst="roundRect">
            <a:avLst>
              <a:gd fmla="val 2817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77240" y="296265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At a glance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77240" y="334670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Sponsor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487168" y="334670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HR Director (executive sponsor)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77240" y="378104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Business owner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487168" y="378104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Human Resources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77240" y="421538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487168" y="421538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1,000+ employees, multi-country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77240" y="464972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487168" y="464972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~15 months across 9 phases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77240" y="508406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487168" y="508406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€1.04M (indicative)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77240" y="5518404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487168" y="551840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Phased, with iterative configuration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08076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What we're delivering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080760" y="1874520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6263640" y="2093976"/>
            <a:ext cx="502920" cy="50292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370" y="2219706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903720" y="20025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Central time &amp; attendance system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903720" y="23042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Self-service capture via web and mobile for every employee.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080760" y="2916936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263640" y="3136392"/>
            <a:ext cx="502920" cy="50292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9370" y="326212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6903720" y="30449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Automated working-time rules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903720" y="3346704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Schedules, overtime, breaks and leave types configured once.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080760" y="3959352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6263640" y="4178808"/>
            <a:ext cx="502920" cy="50292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9370" y="430453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6903720" y="40873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Digital approval workflows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903720" y="43891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Manager approvals, exceptions and audit trail no email.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6080760" y="5001768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263640" y="5221224"/>
            <a:ext cx="502920" cy="50292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9370" y="53469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6903720" y="512978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Payroll integration &amp; reporting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903720" y="5431536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Straight-through payroll feed and real-time HR dashboards.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04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01 · THE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r>
              <a:rPr b="1" lang="en-US" sz="2900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why act now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48640" y="1463040"/>
            <a:ext cx="5440680" cy="3063240"/>
          </a:xfrm>
          <a:prstGeom prst="roundRect">
            <a:avLst>
              <a:gd fmla="val 2985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77240" y="1673352"/>
            <a:ext cx="475488" cy="475488"/>
          </a:xfrm>
          <a:prstGeom prst="ellipse">
            <a:avLst/>
          </a:prstGeom>
          <a:solidFill>
            <a:srgbClr val="C15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112" y="17922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1371600" y="1673352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Pain points today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868680" y="23774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Manual timesheets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868680" y="2779776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Payroll corrections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68680" y="318211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Missing approvals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68680" y="358444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Limited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868680" y="3986784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Employees unsure how to record 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199632" y="1463040"/>
            <a:ext cx="5440680" cy="3063240"/>
          </a:xfrm>
          <a:prstGeom prst="roundRect">
            <a:avLst>
              <a:gd fmla="val 2985" name="adj"/>
            </a:avLst>
          </a:prstGeom>
          <a:solidFill>
            <a:srgbClr val="EEF7F1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428232" y="1673352"/>
            <a:ext cx="475488" cy="475488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104" y="17922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7022592" y="1673352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Expected benefits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519672" y="23774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Accurate payroll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519672" y="2779776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Reduced manual 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519672" y="318211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Better HR reporting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519672" y="358444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Improved employee experience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519672" y="3986784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Compliance with working-time regulations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" y="4709160"/>
            <a:ext cx="3602736" cy="1371600"/>
          </a:xfrm>
          <a:prstGeom prst="roundRect">
            <a:avLst>
              <a:gd fmla="val 6667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768096" y="4919472"/>
            <a:ext cx="512064" cy="512064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6112" y="5047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1408176" y="4882896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Compliance risk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86384" y="5394960"/>
            <a:ext cx="3145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Working-time law demands accurate, auditable records.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325112" y="4709160"/>
            <a:ext cx="3602736" cy="1371600"/>
          </a:xfrm>
          <a:prstGeom prst="roundRect">
            <a:avLst>
              <a:gd fmla="val 6667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544568" y="4919472"/>
            <a:ext cx="512064" cy="512064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2584" y="5047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/>
          <p:nvPr/>
        </p:nvSpPr>
        <p:spPr>
          <a:xfrm>
            <a:off x="5184648" y="4882896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Payroll accuracy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62856" y="5394960"/>
            <a:ext cx="3145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Errors mean re-work, cost and employee frustration.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101584" y="4709160"/>
            <a:ext cx="3602736" cy="1371600"/>
          </a:xfrm>
          <a:prstGeom prst="roundRect">
            <a:avLst>
              <a:gd fmla="val 6667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8321040" y="4919472"/>
            <a:ext cx="512064" cy="512064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49056" y="504748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8961120" y="4882896"/>
            <a:ext cx="2596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HR efficiency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339328" y="5394960"/>
            <a:ext cx="31455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Automation frees HR from low-value manual admin.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05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01 · THE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Current state analysis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Today's process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8640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261872" y="2148840"/>
            <a:ext cx="548640" cy="54864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032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621792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Record hours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21792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Spreadsheets / paper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9464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2779776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3493008" y="2148840"/>
            <a:ext cx="548640" cy="54864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0168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2852928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Manager approves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2852928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Ad-hoc, by 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5010912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724144" y="2148840"/>
            <a:ext cx="548640" cy="54864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1304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5084064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HR consolidates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084064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Manual collation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1736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7242048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955280" y="2148840"/>
            <a:ext cx="548640" cy="54864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2440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7315200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Payroll re-keys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315200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Manual entry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62872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9473184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F7E9E7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10186416" y="2148840"/>
            <a:ext cx="548640" cy="548640"/>
          </a:xfrm>
          <a:prstGeom prst="ellipse">
            <a:avLst/>
          </a:prstGeom>
          <a:solidFill>
            <a:srgbClr val="C15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23576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9546336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Errors &amp; rework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9546336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Corrections each 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Where it hurts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749808" y="4315968"/>
            <a:ext cx="512064" cy="512064"/>
          </a:xfrm>
          <a:prstGeom prst="ellipse">
            <a:avLst/>
          </a:prstGeom>
          <a:solidFill>
            <a:srgbClr val="F2D9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24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731520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No single source of truth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31520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Data scattered across files and inboxes.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401568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602736" y="4315968"/>
            <a:ext cx="512064" cy="512064"/>
          </a:xfrm>
          <a:prstGeom prst="ellipse">
            <a:avLst/>
          </a:prstGeom>
          <a:solidFill>
            <a:srgbClr val="F2D9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0752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8"/>
          <p:cNvSpPr/>
          <p:nvPr/>
        </p:nvSpPr>
        <p:spPr>
          <a:xfrm>
            <a:off x="3584448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Error-prone payroll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584448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Manual re-keying drives corrections and cost.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254496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6455664" y="4315968"/>
            <a:ext cx="512064" cy="512064"/>
          </a:xfrm>
          <a:prstGeom prst="ellipse">
            <a:avLst/>
          </a:prstGeom>
          <a:solidFill>
            <a:srgbClr val="F2D9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3680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6437376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Approvals missed or late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437376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No workflow, reminders or audit trail.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9107424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9308592" y="4315968"/>
            <a:ext cx="512064" cy="512064"/>
          </a:xfrm>
          <a:prstGeom prst="ellipse">
            <a:avLst/>
          </a:prstGeom>
          <a:solidFill>
            <a:srgbClr val="F2D9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36608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8"/>
          <p:cNvSpPr/>
          <p:nvPr/>
        </p:nvSpPr>
        <p:spPr>
          <a:xfrm>
            <a:off x="9290304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Poor visibility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9290304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Little reporting or compliance oversight.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06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01 · THE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Future state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Tomorrow's process</a:t>
            </a:r>
            <a:r>
              <a:rPr b="1" lang="en-US" sz="1500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automated and connected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48640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E9F0FA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1261872" y="2148840"/>
            <a:ext cx="548640" cy="548640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032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621792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Log 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21792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Web / mobile self-service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9464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9"/>
          <p:cNvSpPr/>
          <p:nvPr/>
        </p:nvSpPr>
        <p:spPr>
          <a:xfrm>
            <a:off x="2779776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E9F0FA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3493008" y="2148840"/>
            <a:ext cx="548640" cy="548640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0168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/>
          <p:nvPr/>
        </p:nvSpPr>
        <p:spPr>
          <a:xfrm>
            <a:off x="2852928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Auto-validation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2852928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Checked against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/>
          <p:nvPr/>
        </p:nvSpPr>
        <p:spPr>
          <a:xfrm>
            <a:off x="5010912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E9F0FA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5724144" y="2148840"/>
            <a:ext cx="548640" cy="548640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1304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9"/>
          <p:cNvSpPr/>
          <p:nvPr/>
        </p:nvSpPr>
        <p:spPr>
          <a:xfrm>
            <a:off x="5084064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Manager approves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084064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Digital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1736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7242048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E9F0FA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7955280" y="2148840"/>
            <a:ext cx="548640" cy="548640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2440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/>
          <p:nvPr/>
        </p:nvSpPr>
        <p:spPr>
          <a:xfrm>
            <a:off x="7315200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Sync to payroll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7315200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Straight-through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62872" y="2592324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9473184" y="1965960"/>
            <a:ext cx="1975104" cy="1417320"/>
          </a:xfrm>
          <a:prstGeom prst="roundRect">
            <a:avLst>
              <a:gd fmla="val 6452" name="adj"/>
            </a:avLst>
          </a:prstGeom>
          <a:solidFill>
            <a:srgbClr val="E7F3EE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10186416" y="2148840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7" name="Google Shape;297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23576" y="22860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9"/>
          <p:cNvSpPr/>
          <p:nvPr/>
        </p:nvSpPr>
        <p:spPr>
          <a:xfrm>
            <a:off x="9546336" y="27523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Real-time insight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9546336" y="300837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Live dashboards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48640" y="3703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New capabilities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48640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749808" y="4315968"/>
            <a:ext cx="512064" cy="512064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7824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9"/>
          <p:cNvSpPr/>
          <p:nvPr/>
        </p:nvSpPr>
        <p:spPr>
          <a:xfrm>
            <a:off x="731520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Self-service entry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31520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Employees own their own time and leave.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401568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602736" y="4315968"/>
            <a:ext cx="512064" cy="512064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0752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/>
          <p:nvPr/>
        </p:nvSpPr>
        <p:spPr>
          <a:xfrm>
            <a:off x="3584448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Automated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3584448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Overtime and breaks calculated correctly.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254496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6455664" y="4315968"/>
            <a:ext cx="512064" cy="512064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83680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/>
          <p:nvPr/>
        </p:nvSpPr>
        <p:spPr>
          <a:xfrm>
            <a:off x="6437376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Straight-through payroll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6437376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One trusted feed, fewer corrections.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9107424" y="4114800"/>
            <a:ext cx="2724912" cy="18745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9308592" y="4315968"/>
            <a:ext cx="512064" cy="512064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36608" y="4443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/>
          <p:nvPr/>
        </p:nvSpPr>
        <p:spPr>
          <a:xfrm>
            <a:off x="9290304" y="4956048"/>
            <a:ext cx="23591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Real-time analytics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9290304" y="5468112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Live view of hours, cost and compliance.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07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02 · 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48640" y="1463040"/>
            <a:ext cx="6537960" cy="3977640"/>
          </a:xfrm>
          <a:prstGeom prst="roundRect">
            <a:avLst>
              <a:gd fmla="val 2299" name="adj"/>
            </a:avLst>
          </a:prstGeom>
          <a:solidFill>
            <a:srgbClr val="EEF7F1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786384" y="1691640"/>
            <a:ext cx="512064" cy="512064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196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0"/>
          <p:cNvSpPr/>
          <p:nvPr/>
        </p:nvSpPr>
        <p:spPr>
          <a:xfrm>
            <a:off x="1417320" y="169164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68680" y="243230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Configure time-tracking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069080" y="2432304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Migrate employee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868680" y="30906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Define working-time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069080" y="309067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Configure leave types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68680" y="37490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Train managers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069080" y="37490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Train employees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868680" y="44074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Test payroll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4069080" y="4407408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6B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Go-live 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7269480" y="1463040"/>
            <a:ext cx="4343400" cy="3977640"/>
          </a:xfrm>
          <a:prstGeom prst="roundRect">
            <a:avLst>
              <a:gd fmla="val 2299" name="adj"/>
            </a:avLst>
          </a:prstGeom>
          <a:solidFill>
            <a:srgbClr val="F7ECEA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7507224" y="1691640"/>
            <a:ext cx="512064" cy="512064"/>
          </a:xfrm>
          <a:prstGeom prst="ellipse">
            <a:avLst/>
          </a:prstGeom>
          <a:solidFill>
            <a:srgbClr val="C15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5240" y="18196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/>
          <p:nvPr/>
        </p:nvSpPr>
        <p:spPr>
          <a:xfrm>
            <a:off x="8138160" y="1691640"/>
            <a:ext cx="32004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7589520" y="248716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Payroll system replacement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589520" y="309067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Recruitment system changes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589520" y="369417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84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1584E"/>
                </a:solidFill>
                <a:latin typeface="Calibri"/>
                <a:ea typeface="Calibri"/>
                <a:cs typeface="Calibri"/>
                <a:sym typeface="Calibri"/>
              </a:rPr>
              <a:t>✕  </a:t>
            </a:r>
            <a:r>
              <a:rPr b="0" i="0" lang="en-US" sz="125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Performance management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7498080" y="4498848"/>
            <a:ext cx="3886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Key assumptions</a:t>
            </a:r>
            <a:br>
              <a:rPr b="1" i="0" lang="en-US" sz="12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Existing payroll system is retained · one global template with local variations · vendor-led implementation with internal HR/HRIS ownership.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48640" y="5715000"/>
            <a:ext cx="6537960" cy="310896"/>
          </a:xfrm>
          <a:prstGeom prst="roundRect">
            <a:avLst>
              <a:gd fmla="val 23529" name="adj"/>
            </a:avLst>
          </a:prstGeom>
          <a:solidFill>
            <a:srgbClr val="FBF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621792" y="5715000"/>
            <a:ext cx="63916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ⓘ  </a:t>
            </a:r>
            <a:r>
              <a:rPr b="0" i="1" lang="en-US" sz="950" u="none" cap="none" strike="noStrike">
                <a:solidFill>
                  <a:srgbClr val="7A5A12"/>
                </a:solidFill>
                <a:latin typeface="Calibri"/>
                <a:ea typeface="Calibri"/>
                <a:cs typeface="Calibri"/>
                <a:sym typeface="Calibri"/>
              </a:rPr>
              <a:t>Scope boundaries agreed at initiation and controlled via formal change control.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08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1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02 · 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Objectives &amp; success criteria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48640" y="1874520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731520" y="2130552"/>
            <a:ext cx="438912" cy="43891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731520" y="213055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325880" y="200253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Single system for all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325880" y="230428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Deploy to 100% of employees across every location by go-live.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48640" y="2916936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731520" y="3172968"/>
            <a:ext cx="438912" cy="43891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731520" y="31729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325880" y="30449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Automate the rules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325880" y="3346704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Working-time, overtime and leave calculated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48640" y="3959352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731520" y="4215384"/>
            <a:ext cx="438912" cy="43891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731520" y="42153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325880" y="40873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Straight-through payroll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1325880" y="438912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Integrate so approved time flows to payroll without re-keying.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48640" y="5001768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731520" y="5257800"/>
            <a:ext cx="438912" cy="43891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731520" y="52578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325880" y="5129784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Real-time reporting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325880" y="5431536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Give HR and managers live visibility of hours and compliance.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35508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6355080" y="1874520"/>
            <a:ext cx="2606040" cy="1243584"/>
          </a:xfrm>
          <a:prstGeom prst="roundRect">
            <a:avLst>
              <a:gd fmla="val 735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6519672" y="1984248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6537960" y="2532888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employee adoption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in first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9134856" y="1874520"/>
            <a:ext cx="2606040" cy="1243584"/>
          </a:xfrm>
          <a:prstGeom prst="roundRect">
            <a:avLst>
              <a:gd fmla="val 735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9299448" y="1984248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9317736" y="2532888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manager approvals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completed on 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6355080" y="3264408"/>
            <a:ext cx="2606040" cy="1243584"/>
          </a:xfrm>
          <a:prstGeom prst="roundRect">
            <a:avLst>
              <a:gd fmla="val 735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6519672" y="3374136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6537960" y="3922776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reduction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payroll corrections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134856" y="3264408"/>
            <a:ext cx="2606040" cy="1243584"/>
          </a:xfrm>
          <a:prstGeom prst="roundRect">
            <a:avLst>
              <a:gd fmla="val 735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9299448" y="3374136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&gt;4/5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9317736" y="3922776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employee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satisfaction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355080" y="4654296"/>
            <a:ext cx="2606040" cy="1243584"/>
          </a:xfrm>
          <a:prstGeom prst="roundRect">
            <a:avLst>
              <a:gd fmla="val 735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6519672" y="47640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6537960" y="5312664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critical issues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after one month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134856" y="4654296"/>
            <a:ext cx="2606040" cy="1243584"/>
          </a:xfrm>
          <a:prstGeom prst="roundRect">
            <a:avLst>
              <a:gd fmla="val 735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9299448" y="47640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317736" y="5312664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locations 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by go-live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09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2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02 · 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Governance &amp; stakeholders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Governance 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548640" y="1874520"/>
            <a:ext cx="5394960" cy="841248"/>
          </a:xfrm>
          <a:prstGeom prst="roundRect">
            <a:avLst>
              <a:gd fmla="val 978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768096" y="1965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Steering committee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768096" y="2276856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Sponsor + HR, IT, Payroll leads</a:t>
            </a:r>
            <a:r>
              <a:rPr lang="en-US" sz="103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 decisions &amp; funding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736592" y="2130552"/>
            <a:ext cx="1005840" cy="329184"/>
          </a:xfrm>
          <a:prstGeom prst="roundRect">
            <a:avLst>
              <a:gd fmla="val 13889" name="adj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736592" y="2130552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Bi-weekly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77240" y="2816352"/>
            <a:ext cx="4937760" cy="841248"/>
          </a:xfrm>
          <a:prstGeom prst="roundRect">
            <a:avLst>
              <a:gd fmla="val 9783" name="adj"/>
            </a:avLst>
          </a:prstGeom>
          <a:solidFill>
            <a:srgbClr val="1C3255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996696" y="29077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Project manager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996696" y="3218688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Day-to-day delivery, plan, budget &amp; risk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507992" y="3072384"/>
            <a:ext cx="1005840" cy="329184"/>
          </a:xfrm>
          <a:prstGeom prst="roundRect">
            <a:avLst>
              <a:gd fmla="val 13889" name="adj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"/>
          <p:cNvSpPr/>
          <p:nvPr/>
        </p:nvSpPr>
        <p:spPr>
          <a:xfrm>
            <a:off x="4507992" y="3072384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1005840" y="3758184"/>
            <a:ext cx="4480560" cy="841248"/>
          </a:xfrm>
          <a:prstGeom prst="roundRect">
            <a:avLst>
              <a:gd fmla="val 9783" name="adj"/>
            </a:avLst>
          </a:prstGeom>
          <a:solidFill>
            <a:srgbClr val="24457A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1225296" y="3849624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Workstream leads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1225296" y="4160520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HR/HRIS</a:t>
            </a:r>
            <a:r>
              <a:rPr lang="en-US" sz="103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Payroll</a:t>
            </a:r>
            <a:r>
              <a:rPr lang="en-US" sz="103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r>
              <a:rPr lang="en-US" sz="1030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 Change &amp; Training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4279392" y="4014216"/>
            <a:ext cx="1005840" cy="329184"/>
          </a:xfrm>
          <a:prstGeom prst="roundRect">
            <a:avLst>
              <a:gd fmla="val 13889" name="adj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4279392" y="4014216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234440" y="4700016"/>
            <a:ext cx="4023360" cy="841248"/>
          </a:xfrm>
          <a:prstGeom prst="roundRect">
            <a:avLst>
              <a:gd fmla="val 9783" name="adj"/>
            </a:avLst>
          </a:prstGeom>
          <a:solidFill>
            <a:srgbClr val="35618F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2"/>
          <p:cNvSpPr/>
          <p:nvPr/>
        </p:nvSpPr>
        <p:spPr>
          <a:xfrm>
            <a:off x="1453896" y="479145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Project team &amp; vendor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1453896" y="510235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Configuration, migration, testing, training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4050792" y="4956048"/>
            <a:ext cx="1005840" cy="329184"/>
          </a:xfrm>
          <a:prstGeom prst="roundRect">
            <a:avLst>
              <a:gd fmla="val 13889" name="adj"/>
            </a:avLst>
          </a:prstGeom>
          <a:solidFill>
            <a:srgbClr val="FFFFF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4050792" y="4956048"/>
            <a:ext cx="1005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35508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Key stakeholders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8" name="Google Shape;438;p12"/>
          <p:cNvGraphicFramePr/>
          <p:nvPr/>
        </p:nvGraphicFramePr>
        <p:xfrm>
          <a:off x="635508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{DBA39CBA-E58B-4EF4-AEEA-F4ABA332FF46}</a:tableStyleId>
              </a:tblPr>
              <a:tblGrid>
                <a:gridCol w="2011675"/>
                <a:gridCol w="32461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Responsibility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 owner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HRIS specialist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configuration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Payroll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Payroll testing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integration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Approve working hours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 working 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Vendor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implementation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p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10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3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7" name="Google Shape;4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3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02 · 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Timeline &amp; roadmap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548640" y="1335024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Durations overlap by design — total elapsed time ≈ 15–16 months (indicative).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1" name="Google Shape;451;p13"/>
          <p:cNvCxnSpPr/>
          <p:nvPr/>
        </p:nvCxnSpPr>
        <p:spPr>
          <a:xfrm>
            <a:off x="3977640" y="1874520"/>
            <a:ext cx="0" cy="3597250"/>
          </a:xfrm>
          <a:prstGeom prst="straightConnector1">
            <a:avLst/>
          </a:prstGeom>
          <a:noFill/>
          <a:ln cap="flat" cmpd="sng" w="12700">
            <a:solidFill>
              <a:srgbClr val="C9D4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13"/>
          <p:cNvCxnSpPr/>
          <p:nvPr/>
        </p:nvCxnSpPr>
        <p:spPr>
          <a:xfrm>
            <a:off x="4454842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3"/>
          <p:cNvCxnSpPr/>
          <p:nvPr/>
        </p:nvCxnSpPr>
        <p:spPr>
          <a:xfrm>
            <a:off x="4932045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4" name="Google Shape;454;p13"/>
          <p:cNvCxnSpPr/>
          <p:nvPr/>
        </p:nvCxnSpPr>
        <p:spPr>
          <a:xfrm>
            <a:off x="5409247" y="1874520"/>
            <a:ext cx="0" cy="3597250"/>
          </a:xfrm>
          <a:prstGeom prst="straightConnector1">
            <a:avLst/>
          </a:prstGeom>
          <a:noFill/>
          <a:ln cap="flat" cmpd="sng" w="12700">
            <a:solidFill>
              <a:srgbClr val="C9D4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13"/>
          <p:cNvCxnSpPr/>
          <p:nvPr/>
        </p:nvCxnSpPr>
        <p:spPr>
          <a:xfrm>
            <a:off x="5886450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13"/>
          <p:cNvCxnSpPr/>
          <p:nvPr/>
        </p:nvCxnSpPr>
        <p:spPr>
          <a:xfrm>
            <a:off x="6363653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13"/>
          <p:cNvCxnSpPr/>
          <p:nvPr/>
        </p:nvCxnSpPr>
        <p:spPr>
          <a:xfrm>
            <a:off x="6840855" y="1874520"/>
            <a:ext cx="0" cy="3597250"/>
          </a:xfrm>
          <a:prstGeom prst="straightConnector1">
            <a:avLst/>
          </a:prstGeom>
          <a:noFill/>
          <a:ln cap="flat" cmpd="sng" w="12700">
            <a:solidFill>
              <a:srgbClr val="C9D4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13"/>
          <p:cNvCxnSpPr/>
          <p:nvPr/>
        </p:nvCxnSpPr>
        <p:spPr>
          <a:xfrm>
            <a:off x="7318057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3"/>
          <p:cNvCxnSpPr/>
          <p:nvPr/>
        </p:nvCxnSpPr>
        <p:spPr>
          <a:xfrm>
            <a:off x="7795260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p13"/>
          <p:cNvCxnSpPr/>
          <p:nvPr/>
        </p:nvCxnSpPr>
        <p:spPr>
          <a:xfrm>
            <a:off x="8272463" y="1874520"/>
            <a:ext cx="0" cy="3597250"/>
          </a:xfrm>
          <a:prstGeom prst="straightConnector1">
            <a:avLst/>
          </a:prstGeom>
          <a:noFill/>
          <a:ln cap="flat" cmpd="sng" w="12700">
            <a:solidFill>
              <a:srgbClr val="C9D4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p13"/>
          <p:cNvCxnSpPr/>
          <p:nvPr/>
        </p:nvCxnSpPr>
        <p:spPr>
          <a:xfrm>
            <a:off x="8749665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13"/>
          <p:cNvCxnSpPr/>
          <p:nvPr/>
        </p:nvCxnSpPr>
        <p:spPr>
          <a:xfrm>
            <a:off x="9226868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3"/>
          <p:cNvCxnSpPr/>
          <p:nvPr/>
        </p:nvCxnSpPr>
        <p:spPr>
          <a:xfrm>
            <a:off x="9704070" y="1874520"/>
            <a:ext cx="0" cy="3597250"/>
          </a:xfrm>
          <a:prstGeom prst="straightConnector1">
            <a:avLst/>
          </a:prstGeom>
          <a:noFill/>
          <a:ln cap="flat" cmpd="sng" w="12700">
            <a:solidFill>
              <a:srgbClr val="C9D4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3"/>
          <p:cNvCxnSpPr/>
          <p:nvPr/>
        </p:nvCxnSpPr>
        <p:spPr>
          <a:xfrm>
            <a:off x="10181272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3"/>
          <p:cNvCxnSpPr/>
          <p:nvPr/>
        </p:nvCxnSpPr>
        <p:spPr>
          <a:xfrm>
            <a:off x="10658475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3"/>
          <p:cNvCxnSpPr/>
          <p:nvPr/>
        </p:nvCxnSpPr>
        <p:spPr>
          <a:xfrm>
            <a:off x="11135678" y="1874520"/>
            <a:ext cx="0" cy="3597250"/>
          </a:xfrm>
          <a:prstGeom prst="straightConnector1">
            <a:avLst/>
          </a:prstGeom>
          <a:noFill/>
          <a:ln cap="flat" cmpd="sng" w="12700">
            <a:solidFill>
              <a:srgbClr val="C9D4E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3"/>
          <p:cNvCxnSpPr/>
          <p:nvPr/>
        </p:nvCxnSpPr>
        <p:spPr>
          <a:xfrm>
            <a:off x="11612880" y="1874520"/>
            <a:ext cx="0" cy="3597250"/>
          </a:xfrm>
          <a:prstGeom prst="straightConnector1">
            <a:avLst/>
          </a:prstGeom>
          <a:noFill/>
          <a:ln cap="flat" cmpd="sng" w="9525">
            <a:solidFill>
              <a:srgbClr val="EAEF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3"/>
          <p:cNvSpPr/>
          <p:nvPr/>
        </p:nvSpPr>
        <p:spPr>
          <a:xfrm>
            <a:off x="3794760" y="158191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5226367" y="158191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6657975" y="158191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8089583" y="158191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9521190" y="158191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10698480" y="1581912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Month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548640" y="1856232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Project initiation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995928" y="1911096"/>
            <a:ext cx="440627" cy="274320"/>
          </a:xfrm>
          <a:prstGeom prst="roundRect">
            <a:avLst>
              <a:gd fmla="val 13333" name="adj"/>
            </a:avLst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3977640" y="1911096"/>
            <a:ext cx="4772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548640" y="2256739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Requirements &amp; process mapping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473130" y="2311603"/>
            <a:ext cx="1395031" cy="274320"/>
          </a:xfrm>
          <a:prstGeom prst="roundRect">
            <a:avLst>
              <a:gd fmla="val 13333" name="adj"/>
            </a:avLst>
          </a:prstGeom>
          <a:solidFill>
            <a:srgbClr val="1C3255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4454842" y="2311603"/>
            <a:ext cx="1431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548640" y="2657246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Solution design &amp; configuration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5427535" y="2712110"/>
            <a:ext cx="1872234" cy="274320"/>
          </a:xfrm>
          <a:prstGeom prst="roundRect">
            <a:avLst>
              <a:gd fmla="val 13333" name="adj"/>
            </a:avLst>
          </a:prstGeom>
          <a:solidFill>
            <a:srgbClr val="24457A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"/>
          <p:cNvSpPr/>
          <p:nvPr/>
        </p:nvSpPr>
        <p:spPr>
          <a:xfrm>
            <a:off x="5409247" y="2712110"/>
            <a:ext cx="19088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548640" y="3057754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Data migration &amp; integration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859143" y="3112618"/>
            <a:ext cx="1395031" cy="274320"/>
          </a:xfrm>
          <a:prstGeom prst="roundRect">
            <a:avLst>
              <a:gd fmla="val 13333" name="adj"/>
            </a:avLst>
          </a:prstGeom>
          <a:solidFill>
            <a:srgbClr val="31598C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6840855" y="3112618"/>
            <a:ext cx="1431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548640" y="3458261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Testing (SIT, UAT, payroll parallel)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7813548" y="3513125"/>
            <a:ext cx="1872234" cy="274320"/>
          </a:xfrm>
          <a:prstGeom prst="roundRect">
            <a:avLst>
              <a:gd fmla="val 13333" name="adj"/>
            </a:avLst>
          </a:prstGeom>
          <a:solidFill>
            <a:srgbClr val="35618F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"/>
          <p:cNvSpPr/>
          <p:nvPr/>
        </p:nvSpPr>
        <p:spPr>
          <a:xfrm>
            <a:off x="7795260" y="3513125"/>
            <a:ext cx="19088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548640" y="3858768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Training &amp; change management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8767953" y="3913632"/>
            <a:ext cx="1395031" cy="274320"/>
          </a:xfrm>
          <a:prstGeom prst="roundRect">
            <a:avLst>
              <a:gd fmla="val 13333" name="adj"/>
            </a:avLst>
          </a:prstGeom>
          <a:solidFill>
            <a:srgbClr val="3B6C9C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/>
          <p:nvPr/>
        </p:nvSpPr>
        <p:spPr>
          <a:xfrm>
            <a:off x="8749665" y="3913632"/>
            <a:ext cx="1431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548640" y="4259275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Go-live preparation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9722358" y="4314139"/>
            <a:ext cx="440627" cy="274320"/>
          </a:xfrm>
          <a:prstGeom prst="roundRect">
            <a:avLst>
              <a:gd fmla="val 13333" name="adj"/>
            </a:avLst>
          </a:prstGeom>
          <a:solidFill>
            <a:srgbClr val="3F73A4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9704070" y="4314139"/>
            <a:ext cx="4772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48640" y="4659782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10199560" y="4714646"/>
            <a:ext cx="440627" cy="274320"/>
          </a:xfrm>
          <a:prstGeom prst="roundRect">
            <a:avLst>
              <a:gd fmla="val 13333" name="adj"/>
            </a:avLst>
          </a:prstGeom>
          <a:solidFill>
            <a:srgbClr val="E7B84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/>
          <p:nvPr/>
        </p:nvSpPr>
        <p:spPr>
          <a:xfrm>
            <a:off x="10181272" y="4714646"/>
            <a:ext cx="47720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1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48640" y="5060290"/>
            <a:ext cx="33101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Hypercare &amp; stabilisation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10199560" y="5115154"/>
            <a:ext cx="1395031" cy="274320"/>
          </a:xfrm>
          <a:prstGeom prst="roundRect">
            <a:avLst>
              <a:gd fmla="val 13333" name="adj"/>
            </a:avLst>
          </a:prstGeom>
          <a:solidFill>
            <a:srgbClr val="4A7DAE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3"/>
          <p:cNvSpPr/>
          <p:nvPr/>
        </p:nvSpPr>
        <p:spPr>
          <a:xfrm>
            <a:off x="10181272" y="5115154"/>
            <a:ext cx="1431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i="0" lang="en-US" sz="8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mo</a:t>
            </a:r>
            <a:endParaRPr b="0" i="0" sz="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1" name="Google Shape;501;p13"/>
          <p:cNvCxnSpPr/>
          <p:nvPr/>
        </p:nvCxnSpPr>
        <p:spPr>
          <a:xfrm>
            <a:off x="3977640" y="5607101"/>
            <a:ext cx="7635240" cy="0"/>
          </a:xfrm>
          <a:prstGeom prst="straightConnector1">
            <a:avLst/>
          </a:prstGeom>
          <a:noFill/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13"/>
          <p:cNvSpPr/>
          <p:nvPr/>
        </p:nvSpPr>
        <p:spPr>
          <a:xfrm>
            <a:off x="4354258" y="5506517"/>
            <a:ext cx="201168" cy="201168"/>
          </a:xfrm>
          <a:prstGeom prst="diamond">
            <a:avLst/>
          </a:prstGeom>
          <a:solidFill>
            <a:srgbClr val="E7B84B"/>
          </a:solidFill>
          <a:ln cap="flat" cmpd="sng" w="12700">
            <a:solidFill>
              <a:srgbClr val="132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3769042" y="5735117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Charter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5785866" y="5506517"/>
            <a:ext cx="201168" cy="201168"/>
          </a:xfrm>
          <a:prstGeom prst="diamond">
            <a:avLst/>
          </a:prstGeom>
          <a:solidFill>
            <a:srgbClr val="E7B84B"/>
          </a:solidFill>
          <a:ln cap="flat" cmpd="sng" w="12700">
            <a:solidFill>
              <a:srgbClr val="132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"/>
          <p:cNvSpPr/>
          <p:nvPr/>
        </p:nvSpPr>
        <p:spPr>
          <a:xfrm>
            <a:off x="5200650" y="5735117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sign-off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7694676" y="5506517"/>
            <a:ext cx="201168" cy="201168"/>
          </a:xfrm>
          <a:prstGeom prst="diamond">
            <a:avLst/>
          </a:prstGeom>
          <a:solidFill>
            <a:srgbClr val="E7B84B"/>
          </a:solidFill>
          <a:ln cap="flat" cmpd="sng" w="12700">
            <a:solidFill>
              <a:srgbClr val="132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7109460" y="5735117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sign-off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9603486" y="5506517"/>
            <a:ext cx="201168" cy="201168"/>
          </a:xfrm>
          <a:prstGeom prst="diamond">
            <a:avLst/>
          </a:prstGeom>
          <a:solidFill>
            <a:srgbClr val="E7B84B"/>
          </a:solidFill>
          <a:ln cap="flat" cmpd="sng" w="12700">
            <a:solidFill>
              <a:srgbClr val="132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9018270" y="5735117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UAT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10557891" y="5506517"/>
            <a:ext cx="201168" cy="201168"/>
          </a:xfrm>
          <a:prstGeom prst="diamond">
            <a:avLst/>
          </a:prstGeom>
          <a:solidFill>
            <a:srgbClr val="E7B84B"/>
          </a:solidFill>
          <a:ln cap="flat" cmpd="sng" w="12700">
            <a:solidFill>
              <a:srgbClr val="1323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3"/>
          <p:cNvSpPr/>
          <p:nvPr/>
        </p:nvSpPr>
        <p:spPr>
          <a:xfrm>
            <a:off x="9972675" y="5735117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11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4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0" name="Google Shape;5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4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02 · THE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3" name="Google Shape;523;p14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{DBA39CBA-E58B-4EF4-AEEA-F4ABA332FF46}</a:tableStyleId>
              </a:tblPr>
              <a:tblGrid>
                <a:gridCol w="429767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category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€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licenses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180,000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 partner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project team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migration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integrations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 materials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End-user training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Travel &amp; workshops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15,000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Contingency (10%)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94,500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estimated budget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45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36E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D3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1,039,500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457A"/>
                    </a:solidFill>
                  </a:tcPr>
                </a:tc>
              </a:tr>
            </a:tbl>
          </a:graphicData>
        </a:graphic>
      </p:graphicFrame>
      <p:sp>
        <p:nvSpPr>
          <p:cNvPr id="524" name="Google Shape;524;p14"/>
          <p:cNvSpPr/>
          <p:nvPr/>
        </p:nvSpPr>
        <p:spPr>
          <a:xfrm>
            <a:off x="6858000" y="14630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Where the money goes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0" y="1783080"/>
            <a:ext cx="493776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4"/>
          <p:cNvSpPr/>
          <p:nvPr/>
        </p:nvSpPr>
        <p:spPr>
          <a:xfrm>
            <a:off x="6858000" y="5029200"/>
            <a:ext cx="2331720" cy="1051560"/>
          </a:xfrm>
          <a:prstGeom prst="roundRect">
            <a:avLst>
              <a:gd fmla="val 8696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6967728" y="5157216"/>
            <a:ext cx="2112264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€1.04M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6986016" y="5554980"/>
            <a:ext cx="2093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Total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6986016" y="5811012"/>
            <a:ext cx="209397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1,000+ employees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9281160" y="5029200"/>
            <a:ext cx="2331720" cy="1051560"/>
          </a:xfrm>
          <a:prstGeom prst="roundRect">
            <a:avLst>
              <a:gd fmla="val 8696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9390888" y="5157216"/>
            <a:ext cx="2112264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€1,040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9409176" y="5554980"/>
            <a:ext cx="2093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Cost / employee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9409176" y="5811012"/>
            <a:ext cx="2093976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indicative unit cost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548640" y="6126480"/>
            <a:ext cx="5943600" cy="310896"/>
          </a:xfrm>
          <a:prstGeom prst="roundRect">
            <a:avLst>
              <a:gd fmla="val 23529" name="adj"/>
            </a:avLst>
          </a:prstGeom>
          <a:solidFill>
            <a:srgbClr val="FBF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4"/>
          <p:cNvSpPr/>
          <p:nvPr/>
        </p:nvSpPr>
        <p:spPr>
          <a:xfrm>
            <a:off x="621792" y="6126480"/>
            <a:ext cx="57972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ⓘ  </a:t>
            </a:r>
            <a:r>
              <a:rPr b="0" i="1" lang="en-US" sz="950" u="none" cap="none" strike="noStrike">
                <a:solidFill>
                  <a:srgbClr val="7A5A12"/>
                </a:solidFill>
                <a:latin typeface="Calibri"/>
                <a:ea typeface="Calibri"/>
                <a:cs typeface="Calibri"/>
                <a:sym typeface="Calibri"/>
              </a:rPr>
              <a:t>Illustrative — hypothetical 1,000-employee implementation, not an actual company project.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12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5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·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Risks &amp; mitigation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7" name="Google Shape;547;p15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{DBA39CBA-E58B-4EF4-AEEA-F4ABA332FF46}</a:tableStyleId>
              </a:tblPr>
              <a:tblGrid>
                <a:gridCol w="3200400"/>
                <a:gridCol w="1234450"/>
                <a:gridCol w="1051550"/>
                <a:gridCol w="4142225"/>
                <a:gridCol w="1463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 forget to record hours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5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Training, reminders &amp; easy mobile capture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Change lead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Payroll errors after cutover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5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Parallel payroll runs before go-live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Payroll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 resistance to approvals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Early involvement &amp; manager workshops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Incorrect system configuration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5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Acceptance Testing &amp; config review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integration delays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Vendor checkpoints &amp; integration testing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data migration quality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58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cleansing &amp; reconciliation early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 creep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9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A10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 change control via steering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63500" marL="635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8" name="Google Shape;548;p15"/>
          <p:cNvSpPr/>
          <p:nvPr/>
        </p:nvSpPr>
        <p:spPr>
          <a:xfrm>
            <a:off x="548640" y="6144768"/>
            <a:ext cx="5852160" cy="310896"/>
          </a:xfrm>
          <a:prstGeom prst="roundRect">
            <a:avLst>
              <a:gd fmla="val 23529" name="adj"/>
            </a:avLst>
          </a:prstGeom>
          <a:solidFill>
            <a:srgbClr val="FBF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621792" y="6144768"/>
            <a:ext cx="57058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ⓘ  </a:t>
            </a:r>
            <a:r>
              <a:rPr b="0" i="1" lang="en-US" sz="950" u="none" cap="none" strike="noStrike">
                <a:solidFill>
                  <a:srgbClr val="7A5A12"/>
                </a:solidFill>
                <a:latin typeface="Calibri"/>
                <a:ea typeface="Calibri"/>
                <a:cs typeface="Calibri"/>
                <a:sym typeface="Calibri"/>
              </a:rPr>
              <a:t>Risks reviewed at every steering committee; ratings are High / Medium / Low.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13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6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·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6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Change management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 structured ADKAR journey from awareness to lasting adoption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548640" y="1938528"/>
            <a:ext cx="2103120" cy="2148840"/>
          </a:xfrm>
          <a:prstGeom prst="roundRect">
            <a:avLst>
              <a:gd fmla="val 43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6"/>
          <p:cNvSpPr/>
          <p:nvPr/>
        </p:nvSpPr>
        <p:spPr>
          <a:xfrm>
            <a:off x="1271016" y="2176272"/>
            <a:ext cx="658368" cy="658368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1271016" y="21762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640080" y="29626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Awareness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676656" y="3310128"/>
            <a:ext cx="184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Explain why change is happening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0904" y="244144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6"/>
          <p:cNvSpPr/>
          <p:nvPr/>
        </p:nvSpPr>
        <p:spPr>
          <a:xfrm>
            <a:off x="2798064" y="1938528"/>
            <a:ext cx="2103120" cy="2148840"/>
          </a:xfrm>
          <a:prstGeom prst="roundRect">
            <a:avLst>
              <a:gd fmla="val 43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3520440" y="2176272"/>
            <a:ext cx="658368" cy="658368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6"/>
          <p:cNvSpPr/>
          <p:nvPr/>
        </p:nvSpPr>
        <p:spPr>
          <a:xfrm>
            <a:off x="3520440" y="21762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2889504" y="29626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Desire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2926080" y="3310128"/>
            <a:ext cx="184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Build buy-in with leaders &amp; champions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328" y="244144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6"/>
          <p:cNvSpPr/>
          <p:nvPr/>
        </p:nvSpPr>
        <p:spPr>
          <a:xfrm>
            <a:off x="5047488" y="1938528"/>
            <a:ext cx="2103120" cy="2148840"/>
          </a:xfrm>
          <a:prstGeom prst="roundRect">
            <a:avLst>
              <a:gd fmla="val 43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5769864" y="2176272"/>
            <a:ext cx="658368" cy="658368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5769864" y="21762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5138928" y="29626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Knowledge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5175504" y="3310128"/>
            <a:ext cx="184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Train on the new system &amp; rules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9" name="Google Shape;57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9752" y="244144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6"/>
          <p:cNvSpPr/>
          <p:nvPr/>
        </p:nvSpPr>
        <p:spPr>
          <a:xfrm>
            <a:off x="7296912" y="1938528"/>
            <a:ext cx="2103120" cy="2148840"/>
          </a:xfrm>
          <a:prstGeom prst="roundRect">
            <a:avLst>
              <a:gd fmla="val 434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6"/>
          <p:cNvSpPr/>
          <p:nvPr/>
        </p:nvSpPr>
        <p:spPr>
          <a:xfrm>
            <a:off x="8019288" y="2176272"/>
            <a:ext cx="658368" cy="658368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8019288" y="21762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7388352" y="29626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7424928" y="3310128"/>
            <a:ext cx="184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Support hands-on use at go-live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5" name="Google Shape;5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9176" y="244144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6"/>
          <p:cNvSpPr/>
          <p:nvPr/>
        </p:nvSpPr>
        <p:spPr>
          <a:xfrm>
            <a:off x="9546336" y="1938528"/>
            <a:ext cx="2103120" cy="2148840"/>
          </a:xfrm>
          <a:prstGeom prst="roundRect">
            <a:avLst>
              <a:gd fmla="val 4348" name="adj"/>
            </a:avLst>
          </a:prstGeom>
          <a:solidFill>
            <a:srgbClr val="EEF7F1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10268712" y="2176272"/>
            <a:ext cx="658368" cy="658368"/>
          </a:xfrm>
          <a:prstGeom prst="ellipse">
            <a:avLst/>
          </a:prstGeom>
          <a:solidFill>
            <a:srgbClr val="2E9E6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6"/>
          <p:cNvSpPr/>
          <p:nvPr/>
        </p:nvSpPr>
        <p:spPr>
          <a:xfrm>
            <a:off x="10268712" y="2176272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9637776" y="2962656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Reinforcement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9674352" y="3310128"/>
            <a:ext cx="1847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Sustain with feedback &amp; metrics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548640" y="4315968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Change levers we'll pull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548640" y="4736592"/>
            <a:ext cx="2103120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6"/>
          <p:cNvSpPr/>
          <p:nvPr/>
        </p:nvSpPr>
        <p:spPr>
          <a:xfrm>
            <a:off x="1335024" y="4882896"/>
            <a:ext cx="530352" cy="530352"/>
          </a:xfrm>
          <a:prstGeom prst="ellipse">
            <a:avLst/>
          </a:prstGeom>
          <a:solidFill>
            <a:srgbClr val="FBF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4" name="Google Shape;59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7612" y="501548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6"/>
          <p:cNvSpPr/>
          <p:nvPr/>
        </p:nvSpPr>
        <p:spPr>
          <a:xfrm>
            <a:off x="658368" y="5449824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Executive sponsorship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2798064" y="4736592"/>
            <a:ext cx="2103120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"/>
          <p:cNvSpPr/>
          <p:nvPr/>
        </p:nvSpPr>
        <p:spPr>
          <a:xfrm>
            <a:off x="3584448" y="4882896"/>
            <a:ext cx="530352" cy="530352"/>
          </a:xfrm>
          <a:prstGeom prst="ellipse">
            <a:avLst/>
          </a:prstGeom>
          <a:solidFill>
            <a:srgbClr val="FBF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8" name="Google Shape;59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7036" y="501548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6"/>
          <p:cNvSpPr/>
          <p:nvPr/>
        </p:nvSpPr>
        <p:spPr>
          <a:xfrm>
            <a:off x="2907792" y="5449824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Change champions network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6"/>
          <p:cNvSpPr/>
          <p:nvPr/>
        </p:nvSpPr>
        <p:spPr>
          <a:xfrm>
            <a:off x="5047488" y="4736592"/>
            <a:ext cx="2103120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6"/>
          <p:cNvSpPr/>
          <p:nvPr/>
        </p:nvSpPr>
        <p:spPr>
          <a:xfrm>
            <a:off x="5833872" y="4882896"/>
            <a:ext cx="530352" cy="530352"/>
          </a:xfrm>
          <a:prstGeom prst="ellipse">
            <a:avLst/>
          </a:prstGeom>
          <a:solidFill>
            <a:srgbClr val="FBF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2" name="Google Shape;60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6460" y="501548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6"/>
          <p:cNvSpPr/>
          <p:nvPr/>
        </p:nvSpPr>
        <p:spPr>
          <a:xfrm>
            <a:off x="5157216" y="5449824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Early manager involvement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7296912" y="4736592"/>
            <a:ext cx="2103120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8083296" y="4882896"/>
            <a:ext cx="530352" cy="530352"/>
          </a:xfrm>
          <a:prstGeom prst="ellipse">
            <a:avLst/>
          </a:prstGeom>
          <a:solidFill>
            <a:srgbClr val="FBF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6" name="Google Shape;60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15884" y="501548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6"/>
          <p:cNvSpPr/>
          <p:nvPr/>
        </p:nvSpPr>
        <p:spPr>
          <a:xfrm>
            <a:off x="7406640" y="5449824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Two-way feedback loops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9546336" y="4736592"/>
            <a:ext cx="2103120" cy="1207008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10332720" y="4882896"/>
            <a:ext cx="530352" cy="530352"/>
          </a:xfrm>
          <a:prstGeom prst="ellipse">
            <a:avLst/>
          </a:prstGeom>
          <a:solidFill>
            <a:srgbClr val="FBF0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0" name="Google Shape;61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65308" y="5015484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6"/>
          <p:cNvSpPr/>
          <p:nvPr/>
        </p:nvSpPr>
        <p:spPr>
          <a:xfrm>
            <a:off x="9656064" y="5449824"/>
            <a:ext cx="1883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Active resistance management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14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7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0" name="Google Shape;6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7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·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Training strategy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3" name="Google Shape;623;p17"/>
          <p:cNvGraphicFramePr/>
          <p:nvPr/>
        </p:nvGraphicFramePr>
        <p:xfrm>
          <a:off x="548640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{DBA39CBA-E58B-4EF4-AEEA-F4ABA332FF46}</a:tableStyleId>
              </a:tblPr>
              <a:tblGrid>
                <a:gridCol w="1691650"/>
                <a:gridCol w="2514600"/>
                <a:gridCol w="1874525"/>
                <a:gridCol w="9601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Audience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Effort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 time, request leave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E-learning + quick guide + video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~30 min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Approvals, exceptions, reporting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Half-day workshop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Half day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HR / HRIS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Configuration, admin, reporting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Vendor-led deep training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2–3 days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Payroll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 &amp; reconciliation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Hands-on sessions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day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130"/>
                        <a:buFont typeface="Calibri"/>
                        <a:buNone/>
                      </a:pPr>
                      <a:r>
                        <a:rPr b="1" lang="en-US" sz="113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/ helpdesk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Troubleshooting &amp; FAQs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Train-the-trainer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130"/>
                        <a:buFont typeface="Calibri"/>
                        <a:buNone/>
                      </a:pPr>
                      <a:r>
                        <a:rPr lang="en-US" sz="113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day</a:t>
                      </a:r>
                      <a:endParaRPr sz="11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4" name="Google Shape;624;p17"/>
          <p:cNvSpPr/>
          <p:nvPr/>
        </p:nvSpPr>
        <p:spPr>
          <a:xfrm>
            <a:off x="7818120" y="14813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Delivery methods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7818120" y="1920240"/>
            <a:ext cx="3822192" cy="548640"/>
          </a:xfrm>
          <a:prstGeom prst="roundRect">
            <a:avLst>
              <a:gd fmla="val 1333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7"/>
          <p:cNvSpPr/>
          <p:nvPr/>
        </p:nvSpPr>
        <p:spPr>
          <a:xfrm>
            <a:off x="7936992" y="2011680"/>
            <a:ext cx="365760" cy="36576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7" name="Google Shape;6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8432" y="21031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7"/>
          <p:cNvSpPr/>
          <p:nvPr/>
        </p:nvSpPr>
        <p:spPr>
          <a:xfrm>
            <a:off x="8412480" y="19202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Manager workshops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7818120" y="2560320"/>
            <a:ext cx="3822192" cy="548640"/>
          </a:xfrm>
          <a:prstGeom prst="roundRect">
            <a:avLst>
              <a:gd fmla="val 1333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7936992" y="2651760"/>
            <a:ext cx="365760" cy="36576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1" name="Google Shape;6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28432" y="27432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7"/>
          <p:cNvSpPr/>
          <p:nvPr/>
        </p:nvSpPr>
        <p:spPr>
          <a:xfrm>
            <a:off x="8412480" y="25603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E-learning modules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7818120" y="3200400"/>
            <a:ext cx="3822192" cy="548640"/>
          </a:xfrm>
          <a:prstGeom prst="roundRect">
            <a:avLst>
              <a:gd fmla="val 1333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7"/>
          <p:cNvSpPr/>
          <p:nvPr/>
        </p:nvSpPr>
        <p:spPr>
          <a:xfrm>
            <a:off x="7936992" y="3291840"/>
            <a:ext cx="365760" cy="36576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5" name="Google Shape;6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8432" y="33832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7"/>
          <p:cNvSpPr/>
          <p:nvPr/>
        </p:nvSpPr>
        <p:spPr>
          <a:xfrm>
            <a:off x="8412480" y="32004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Video tutorials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7"/>
          <p:cNvSpPr/>
          <p:nvPr/>
        </p:nvSpPr>
        <p:spPr>
          <a:xfrm>
            <a:off x="7818120" y="3840480"/>
            <a:ext cx="3822192" cy="548640"/>
          </a:xfrm>
          <a:prstGeom prst="roundRect">
            <a:avLst>
              <a:gd fmla="val 1333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7"/>
          <p:cNvSpPr/>
          <p:nvPr/>
        </p:nvSpPr>
        <p:spPr>
          <a:xfrm>
            <a:off x="7936992" y="3931920"/>
            <a:ext cx="365760" cy="36576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9" name="Google Shape;6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8432" y="40233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17"/>
          <p:cNvSpPr/>
          <p:nvPr/>
        </p:nvSpPr>
        <p:spPr>
          <a:xfrm>
            <a:off x="8412480" y="38404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User &amp; manager guides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7"/>
          <p:cNvSpPr/>
          <p:nvPr/>
        </p:nvSpPr>
        <p:spPr>
          <a:xfrm>
            <a:off x="7818120" y="4480560"/>
            <a:ext cx="3822192" cy="548640"/>
          </a:xfrm>
          <a:prstGeom prst="roundRect">
            <a:avLst>
              <a:gd fmla="val 1333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7"/>
          <p:cNvSpPr/>
          <p:nvPr/>
        </p:nvSpPr>
        <p:spPr>
          <a:xfrm>
            <a:off x="7936992" y="4572000"/>
            <a:ext cx="365760" cy="36576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3" name="Google Shape;6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28432" y="46634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17"/>
          <p:cNvSpPr/>
          <p:nvPr/>
        </p:nvSpPr>
        <p:spPr>
          <a:xfrm>
            <a:off x="8412480" y="44805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FAQ &amp; knowledge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7818120" y="5120640"/>
            <a:ext cx="3822192" cy="548640"/>
          </a:xfrm>
          <a:prstGeom prst="roundRect">
            <a:avLst>
              <a:gd fmla="val 1333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7"/>
          <p:cNvSpPr/>
          <p:nvPr/>
        </p:nvSpPr>
        <p:spPr>
          <a:xfrm>
            <a:off x="7936992" y="5212080"/>
            <a:ext cx="365760" cy="36576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7" name="Google Shape;64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28432" y="5303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7"/>
          <p:cNvSpPr/>
          <p:nvPr/>
        </p:nvSpPr>
        <p:spPr>
          <a:xfrm>
            <a:off x="8412480" y="512064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Go-live floorwalkers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7"/>
          <p:cNvSpPr/>
          <p:nvPr/>
        </p:nvSpPr>
        <p:spPr>
          <a:xfrm>
            <a:off x="548640" y="5852160"/>
            <a:ext cx="7040880" cy="310896"/>
          </a:xfrm>
          <a:prstGeom prst="roundRect">
            <a:avLst>
              <a:gd fmla="val 23529" name="adj"/>
            </a:avLst>
          </a:prstGeom>
          <a:solidFill>
            <a:srgbClr val="FBF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7"/>
          <p:cNvSpPr/>
          <p:nvPr/>
        </p:nvSpPr>
        <p:spPr>
          <a:xfrm>
            <a:off x="621792" y="5852160"/>
            <a:ext cx="68945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ⓘ  </a:t>
            </a:r>
            <a:r>
              <a:rPr b="0" i="1" lang="en-US" sz="950" u="none" cap="none" strike="noStrike">
                <a:solidFill>
                  <a:srgbClr val="7A5A12"/>
                </a:solidFill>
                <a:latin typeface="Calibri"/>
                <a:ea typeface="Calibri"/>
                <a:cs typeface="Calibri"/>
                <a:sym typeface="Calibri"/>
              </a:rPr>
              <a:t>Train-the-trainer model builds internal capability; training runs ~2 months pre-go-live, overlapping build.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15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8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9" name="Google Shape;6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8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·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Communication plan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2" name="Google Shape;662;p18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{DBA39CBA-E58B-4EF4-AEEA-F4ABA332FF46}</a:tableStyleId>
              </a:tblPr>
              <a:tblGrid>
                <a:gridCol w="2103125"/>
                <a:gridCol w="2743200"/>
                <a:gridCol w="2011675"/>
                <a:gridCol w="423367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message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233B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ntranet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Monthly, increasing closer to go-live </a:t>
                      </a:r>
                      <a:endParaRPr sz="1200">
                        <a:solidFill>
                          <a:srgbClr val="1E2A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What's changing &amp; what to 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Workshops + briefings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launch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role in approvals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Leadership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 report (RAG)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Monthly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Progress, risks, decisions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233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323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team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meetings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3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Tasks, blockers, next steps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88900" marL="88900" anchor="ctr">
                    <a:lnL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663" name="Google Shape;663;p18"/>
          <p:cNvSpPr/>
          <p:nvPr/>
        </p:nvSpPr>
        <p:spPr>
          <a:xfrm>
            <a:off x="548640" y="41605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Communication builds through the journey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548640" y="4526280"/>
            <a:ext cx="2688336" cy="1298448"/>
          </a:xfrm>
          <a:prstGeom prst="roundRect">
            <a:avLst>
              <a:gd fmla="val 7042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8"/>
          <p:cNvSpPr/>
          <p:nvPr/>
        </p:nvSpPr>
        <p:spPr>
          <a:xfrm>
            <a:off x="749808" y="4846320"/>
            <a:ext cx="530352" cy="530352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6" name="Google Shape;6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2396" y="497890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18"/>
          <p:cNvSpPr/>
          <p:nvPr/>
        </p:nvSpPr>
        <p:spPr>
          <a:xfrm>
            <a:off x="1389888" y="4727448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Awareness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1389888" y="5129784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Why &amp; when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9" name="Google Shape;6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5264" y="50566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18"/>
          <p:cNvSpPr/>
          <p:nvPr/>
        </p:nvSpPr>
        <p:spPr>
          <a:xfrm>
            <a:off x="3401568" y="4526280"/>
            <a:ext cx="2688336" cy="1298448"/>
          </a:xfrm>
          <a:prstGeom prst="roundRect">
            <a:avLst>
              <a:gd fmla="val 704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8"/>
          <p:cNvSpPr/>
          <p:nvPr/>
        </p:nvSpPr>
        <p:spPr>
          <a:xfrm>
            <a:off x="3602736" y="4846320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2" name="Google Shape;6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35324" y="497890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18"/>
          <p:cNvSpPr/>
          <p:nvPr/>
        </p:nvSpPr>
        <p:spPr>
          <a:xfrm>
            <a:off x="4242816" y="4727448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4242816" y="5129784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Workshops &amp; demos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5" name="Google Shape;6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8192" y="50566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8"/>
          <p:cNvSpPr/>
          <p:nvPr/>
        </p:nvSpPr>
        <p:spPr>
          <a:xfrm>
            <a:off x="6254496" y="4526280"/>
            <a:ext cx="2688336" cy="1298448"/>
          </a:xfrm>
          <a:prstGeom prst="roundRect">
            <a:avLst>
              <a:gd fmla="val 704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"/>
          <p:cNvSpPr/>
          <p:nvPr/>
        </p:nvSpPr>
        <p:spPr>
          <a:xfrm>
            <a:off x="6455664" y="4846320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8" name="Google Shape;67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8252" y="497890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8"/>
          <p:cNvSpPr/>
          <p:nvPr/>
        </p:nvSpPr>
        <p:spPr>
          <a:xfrm>
            <a:off x="7095744" y="4727448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8"/>
          <p:cNvSpPr/>
          <p:nvPr/>
        </p:nvSpPr>
        <p:spPr>
          <a:xfrm>
            <a:off x="7095744" y="5129784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How-to &amp; support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1" name="Google Shape;68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61120" y="505663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18"/>
          <p:cNvSpPr/>
          <p:nvPr/>
        </p:nvSpPr>
        <p:spPr>
          <a:xfrm>
            <a:off x="9107424" y="4526280"/>
            <a:ext cx="2688336" cy="1298448"/>
          </a:xfrm>
          <a:prstGeom prst="roundRect">
            <a:avLst>
              <a:gd fmla="val 704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8"/>
          <p:cNvSpPr/>
          <p:nvPr/>
        </p:nvSpPr>
        <p:spPr>
          <a:xfrm>
            <a:off x="9308592" y="4846320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4" name="Google Shape;68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41180" y="497890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8"/>
          <p:cNvSpPr/>
          <p:nvPr/>
        </p:nvSpPr>
        <p:spPr>
          <a:xfrm>
            <a:off x="9948672" y="4727448"/>
            <a:ext cx="1728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Reinforcement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9948672" y="5129784"/>
            <a:ext cx="17282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Wins &amp; feedback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16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9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5" name="Google Shape;6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9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·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Go-live plan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Go-live readiness criteria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9"/>
          <p:cNvSpPr/>
          <p:nvPr/>
        </p:nvSpPr>
        <p:spPr>
          <a:xfrm>
            <a:off x="548640" y="1874520"/>
            <a:ext cx="5120640" cy="566928"/>
          </a:xfrm>
          <a:prstGeom prst="roundRect">
            <a:avLst>
              <a:gd fmla="val 1290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0" name="Google Shape;7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20299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9"/>
          <p:cNvSpPr/>
          <p:nvPr/>
        </p:nvSpPr>
        <p:spPr>
          <a:xfrm>
            <a:off x="1097280" y="1874520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User Acceptance Testing </a:t>
            </a: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 signed off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9"/>
          <p:cNvSpPr/>
          <p:nvPr/>
        </p:nvSpPr>
        <p:spPr>
          <a:xfrm>
            <a:off x="548640" y="2532888"/>
            <a:ext cx="5120640" cy="566928"/>
          </a:xfrm>
          <a:prstGeom prst="roundRect">
            <a:avLst>
              <a:gd fmla="val 1290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3" name="Google Shape;7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26883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19"/>
          <p:cNvSpPr/>
          <p:nvPr/>
        </p:nvSpPr>
        <p:spPr>
          <a:xfrm>
            <a:off x="1097280" y="2532888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Data migrated &amp; reconciled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548640" y="3191256"/>
            <a:ext cx="5120640" cy="566928"/>
          </a:xfrm>
          <a:prstGeom prst="roundRect">
            <a:avLst>
              <a:gd fmla="val 1290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6" name="Google Shape;7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33467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19"/>
          <p:cNvSpPr/>
          <p:nvPr/>
        </p:nvSpPr>
        <p:spPr>
          <a:xfrm>
            <a:off x="1097280" y="3191256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Training complete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548640" y="3849624"/>
            <a:ext cx="5120640" cy="566928"/>
          </a:xfrm>
          <a:prstGeom prst="roundRect">
            <a:avLst>
              <a:gd fmla="val 1290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9" name="Google Shape;7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40050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19"/>
          <p:cNvSpPr/>
          <p:nvPr/>
        </p:nvSpPr>
        <p:spPr>
          <a:xfrm>
            <a:off x="1097280" y="3849624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Support model ready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548640" y="4507992"/>
            <a:ext cx="5120640" cy="566928"/>
          </a:xfrm>
          <a:prstGeom prst="roundRect">
            <a:avLst>
              <a:gd fmla="val 12903" name="adj"/>
            </a:avLst>
          </a:prstGeom>
          <a:solidFill>
            <a:srgbClr val="F2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2" name="Google Shape;7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4663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9"/>
          <p:cNvSpPr/>
          <p:nvPr/>
        </p:nvSpPr>
        <p:spPr>
          <a:xfrm>
            <a:off x="1097280" y="4507992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Cutover &amp; rollback plan approved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9"/>
          <p:cNvSpPr/>
          <p:nvPr/>
        </p:nvSpPr>
        <p:spPr>
          <a:xfrm>
            <a:off x="548640" y="5230368"/>
            <a:ext cx="5120640" cy="914400"/>
          </a:xfrm>
          <a:prstGeom prst="roundRect">
            <a:avLst>
              <a:gd fmla="val 10000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9"/>
          <p:cNvSpPr/>
          <p:nvPr/>
        </p:nvSpPr>
        <p:spPr>
          <a:xfrm>
            <a:off x="749808" y="5431536"/>
            <a:ext cx="512064" cy="512064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6" name="Google Shape;7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824" y="55595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9"/>
          <p:cNvSpPr/>
          <p:nvPr/>
        </p:nvSpPr>
        <p:spPr>
          <a:xfrm>
            <a:off x="1371600" y="5303520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Go / No-Go decision gate</a:t>
            </a:r>
            <a:br>
              <a:rPr b="1" i="0" lang="en-US" sz="13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Steering committee sign-off against all readiness criteria before cutover.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9"/>
          <p:cNvSpPr/>
          <p:nvPr/>
        </p:nvSpPr>
        <p:spPr>
          <a:xfrm>
            <a:off x="598932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Cutover sequence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6035040" y="1874520"/>
            <a:ext cx="457200" cy="45720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0" name="Google Shape;72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3912" y="1993392"/>
            <a:ext cx="219456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1" name="Google Shape;721;p19"/>
          <p:cNvCxnSpPr/>
          <p:nvPr/>
        </p:nvCxnSpPr>
        <p:spPr>
          <a:xfrm>
            <a:off x="6263640" y="2331720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p19"/>
          <p:cNvSpPr/>
          <p:nvPr/>
        </p:nvSpPr>
        <p:spPr>
          <a:xfrm>
            <a:off x="6629400" y="18745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Freeze   </a:t>
            </a: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Stop changes to legacy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6035040" y="2587752"/>
            <a:ext cx="457200" cy="45720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4" name="Google Shape;72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3912" y="2706624"/>
            <a:ext cx="219456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5" name="Google Shape;725;p19"/>
          <p:cNvCxnSpPr/>
          <p:nvPr/>
        </p:nvCxnSpPr>
        <p:spPr>
          <a:xfrm>
            <a:off x="6263640" y="3044952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6" name="Google Shape;726;p19"/>
          <p:cNvSpPr/>
          <p:nvPr/>
        </p:nvSpPr>
        <p:spPr>
          <a:xfrm>
            <a:off x="6629400" y="2587752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Migrate   </a:t>
            </a: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Load &amp; verify employee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6035040" y="3300984"/>
            <a:ext cx="457200" cy="45720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8" name="Google Shape;72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53912" y="3419856"/>
            <a:ext cx="219456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19"/>
          <p:cNvCxnSpPr/>
          <p:nvPr/>
        </p:nvCxnSpPr>
        <p:spPr>
          <a:xfrm>
            <a:off x="6263640" y="3758184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0" name="Google Shape;730;p19"/>
          <p:cNvSpPr/>
          <p:nvPr/>
        </p:nvSpPr>
        <p:spPr>
          <a:xfrm>
            <a:off x="6629400" y="330098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Validate   </a:t>
            </a: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Reconcile balances &amp;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6035040" y="4014216"/>
            <a:ext cx="457200" cy="45720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2" name="Google Shape;73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53912" y="4133088"/>
            <a:ext cx="219456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3" name="Google Shape;733;p19"/>
          <p:cNvCxnSpPr/>
          <p:nvPr/>
        </p:nvCxnSpPr>
        <p:spPr>
          <a:xfrm>
            <a:off x="6263640" y="4471416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4" name="Google Shape;734;p19"/>
          <p:cNvSpPr/>
          <p:nvPr/>
        </p:nvSpPr>
        <p:spPr>
          <a:xfrm>
            <a:off x="6629400" y="4014216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Switch   </a:t>
            </a: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Activate the new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9"/>
          <p:cNvSpPr/>
          <p:nvPr/>
        </p:nvSpPr>
        <p:spPr>
          <a:xfrm>
            <a:off x="6035040" y="4727448"/>
            <a:ext cx="457200" cy="457200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6" name="Google Shape;736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53912" y="4846320"/>
            <a:ext cx="219456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7" name="Google Shape;737;p19"/>
          <p:cNvCxnSpPr/>
          <p:nvPr/>
        </p:nvCxnSpPr>
        <p:spPr>
          <a:xfrm>
            <a:off x="6263640" y="5184648"/>
            <a:ext cx="0" cy="256032"/>
          </a:xfrm>
          <a:prstGeom prst="straightConnector1">
            <a:avLst/>
          </a:prstGeom>
          <a:noFill/>
          <a:ln cap="flat" cmpd="sng" w="1905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8" name="Google Shape;738;p19"/>
          <p:cNvSpPr/>
          <p:nvPr/>
        </p:nvSpPr>
        <p:spPr>
          <a:xfrm>
            <a:off x="6629400" y="472744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Smoke test   </a:t>
            </a: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Confirm key journeys work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6035040" y="5440680"/>
            <a:ext cx="457200" cy="457200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0" name="Google Shape;74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53912" y="5559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9"/>
          <p:cNvSpPr/>
          <p:nvPr/>
        </p:nvSpPr>
        <p:spPr>
          <a:xfrm>
            <a:off x="6629400" y="54406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Live + monitor   </a:t>
            </a: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Command centre stands 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17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0" name="Google Shape;7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0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03 ·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Hypercare &amp; stabilisation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Intensive support after go-live, tapering to </a:t>
            </a:r>
            <a:r>
              <a:rPr i="1" lang="en-US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“Steady state”</a:t>
            </a:r>
            <a:r>
              <a:rPr b="0" i="1" lang="en-US" sz="14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 over ~8 weeks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548640" y="2011680"/>
            <a:ext cx="2816352" cy="1463040"/>
          </a:xfrm>
          <a:prstGeom prst="roundRect">
            <a:avLst>
              <a:gd fmla="val 6250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0"/>
          <p:cNvSpPr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Weeks 1–2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731520" y="2615184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Command centre · daily standups · rapid fixes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7" name="Google Shape;7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26517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0"/>
          <p:cNvSpPr/>
          <p:nvPr/>
        </p:nvSpPr>
        <p:spPr>
          <a:xfrm>
            <a:off x="3520440" y="2011680"/>
            <a:ext cx="2587752" cy="1463040"/>
          </a:xfrm>
          <a:prstGeom prst="roundRect">
            <a:avLst>
              <a:gd fmla="val 6250" name="adj"/>
            </a:avLst>
          </a:prstGeom>
          <a:solidFill>
            <a:srgbClr val="24457A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0"/>
          <p:cNvSpPr/>
          <p:nvPr/>
        </p:nvSpPr>
        <p:spPr>
          <a:xfrm>
            <a:off x="3703320" y="21945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Weeks 3–4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3703320" y="2615184"/>
            <a:ext cx="23134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First payroll run validated · issues triaged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1" name="Google Shape;7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760" y="26517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0"/>
          <p:cNvSpPr/>
          <p:nvPr/>
        </p:nvSpPr>
        <p:spPr>
          <a:xfrm>
            <a:off x="6263640" y="2011680"/>
            <a:ext cx="2359152" cy="1463040"/>
          </a:xfrm>
          <a:prstGeom prst="roundRect">
            <a:avLst>
              <a:gd fmla="val 6250" name="adj"/>
            </a:avLst>
          </a:prstGeom>
          <a:solidFill>
            <a:srgbClr val="3B6C9C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0"/>
          <p:cNvSpPr/>
          <p:nvPr/>
        </p:nvSpPr>
        <p:spPr>
          <a:xfrm>
            <a:off x="6446520" y="2194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Weeks 5–8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6446520" y="2615184"/>
            <a:ext cx="2084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Optimisation · taper support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5" name="Google Shape;7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0" y="265176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0"/>
          <p:cNvSpPr/>
          <p:nvPr/>
        </p:nvSpPr>
        <p:spPr>
          <a:xfrm>
            <a:off x="8778240" y="2011680"/>
            <a:ext cx="2267712" cy="1463040"/>
          </a:xfrm>
          <a:prstGeom prst="roundRect">
            <a:avLst>
              <a:gd fmla="val 6250" name="adj"/>
            </a:avLst>
          </a:prstGeom>
          <a:solidFill>
            <a:srgbClr val="2E9E6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0"/>
          <p:cNvSpPr/>
          <p:nvPr/>
        </p:nvSpPr>
        <p:spPr>
          <a:xfrm>
            <a:off x="8961120" y="2194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Steady state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8961120" y="2615184"/>
            <a:ext cx="19933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Handover to HR support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548640" y="3749040"/>
            <a:ext cx="5486400" cy="2331720"/>
          </a:xfrm>
          <a:prstGeom prst="roundRect">
            <a:avLst>
              <a:gd fmla="val 3922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0"/>
          <p:cNvSpPr/>
          <p:nvPr/>
        </p:nvSpPr>
        <p:spPr>
          <a:xfrm>
            <a:off x="777240" y="391363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Support structure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822960" y="4315968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Dedicated hypercare command centre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Issue triage with P1–P4 SLAs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Daily stand-ups &amp; status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8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First full payroll cycle closely validated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6355080" y="3749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Exit criteria ready for </a:t>
            </a:r>
            <a:r>
              <a:rPr b="1" lang="en-US" sz="1350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“Steady state”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6355080" y="4114800"/>
            <a:ext cx="2688336" cy="877824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0"/>
          <p:cNvSpPr/>
          <p:nvPr/>
        </p:nvSpPr>
        <p:spPr>
          <a:xfrm>
            <a:off x="6519672" y="4334256"/>
            <a:ext cx="438912" cy="438912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5" name="Google Shape;7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44439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0"/>
          <p:cNvSpPr/>
          <p:nvPr/>
        </p:nvSpPr>
        <p:spPr>
          <a:xfrm>
            <a:off x="7068312" y="4114800"/>
            <a:ext cx="1865376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First full payroll run clean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9217152" y="4114800"/>
            <a:ext cx="2688336" cy="877824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20"/>
          <p:cNvSpPr/>
          <p:nvPr/>
        </p:nvSpPr>
        <p:spPr>
          <a:xfrm>
            <a:off x="9381744" y="4334256"/>
            <a:ext cx="438912" cy="438912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9" name="Google Shape;7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91472" y="44439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0"/>
          <p:cNvSpPr/>
          <p:nvPr/>
        </p:nvSpPr>
        <p:spPr>
          <a:xfrm>
            <a:off x="9930384" y="4114800"/>
            <a:ext cx="1865376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Issue backlog below threshold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6355080" y="5102352"/>
            <a:ext cx="2688336" cy="877824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0"/>
          <p:cNvSpPr/>
          <p:nvPr/>
        </p:nvSpPr>
        <p:spPr>
          <a:xfrm>
            <a:off x="6519672" y="5321808"/>
            <a:ext cx="438912" cy="438912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3" name="Google Shape;7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54315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20"/>
          <p:cNvSpPr/>
          <p:nvPr/>
        </p:nvSpPr>
        <p:spPr>
          <a:xfrm>
            <a:off x="7068312" y="5102352"/>
            <a:ext cx="1865376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Adoption target met (95%)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9217152" y="5102352"/>
            <a:ext cx="2688336" cy="877824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2700">
            <a:solidFill>
              <a:srgbClr val="DC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0"/>
          <p:cNvSpPr/>
          <p:nvPr/>
        </p:nvSpPr>
        <p:spPr>
          <a:xfrm>
            <a:off x="9381744" y="5321808"/>
            <a:ext cx="438912" cy="438912"/>
          </a:xfrm>
          <a:prstGeom prst="ellipse">
            <a:avLst/>
          </a:prstGeom>
          <a:solidFill>
            <a:srgbClr val="D7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7" name="Google Shape;78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91472" y="54315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20"/>
          <p:cNvSpPr/>
          <p:nvPr/>
        </p:nvSpPr>
        <p:spPr>
          <a:xfrm>
            <a:off x="9930384" y="5102352"/>
            <a:ext cx="1865376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Knowledge transfer to HR complete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18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1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7" name="Google Shape;7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1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04 · VALUE &amp;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1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Key performance indicators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1"/>
          <p:cNvSpPr/>
          <p:nvPr/>
        </p:nvSpPr>
        <p:spPr>
          <a:xfrm>
            <a:off x="548640" y="1481328"/>
            <a:ext cx="3602736" cy="4480560"/>
          </a:xfrm>
          <a:prstGeom prst="roundRect">
            <a:avLst>
              <a:gd fmla="val 25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1"/>
          <p:cNvSpPr/>
          <p:nvPr/>
        </p:nvSpPr>
        <p:spPr>
          <a:xfrm>
            <a:off x="786384" y="1700784"/>
            <a:ext cx="548640" cy="548640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2" name="Google Shape;8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544" y="18379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1"/>
          <p:cNvSpPr/>
          <p:nvPr/>
        </p:nvSpPr>
        <p:spPr>
          <a:xfrm>
            <a:off x="1463040" y="1700784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Adoption &amp; experience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1"/>
          <p:cNvSpPr/>
          <p:nvPr/>
        </p:nvSpPr>
        <p:spPr>
          <a:xfrm>
            <a:off x="768096" y="2468880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1"/>
          <p:cNvSpPr/>
          <p:nvPr/>
        </p:nvSpPr>
        <p:spPr>
          <a:xfrm>
            <a:off x="932688" y="2587752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1"/>
          <p:cNvSpPr/>
          <p:nvPr/>
        </p:nvSpPr>
        <p:spPr>
          <a:xfrm>
            <a:off x="950976" y="3090672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employee adoption (month 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1"/>
          <p:cNvSpPr/>
          <p:nvPr/>
        </p:nvSpPr>
        <p:spPr>
          <a:xfrm>
            <a:off x="768096" y="3602736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1"/>
          <p:cNvSpPr/>
          <p:nvPr/>
        </p:nvSpPr>
        <p:spPr>
          <a:xfrm>
            <a:off x="932688" y="3721608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&gt;4/5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1"/>
          <p:cNvSpPr/>
          <p:nvPr/>
        </p:nvSpPr>
        <p:spPr>
          <a:xfrm>
            <a:off x="950976" y="4224528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employee satisfaction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1"/>
          <p:cNvSpPr/>
          <p:nvPr/>
        </p:nvSpPr>
        <p:spPr>
          <a:xfrm>
            <a:off x="768096" y="4736592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21"/>
          <p:cNvSpPr/>
          <p:nvPr/>
        </p:nvSpPr>
        <p:spPr>
          <a:xfrm>
            <a:off x="932688" y="4855464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1"/>
          <p:cNvSpPr/>
          <p:nvPr/>
        </p:nvSpPr>
        <p:spPr>
          <a:xfrm>
            <a:off x="950976" y="5358384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approvals on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1"/>
          <p:cNvSpPr/>
          <p:nvPr/>
        </p:nvSpPr>
        <p:spPr>
          <a:xfrm>
            <a:off x="4325112" y="1481328"/>
            <a:ext cx="3602736" cy="4480560"/>
          </a:xfrm>
          <a:prstGeom prst="roundRect">
            <a:avLst>
              <a:gd fmla="val 25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4562856" y="1700784"/>
            <a:ext cx="548640" cy="548640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5" name="Google Shape;8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016" y="18379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1"/>
          <p:cNvSpPr/>
          <p:nvPr/>
        </p:nvSpPr>
        <p:spPr>
          <a:xfrm>
            <a:off x="5239512" y="1700784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Process efficiency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1"/>
          <p:cNvSpPr/>
          <p:nvPr/>
        </p:nvSpPr>
        <p:spPr>
          <a:xfrm>
            <a:off x="4544568" y="2468880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1"/>
          <p:cNvSpPr/>
          <p:nvPr/>
        </p:nvSpPr>
        <p:spPr>
          <a:xfrm>
            <a:off x="4709160" y="2587752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-60%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1"/>
          <p:cNvSpPr/>
          <p:nvPr/>
        </p:nvSpPr>
        <p:spPr>
          <a:xfrm>
            <a:off x="4727448" y="3090672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payroll corrections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1"/>
          <p:cNvSpPr/>
          <p:nvPr/>
        </p:nvSpPr>
        <p:spPr>
          <a:xfrm>
            <a:off x="4544568" y="3602736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1"/>
          <p:cNvSpPr/>
          <p:nvPr/>
        </p:nvSpPr>
        <p:spPr>
          <a:xfrm>
            <a:off x="4709160" y="3721608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1"/>
          <p:cNvSpPr/>
          <p:nvPr/>
        </p:nvSpPr>
        <p:spPr>
          <a:xfrm>
            <a:off x="4727448" y="4224528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critical issues after 1 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1"/>
          <p:cNvSpPr/>
          <p:nvPr/>
        </p:nvSpPr>
        <p:spPr>
          <a:xfrm>
            <a:off x="4544568" y="4736592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1"/>
          <p:cNvSpPr/>
          <p:nvPr/>
        </p:nvSpPr>
        <p:spPr>
          <a:xfrm>
            <a:off x="4709160" y="4855464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1"/>
          <p:cNvSpPr/>
          <p:nvPr/>
        </p:nvSpPr>
        <p:spPr>
          <a:xfrm>
            <a:off x="4727448" y="5358384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approval cycle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1"/>
          <p:cNvSpPr/>
          <p:nvPr/>
        </p:nvSpPr>
        <p:spPr>
          <a:xfrm>
            <a:off x="8101584" y="1481328"/>
            <a:ext cx="3602736" cy="4480560"/>
          </a:xfrm>
          <a:prstGeom prst="roundRect">
            <a:avLst>
              <a:gd fmla="val 25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1"/>
          <p:cNvSpPr/>
          <p:nvPr/>
        </p:nvSpPr>
        <p:spPr>
          <a:xfrm>
            <a:off x="8339328" y="1700784"/>
            <a:ext cx="548640" cy="548640"/>
          </a:xfrm>
          <a:prstGeom prst="ellipse">
            <a:avLst/>
          </a:prstGeom>
          <a:solidFill>
            <a:srgbClr val="B07C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8" name="Google Shape;82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6488" y="18379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21"/>
          <p:cNvSpPr/>
          <p:nvPr/>
        </p:nvSpPr>
        <p:spPr>
          <a:xfrm>
            <a:off x="9015984" y="1700784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Financial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1"/>
          <p:cNvSpPr/>
          <p:nvPr/>
        </p:nvSpPr>
        <p:spPr>
          <a:xfrm>
            <a:off x="8321040" y="2468880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1"/>
          <p:cNvSpPr/>
          <p:nvPr/>
        </p:nvSpPr>
        <p:spPr>
          <a:xfrm>
            <a:off x="8485632" y="2587752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±0%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8503920" y="3090672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budget vs actual variance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1"/>
          <p:cNvSpPr/>
          <p:nvPr/>
        </p:nvSpPr>
        <p:spPr>
          <a:xfrm>
            <a:off x="8321040" y="3602736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1"/>
          <p:cNvSpPr/>
          <p:nvPr/>
        </p:nvSpPr>
        <p:spPr>
          <a:xfrm>
            <a:off x="8485632" y="3721608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€1,040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8503920" y="4224528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cost per employee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8321040" y="4736592"/>
            <a:ext cx="3163824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1"/>
          <p:cNvSpPr/>
          <p:nvPr/>
        </p:nvSpPr>
        <p:spPr>
          <a:xfrm>
            <a:off x="8485632" y="4855464"/>
            <a:ext cx="2871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FAC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1"/>
          <p:cNvSpPr/>
          <p:nvPr/>
        </p:nvSpPr>
        <p:spPr>
          <a:xfrm>
            <a:off x="8503920" y="5358384"/>
            <a:ext cx="2825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forecast at completion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548640" y="6144768"/>
            <a:ext cx="7498080" cy="310896"/>
          </a:xfrm>
          <a:prstGeom prst="roundRect">
            <a:avLst>
              <a:gd fmla="val 23529" name="adj"/>
            </a:avLst>
          </a:prstGeom>
          <a:solidFill>
            <a:srgbClr val="FBF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1"/>
          <p:cNvSpPr/>
          <p:nvPr/>
        </p:nvSpPr>
        <p:spPr>
          <a:xfrm>
            <a:off x="621792" y="6144768"/>
            <a:ext cx="73517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ⓘ  </a:t>
            </a:r>
            <a:r>
              <a:rPr b="0" i="1" lang="en-US" sz="950" u="none" cap="none" strike="noStrike">
                <a:solidFill>
                  <a:srgbClr val="7A5A12"/>
                </a:solidFill>
                <a:latin typeface="Calibri"/>
                <a:ea typeface="Calibri"/>
                <a:cs typeface="Calibri"/>
                <a:sym typeface="Calibri"/>
              </a:rPr>
              <a:t>KPIs reported monthly to the steering committee with an overall RAG status.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19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2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9" name="Google Shape;8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2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04 · VALUE &amp;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2"/>
          <p:cNvSpPr/>
          <p:nvPr/>
        </p:nvSpPr>
        <p:spPr>
          <a:xfrm>
            <a:off x="548640" y="1481328"/>
            <a:ext cx="3383280" cy="4480560"/>
          </a:xfrm>
          <a:prstGeom prst="roundRect">
            <a:avLst>
              <a:gd fmla="val 2703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777240" y="1691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How we capture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777240" y="2240280"/>
            <a:ext cx="384048" cy="384048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2"/>
          <p:cNvSpPr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2"/>
          <p:cNvSpPr/>
          <p:nvPr/>
        </p:nvSpPr>
        <p:spPr>
          <a:xfrm>
            <a:off x="1298448" y="219456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Continuously</a:t>
            </a:r>
            <a:b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Log issues &amp; wins throughout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2"/>
          <p:cNvSpPr/>
          <p:nvPr/>
        </p:nvSpPr>
        <p:spPr>
          <a:xfrm>
            <a:off x="777240" y="3172968"/>
            <a:ext cx="384048" cy="384048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2"/>
          <p:cNvSpPr/>
          <p:nvPr/>
        </p:nvSpPr>
        <p:spPr>
          <a:xfrm>
            <a:off x="777240" y="3172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2"/>
          <p:cNvSpPr/>
          <p:nvPr/>
        </p:nvSpPr>
        <p:spPr>
          <a:xfrm>
            <a:off x="1298448" y="3127248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 phase</a:t>
            </a:r>
            <a:b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Short retrospectives at each gate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2"/>
          <p:cNvSpPr/>
          <p:nvPr/>
        </p:nvSpPr>
        <p:spPr>
          <a:xfrm>
            <a:off x="777240" y="4105656"/>
            <a:ext cx="384048" cy="384048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2"/>
          <p:cNvSpPr/>
          <p:nvPr/>
        </p:nvSpPr>
        <p:spPr>
          <a:xfrm>
            <a:off x="777240" y="41056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2"/>
          <p:cNvSpPr/>
          <p:nvPr/>
        </p:nvSpPr>
        <p:spPr>
          <a:xfrm>
            <a:off x="1298448" y="4059936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 close</a:t>
            </a:r>
            <a:b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Final lessons-learned workshop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2"/>
          <p:cNvSpPr/>
          <p:nvPr/>
        </p:nvSpPr>
        <p:spPr>
          <a:xfrm>
            <a:off x="777240" y="5038344"/>
            <a:ext cx="384048" cy="384048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2"/>
          <p:cNvSpPr/>
          <p:nvPr/>
        </p:nvSpPr>
        <p:spPr>
          <a:xfrm>
            <a:off x="777240" y="5038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2"/>
          <p:cNvSpPr/>
          <p:nvPr/>
        </p:nvSpPr>
        <p:spPr>
          <a:xfrm>
            <a:off x="1298448" y="4992624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b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Feed into the Lessons Learned Report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2"/>
          <p:cNvSpPr/>
          <p:nvPr/>
        </p:nvSpPr>
        <p:spPr>
          <a:xfrm>
            <a:off x="4160520" y="14813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What projects like this teach 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2"/>
          <p:cNvSpPr/>
          <p:nvPr/>
        </p:nvSpPr>
        <p:spPr>
          <a:xfrm>
            <a:off x="4160520" y="1938528"/>
            <a:ext cx="3602736" cy="1901952"/>
          </a:xfrm>
          <a:prstGeom prst="roundRect">
            <a:avLst>
              <a:gd fmla="val 480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2"/>
          <p:cNvSpPr/>
          <p:nvPr/>
        </p:nvSpPr>
        <p:spPr>
          <a:xfrm>
            <a:off x="4398264" y="2176272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9" name="Google Shape;8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0852" y="2308860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22"/>
          <p:cNvSpPr/>
          <p:nvPr/>
        </p:nvSpPr>
        <p:spPr>
          <a:xfrm>
            <a:off x="5074920" y="2176272"/>
            <a:ext cx="2596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2"/>
          <p:cNvSpPr/>
          <p:nvPr/>
        </p:nvSpPr>
        <p:spPr>
          <a:xfrm>
            <a:off x="4416552" y="2871216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Engage managers early</a:t>
            </a:r>
            <a:r>
              <a:rPr lang="en-US" sz="1200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 resistance is the biggest adoption risk.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2"/>
          <p:cNvSpPr/>
          <p:nvPr/>
        </p:nvSpPr>
        <p:spPr>
          <a:xfrm>
            <a:off x="7936992" y="1938528"/>
            <a:ext cx="3602736" cy="1901952"/>
          </a:xfrm>
          <a:prstGeom prst="roundRect">
            <a:avLst>
              <a:gd fmla="val 480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2"/>
          <p:cNvSpPr/>
          <p:nvPr/>
        </p:nvSpPr>
        <p:spPr>
          <a:xfrm>
            <a:off x="8174736" y="2176272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4" name="Google Shape;87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7324" y="2308860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22"/>
          <p:cNvSpPr/>
          <p:nvPr/>
        </p:nvSpPr>
        <p:spPr>
          <a:xfrm>
            <a:off x="8851392" y="2176272"/>
            <a:ext cx="2596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2"/>
          <p:cNvSpPr/>
          <p:nvPr/>
        </p:nvSpPr>
        <p:spPr>
          <a:xfrm>
            <a:off x="8193024" y="2871216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Parallel payroll runs are essential before go-live.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2"/>
          <p:cNvSpPr/>
          <p:nvPr/>
        </p:nvSpPr>
        <p:spPr>
          <a:xfrm>
            <a:off x="4160520" y="3986784"/>
            <a:ext cx="3602736" cy="1901952"/>
          </a:xfrm>
          <a:prstGeom prst="roundRect">
            <a:avLst>
              <a:gd fmla="val 480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2"/>
          <p:cNvSpPr/>
          <p:nvPr/>
        </p:nvSpPr>
        <p:spPr>
          <a:xfrm>
            <a:off x="4398264" y="4224528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9" name="Google Shape;87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30852" y="435711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22"/>
          <p:cNvSpPr/>
          <p:nvPr/>
        </p:nvSpPr>
        <p:spPr>
          <a:xfrm>
            <a:off x="5074920" y="4224528"/>
            <a:ext cx="2596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2"/>
          <p:cNvSpPr/>
          <p:nvPr/>
        </p:nvSpPr>
        <p:spPr>
          <a:xfrm>
            <a:off x="4416552" y="4919472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Define working-time rules precisely to avoid config re-work.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2"/>
          <p:cNvSpPr/>
          <p:nvPr/>
        </p:nvSpPr>
        <p:spPr>
          <a:xfrm>
            <a:off x="7936992" y="3986784"/>
            <a:ext cx="3602736" cy="1901952"/>
          </a:xfrm>
          <a:prstGeom prst="roundRect">
            <a:avLst>
              <a:gd fmla="val 480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2"/>
          <p:cNvSpPr/>
          <p:nvPr/>
        </p:nvSpPr>
        <p:spPr>
          <a:xfrm>
            <a:off x="8174736" y="4224528"/>
            <a:ext cx="530352" cy="530352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4" name="Google Shape;88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7324" y="435711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22"/>
          <p:cNvSpPr/>
          <p:nvPr/>
        </p:nvSpPr>
        <p:spPr>
          <a:xfrm>
            <a:off x="8851392" y="4224528"/>
            <a:ext cx="25968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22"/>
          <p:cNvSpPr/>
          <p:nvPr/>
        </p:nvSpPr>
        <p:spPr>
          <a:xfrm>
            <a:off x="8193024" y="4919472"/>
            <a:ext cx="30998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Invest in data cleansing early; migration quality drives trust.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2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20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3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5" name="Google Shape;8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3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04 · VALUE &amp;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3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AI opportunities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Where AI can add value across the working-hour lifecycle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3"/>
          <p:cNvSpPr/>
          <p:nvPr/>
        </p:nvSpPr>
        <p:spPr>
          <a:xfrm>
            <a:off x="548640" y="1920240"/>
            <a:ext cx="5440680" cy="1847088"/>
          </a:xfrm>
          <a:prstGeom prst="roundRect">
            <a:avLst>
              <a:gd fmla="val 4950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3"/>
          <p:cNvSpPr/>
          <p:nvPr/>
        </p:nvSpPr>
        <p:spPr>
          <a:xfrm>
            <a:off x="804672" y="2194560"/>
            <a:ext cx="566928" cy="566928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1" name="Google Shape;9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6404" y="23362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23"/>
          <p:cNvSpPr/>
          <p:nvPr/>
        </p:nvSpPr>
        <p:spPr>
          <a:xfrm>
            <a:off x="1508760" y="2194560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Employee experience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3"/>
          <p:cNvSpPr/>
          <p:nvPr/>
        </p:nvSpPr>
        <p:spPr>
          <a:xfrm>
            <a:off x="841248" y="2889504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AI assistant answering time-tracking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7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AI-generated FAQs for employees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3"/>
          <p:cNvSpPr/>
          <p:nvPr/>
        </p:nvSpPr>
        <p:spPr>
          <a:xfrm>
            <a:off x="6199632" y="1920240"/>
            <a:ext cx="5440680" cy="1847088"/>
          </a:xfrm>
          <a:prstGeom prst="roundRect">
            <a:avLst>
              <a:gd fmla="val 4950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3"/>
          <p:cNvSpPr/>
          <p:nvPr/>
        </p:nvSpPr>
        <p:spPr>
          <a:xfrm>
            <a:off x="6455664" y="2194560"/>
            <a:ext cx="566928" cy="566928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6" name="Google Shape;90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7396" y="23362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23"/>
          <p:cNvSpPr/>
          <p:nvPr/>
        </p:nvSpPr>
        <p:spPr>
          <a:xfrm>
            <a:off x="7159752" y="2194560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HR efficiency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3"/>
          <p:cNvSpPr/>
          <p:nvPr/>
        </p:nvSpPr>
        <p:spPr>
          <a:xfrm>
            <a:off x="6492240" y="2889504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AI-powered report summaries for HR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7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AI summaries of support 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3"/>
          <p:cNvSpPr/>
          <p:nvPr/>
        </p:nvSpPr>
        <p:spPr>
          <a:xfrm>
            <a:off x="548640" y="3931920"/>
            <a:ext cx="5440680" cy="1847088"/>
          </a:xfrm>
          <a:prstGeom prst="roundRect">
            <a:avLst>
              <a:gd fmla="val 4950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3"/>
          <p:cNvSpPr/>
          <p:nvPr/>
        </p:nvSpPr>
        <p:spPr>
          <a:xfrm>
            <a:off x="804672" y="4206240"/>
            <a:ext cx="566928" cy="566928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1" name="Google Shape;91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404" y="4347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23"/>
          <p:cNvSpPr/>
          <p:nvPr/>
        </p:nvSpPr>
        <p:spPr>
          <a:xfrm>
            <a:off x="1508760" y="4206240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Compliance &amp; risk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3"/>
          <p:cNvSpPr/>
          <p:nvPr/>
        </p:nvSpPr>
        <p:spPr>
          <a:xfrm>
            <a:off x="841248" y="4901184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AI detection of unusual overtime 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7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Early flags for potential breaches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3"/>
          <p:cNvSpPr/>
          <p:nvPr/>
        </p:nvSpPr>
        <p:spPr>
          <a:xfrm>
            <a:off x="6199632" y="3931920"/>
            <a:ext cx="5440680" cy="1847088"/>
          </a:xfrm>
          <a:prstGeom prst="roundRect">
            <a:avLst>
              <a:gd fmla="val 4950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3"/>
          <p:cNvSpPr/>
          <p:nvPr/>
        </p:nvSpPr>
        <p:spPr>
          <a:xfrm>
            <a:off x="6455664" y="4206240"/>
            <a:ext cx="566928" cy="566928"/>
          </a:xfrm>
          <a:prstGeom prst="ellipse">
            <a:avLst/>
          </a:prstGeom>
          <a:solidFill>
            <a:srgbClr val="1323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6" name="Google Shape;91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97396" y="4347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23"/>
          <p:cNvSpPr/>
          <p:nvPr/>
        </p:nvSpPr>
        <p:spPr>
          <a:xfrm>
            <a:off x="7159752" y="4206240"/>
            <a:ext cx="4343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Enablement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3"/>
          <p:cNvSpPr/>
          <p:nvPr/>
        </p:nvSpPr>
        <p:spPr>
          <a:xfrm>
            <a:off x="6492240" y="4901184"/>
            <a:ext cx="4892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5100" lvl="0" marL="165100" marR="0" rtl="0" algn="l">
              <a:spcBef>
                <a:spcPts val="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AI-generated training materials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65100" marR="0" rtl="0" algn="l">
              <a:spcBef>
                <a:spcPts val="700"/>
              </a:spcBef>
              <a:spcAft>
                <a:spcPts val="0"/>
              </a:spcAft>
              <a:buClr>
                <a:srgbClr val="1E2A3D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A3D"/>
                </a:solidFill>
                <a:latin typeface="Calibri"/>
                <a:ea typeface="Calibri"/>
                <a:cs typeface="Calibri"/>
                <a:sym typeface="Calibri"/>
              </a:rPr>
              <a:t>Draft user guides &amp; communications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"/>
          <p:cNvSpPr/>
          <p:nvPr/>
        </p:nvSpPr>
        <p:spPr>
          <a:xfrm>
            <a:off x="548640" y="6144768"/>
            <a:ext cx="8138160" cy="310896"/>
          </a:xfrm>
          <a:prstGeom prst="roundRect">
            <a:avLst>
              <a:gd fmla="val 23529" name="adj"/>
            </a:avLst>
          </a:prstGeom>
          <a:solidFill>
            <a:srgbClr val="FBF3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3"/>
          <p:cNvSpPr/>
          <p:nvPr/>
        </p:nvSpPr>
        <p:spPr>
          <a:xfrm>
            <a:off x="621792" y="6144768"/>
            <a:ext cx="799185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ⓘ  </a:t>
            </a:r>
            <a:r>
              <a:rPr b="0" i="1" lang="en-US" sz="950" u="none" cap="none" strike="noStrike">
                <a:solidFill>
                  <a:srgbClr val="7A5A12"/>
                </a:solidFill>
                <a:latin typeface="Calibri"/>
                <a:ea typeface="Calibri"/>
                <a:cs typeface="Calibri"/>
                <a:sym typeface="Calibri"/>
              </a:rPr>
              <a:t>Applied with human oversight and data privacy by design — AI assists, people decide.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3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21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4"/>
          <p:cNvSpPr/>
          <p:nvPr/>
        </p:nvSpPr>
        <p:spPr>
          <a:xfrm>
            <a:off x="548640" y="457200"/>
            <a:ext cx="621792" cy="621792"/>
          </a:xfrm>
          <a:prstGeom prst="ellipse">
            <a:avLst/>
          </a:prstGeom>
          <a:solidFill>
            <a:srgbClr val="13233B"/>
          </a:solidFill>
          <a:ln>
            <a:noFill/>
          </a:ln>
          <a:effectLst>
            <a:outerShdw blurRad="88900" rotWithShape="0" algn="bl" dir="5400000" dist="25400">
              <a:srgbClr val="1A274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9" name="Google Shape;9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61264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4"/>
          <p:cNvSpPr/>
          <p:nvPr/>
        </p:nvSpPr>
        <p:spPr>
          <a:xfrm>
            <a:off x="1371600" y="45720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04 · VALUE &amp;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4"/>
          <p:cNvSpPr/>
          <p:nvPr/>
        </p:nvSpPr>
        <p:spPr>
          <a:xfrm>
            <a:off x="1344168" y="676656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Summary &amp; next steps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4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The plan at a glance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24"/>
          <p:cNvSpPr/>
          <p:nvPr/>
        </p:nvSpPr>
        <p:spPr>
          <a:xfrm>
            <a:off x="548640" y="1874520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4"/>
          <p:cNvSpPr/>
          <p:nvPr/>
        </p:nvSpPr>
        <p:spPr>
          <a:xfrm>
            <a:off x="749808" y="2093976"/>
            <a:ext cx="502920" cy="502920"/>
          </a:xfrm>
          <a:prstGeom prst="ellipse">
            <a:avLst/>
          </a:prstGeom>
          <a:solidFill>
            <a:srgbClr val="C158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5" name="Google Shape;9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538" y="2219706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24"/>
          <p:cNvSpPr/>
          <p:nvPr/>
        </p:nvSpPr>
        <p:spPr>
          <a:xfrm>
            <a:off x="1389888" y="200253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4"/>
          <p:cNvSpPr/>
          <p:nvPr/>
        </p:nvSpPr>
        <p:spPr>
          <a:xfrm>
            <a:off x="1389888" y="2331720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Manual, error-prone timekeeping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4"/>
          <p:cNvSpPr/>
          <p:nvPr/>
        </p:nvSpPr>
        <p:spPr>
          <a:xfrm>
            <a:off x="548640" y="2916936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4"/>
          <p:cNvSpPr/>
          <p:nvPr/>
        </p:nvSpPr>
        <p:spPr>
          <a:xfrm>
            <a:off x="749808" y="3136392"/>
            <a:ext cx="502920" cy="502920"/>
          </a:xfrm>
          <a:prstGeom prst="ellipse">
            <a:avLst/>
          </a:prstGeom>
          <a:solidFill>
            <a:srgbClr val="2445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0" name="Google Shape;94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538" y="3262122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24"/>
          <p:cNvSpPr/>
          <p:nvPr/>
        </p:nvSpPr>
        <p:spPr>
          <a:xfrm>
            <a:off x="1389888" y="304495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4"/>
          <p:cNvSpPr/>
          <p:nvPr/>
        </p:nvSpPr>
        <p:spPr>
          <a:xfrm>
            <a:off x="1389888" y="3374136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One system, 9 phases, ~15 months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4"/>
          <p:cNvSpPr/>
          <p:nvPr/>
        </p:nvSpPr>
        <p:spPr>
          <a:xfrm>
            <a:off x="548640" y="3959352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4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B07C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5" name="Google Shape;94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538" y="4304538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24"/>
          <p:cNvSpPr/>
          <p:nvPr/>
        </p:nvSpPr>
        <p:spPr>
          <a:xfrm>
            <a:off x="1389888" y="408736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Investment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4"/>
          <p:cNvSpPr/>
          <p:nvPr/>
        </p:nvSpPr>
        <p:spPr>
          <a:xfrm>
            <a:off x="1389888" y="4416552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€1.04M indicative budget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4"/>
          <p:cNvSpPr/>
          <p:nvPr/>
        </p:nvSpPr>
        <p:spPr>
          <a:xfrm>
            <a:off x="548640" y="5001768"/>
            <a:ext cx="5532120" cy="941832"/>
          </a:xfrm>
          <a:prstGeom prst="roundRect">
            <a:avLst>
              <a:gd fmla="val 8738" name="adj"/>
            </a:avLst>
          </a:prstGeom>
          <a:solidFill>
            <a:srgbClr val="F2F6FC"/>
          </a:solidFill>
          <a:ln>
            <a:noFill/>
          </a:ln>
          <a:effectLst>
            <a:outerShdw blurRad="127000" rotWithShape="0" algn="bl" dir="5400000" dist="38100">
              <a:srgbClr val="1A274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4"/>
          <p:cNvSpPr/>
          <p:nvPr/>
        </p:nvSpPr>
        <p:spPr>
          <a:xfrm>
            <a:off x="749808" y="5221224"/>
            <a:ext cx="502920" cy="502920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0" name="Google Shape;95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5538" y="5346954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24"/>
          <p:cNvSpPr/>
          <p:nvPr/>
        </p:nvSpPr>
        <p:spPr>
          <a:xfrm>
            <a:off x="1389888" y="5129784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4"/>
          <p:cNvSpPr/>
          <p:nvPr/>
        </p:nvSpPr>
        <p:spPr>
          <a:xfrm>
            <a:off x="1389888" y="5458968"/>
            <a:ext cx="4526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Accurate pay · compliance · insight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4"/>
          <p:cNvSpPr/>
          <p:nvPr/>
        </p:nvSpPr>
        <p:spPr>
          <a:xfrm>
            <a:off x="6355080" y="1737360"/>
            <a:ext cx="5285232" cy="4224528"/>
          </a:xfrm>
          <a:prstGeom prst="roundRect">
            <a:avLst>
              <a:gd fmla="val 2165" name="adj"/>
            </a:avLst>
          </a:prstGeom>
          <a:solidFill>
            <a:srgbClr val="13233B"/>
          </a:solidFill>
          <a:ln>
            <a:noFill/>
          </a:ln>
          <a:effectLst>
            <a:outerShdw blurRad="127000" rotWithShape="0" algn="bl" dir="54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4"/>
          <p:cNvSpPr/>
          <p:nvPr/>
        </p:nvSpPr>
        <p:spPr>
          <a:xfrm>
            <a:off x="6629400" y="196596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Immediate next steps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4"/>
          <p:cNvSpPr/>
          <p:nvPr/>
        </p:nvSpPr>
        <p:spPr>
          <a:xfrm>
            <a:off x="6629400" y="2542032"/>
            <a:ext cx="457200" cy="4572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4"/>
          <p:cNvSpPr/>
          <p:nvPr/>
        </p:nvSpPr>
        <p:spPr>
          <a:xfrm>
            <a:off x="6629400" y="2542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4"/>
          <p:cNvSpPr/>
          <p:nvPr/>
        </p:nvSpPr>
        <p:spPr>
          <a:xfrm>
            <a:off x="7242048" y="2505456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Approve the business case &amp; project charter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4"/>
          <p:cNvSpPr/>
          <p:nvPr/>
        </p:nvSpPr>
        <p:spPr>
          <a:xfrm>
            <a:off x="6629400" y="3200400"/>
            <a:ext cx="457200" cy="4572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24"/>
          <p:cNvSpPr/>
          <p:nvPr/>
        </p:nvSpPr>
        <p:spPr>
          <a:xfrm>
            <a:off x="6629400" y="3200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4"/>
          <p:cNvSpPr/>
          <p:nvPr/>
        </p:nvSpPr>
        <p:spPr>
          <a:xfrm>
            <a:off x="7242048" y="3163824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Confirm funding and mobilise governance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4"/>
          <p:cNvSpPr/>
          <p:nvPr/>
        </p:nvSpPr>
        <p:spPr>
          <a:xfrm>
            <a:off x="6629400" y="3858768"/>
            <a:ext cx="457200" cy="4572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4"/>
          <p:cNvSpPr/>
          <p:nvPr/>
        </p:nvSpPr>
        <p:spPr>
          <a:xfrm>
            <a:off x="6629400" y="3858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4"/>
          <p:cNvSpPr/>
          <p:nvPr/>
        </p:nvSpPr>
        <p:spPr>
          <a:xfrm>
            <a:off x="7242048" y="3822192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Appoint the project team &amp; workstream leads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4"/>
          <p:cNvSpPr/>
          <p:nvPr/>
        </p:nvSpPr>
        <p:spPr>
          <a:xfrm>
            <a:off x="6629400" y="4517136"/>
            <a:ext cx="457200" cy="4572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4"/>
          <p:cNvSpPr/>
          <p:nvPr/>
        </p:nvSpPr>
        <p:spPr>
          <a:xfrm>
            <a:off x="6629400" y="4517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4"/>
          <p:cNvSpPr/>
          <p:nvPr/>
        </p:nvSpPr>
        <p:spPr>
          <a:xfrm>
            <a:off x="7242048" y="4480560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Run vendor selection / confirm the platform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4"/>
          <p:cNvSpPr/>
          <p:nvPr/>
        </p:nvSpPr>
        <p:spPr>
          <a:xfrm>
            <a:off x="6629400" y="5175504"/>
            <a:ext cx="457200" cy="4572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4"/>
          <p:cNvSpPr/>
          <p:nvPr/>
        </p:nvSpPr>
        <p:spPr>
          <a:xfrm>
            <a:off x="6629400" y="5175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4"/>
          <p:cNvSpPr/>
          <p:nvPr/>
        </p:nvSpPr>
        <p:spPr>
          <a:xfrm>
            <a:off x="7242048" y="5138928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EEF7"/>
                </a:solidFill>
                <a:latin typeface="Calibri"/>
                <a:ea typeface="Calibri"/>
                <a:cs typeface="Calibri"/>
                <a:sym typeface="Calibri"/>
              </a:rPr>
              <a:t>Kick off requirements &amp; process-mapping workshops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72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728B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  ·  Project Plan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4"/>
          <p:cNvSpPr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07C1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07C16"/>
                </a:solidFill>
                <a:latin typeface="Calibri"/>
                <a:ea typeface="Calibri"/>
                <a:cs typeface="Calibri"/>
                <a:sym typeface="Calibri"/>
              </a:rPr>
              <a:t>23 / 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22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25"/>
          <p:cNvSpPr/>
          <p:nvPr/>
        </p:nvSpPr>
        <p:spPr>
          <a:xfrm>
            <a:off x="8778240" y="-2103120"/>
            <a:ext cx="5852160" cy="5852160"/>
          </a:xfrm>
          <a:prstGeom prst="ellipse">
            <a:avLst/>
          </a:prstGeom>
          <a:solidFill>
            <a:srgbClr val="FFD36E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5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C3255">
              <a:alpha val="5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5"/>
          <p:cNvSpPr/>
          <p:nvPr/>
        </p:nvSpPr>
        <p:spPr>
          <a:xfrm>
            <a:off x="640080" y="566928"/>
            <a:ext cx="457200" cy="457200"/>
          </a:xfrm>
          <a:prstGeom prst="ellipse">
            <a:avLst/>
          </a:prstGeom>
          <a:solidFill>
            <a:srgbClr val="FFD3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5"/>
          <p:cNvSpPr/>
          <p:nvPr/>
        </p:nvSpPr>
        <p:spPr>
          <a:xfrm>
            <a:off x="640080" y="566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3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3233B"/>
                </a:solidFill>
                <a:latin typeface="Calibri"/>
                <a:ea typeface="Calibri"/>
                <a:cs typeface="Calibri"/>
                <a:sym typeface="Calibri"/>
              </a:rPr>
              <a:t>TP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5"/>
          <p:cNvSpPr/>
          <p:nvPr/>
        </p:nvSpPr>
        <p:spPr>
          <a:xfrm>
            <a:off x="1207008" y="539496"/>
            <a:ext cx="2926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TARU PARTTIMAA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HR SPECIALIST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5"/>
          <p:cNvSpPr/>
          <p:nvPr/>
        </p:nvSpPr>
        <p:spPr>
          <a:xfrm>
            <a:off x="658368" y="23317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5"/>
          <p:cNvSpPr/>
          <p:nvPr/>
        </p:nvSpPr>
        <p:spPr>
          <a:xfrm>
            <a:off x="621792" y="278892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Hour System Implementation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5"/>
          <p:cNvSpPr/>
          <p:nvPr/>
        </p:nvSpPr>
        <p:spPr>
          <a:xfrm>
            <a:off x="658368" y="3794760"/>
            <a:ext cx="8961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DB0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0CC"/>
                </a:solidFill>
                <a:latin typeface="Calibri"/>
                <a:ea typeface="Calibri"/>
                <a:cs typeface="Calibri"/>
                <a:sym typeface="Calibri"/>
              </a:rPr>
              <a:t>A demonstration project plan from business case and budget to go-live, hypercare, KPIs and AI-enabled ways of working.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5"/>
          <p:cNvSpPr/>
          <p:nvPr/>
        </p:nvSpPr>
        <p:spPr>
          <a:xfrm>
            <a:off x="658368" y="4892040"/>
            <a:ext cx="457200" cy="457200"/>
          </a:xfrm>
          <a:prstGeom prst="ellipse">
            <a:avLst/>
          </a:prstGeom>
          <a:solidFill>
            <a:srgbClr val="1C3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6" name="Google Shape;9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68" y="50063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25"/>
          <p:cNvSpPr/>
          <p:nvPr/>
        </p:nvSpPr>
        <p:spPr>
          <a:xfrm>
            <a:off x="1225296" y="4892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Taru Parttimaa · HR Specialist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5"/>
          <p:cNvSpPr/>
          <p:nvPr/>
        </p:nvSpPr>
        <p:spPr>
          <a:xfrm>
            <a:off x="658368" y="5486400"/>
            <a:ext cx="457200" cy="457200"/>
          </a:xfrm>
          <a:prstGeom prst="ellipse">
            <a:avLst/>
          </a:prstGeom>
          <a:solidFill>
            <a:srgbClr val="1C32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9" name="Google Shape;9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668" y="56007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25"/>
          <p:cNvSpPr/>
          <p:nvPr/>
        </p:nvSpPr>
        <p:spPr>
          <a:xfrm>
            <a:off x="1225296" y="54864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36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D36E"/>
                </a:solidFill>
                <a:latin typeface="Calibri"/>
                <a:ea typeface="Calibri"/>
                <a:cs typeface="Calibri"/>
                <a:sym typeface="Calibri"/>
              </a:rPr>
              <a:t>taru-hr.github.io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5"/>
          <p:cNvSpPr/>
          <p:nvPr/>
        </p:nvSpPr>
        <p:spPr>
          <a:xfrm>
            <a:off x="658368" y="635508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F9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E7F9C"/>
                </a:solidFill>
                <a:latin typeface="Calibri"/>
                <a:ea typeface="Calibri"/>
                <a:cs typeface="Calibri"/>
                <a:sym typeface="Calibri"/>
              </a:rPr>
              <a:t>Illustrative figures for a hypothetical 1,000-employee organisation · not an actual company project.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2" name="Google Shape;99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7000" y="6014175"/>
            <a:ext cx="1059512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