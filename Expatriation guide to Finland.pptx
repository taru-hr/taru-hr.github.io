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Helvetica Neue"/>
      <p:regular r:id="rId24"/>
      <p:bold r:id="rId25"/>
      <p:italic r:id="rId26"/>
      <p:boldItalic r:id="rId27"/>
    </p:embeddedFont>
    <p:embeddedFont>
      <p:font typeface="Helvetica Neue Light"/>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51FEE2D-6496-49E0-A77C-5147DCB3214B}">
  <a:tblStyle styleId="{451FEE2D-6496-49E0-A77C-5147DCB3214B}"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8ECA0AB-4214-4633-85FE-4F567D8F92C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HelveticaNeue-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HelveticaNeue-italic.fntdata"/><Relationship Id="rId25" Type="http://schemas.openxmlformats.org/officeDocument/2006/relationships/font" Target="fonts/HelveticaNeue-bold.fntdata"/><Relationship Id="rId28" Type="http://schemas.openxmlformats.org/officeDocument/2006/relationships/font" Target="fonts/HelveticaNeueLight-regular.fntdata"/><Relationship Id="rId27" Type="http://schemas.openxmlformats.org/officeDocument/2006/relationships/font" Target="fonts/HelveticaNeue-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HelveticaNeueLigh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Light-boldItalic.fntdata"/><Relationship Id="rId30" Type="http://schemas.openxmlformats.org/officeDocument/2006/relationships/font" Target="fonts/HelveticaNeueLight-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fd2753649_2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fd2753649_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ef90e475a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ef90e475a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f90e475af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ef90e475af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fd2753649_2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fd2753649_2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fd2753649_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fd2753649_2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f90e475a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ef90e475a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f90e475a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f90e475a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f90e475a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ef90e475a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f90e475a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ef90e475a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fe52577d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fe52577d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f90e475a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ef90e475a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f90e475a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ef90e475a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fd2753649_2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fd2753649_2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fde87febb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efde87febb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ef90e475a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ef90e475a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f90e475a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ef90e475a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i"/>
              <a:t>‹#›</a:t>
            </a:fld>
            <a:endParaRPr/>
          </a:p>
        </p:txBody>
      </p:sp>
      <p:pic>
        <p:nvPicPr>
          <p:cNvPr id="9" name="Google Shape;9;p1"/>
          <p:cNvPicPr preferRelativeResize="0"/>
          <p:nvPr/>
        </p:nvPicPr>
        <p:blipFill>
          <a:blip r:embed="rId1">
            <a:alphaModFix/>
          </a:blip>
          <a:stretch>
            <a:fillRect/>
          </a:stretch>
        </p:blipFill>
        <p:spPr>
          <a:xfrm>
            <a:off x="7914097" y="4408475"/>
            <a:ext cx="855550" cy="6483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hyperlink" Target="https://migri.fi/en/residence-permit-for-an-employed-pers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sp>
        <p:nvSpPr>
          <p:cNvPr id="55" name="Google Shape;55;p13"/>
          <p:cNvSpPr txBox="1"/>
          <p:nvPr/>
        </p:nvSpPr>
        <p:spPr>
          <a:xfrm>
            <a:off x="1975050" y="106500"/>
            <a:ext cx="5134800" cy="1329000"/>
          </a:xfrm>
          <a:prstGeom prst="rect">
            <a:avLst/>
          </a:prstGeom>
          <a:noFill/>
          <a:ln>
            <a:noFill/>
          </a:ln>
          <a:effectLst>
            <a:outerShdw blurRad="142875" rotWithShape="0" algn="bl" dir="5400000" dist="47625">
              <a:srgbClr val="000000">
                <a:alpha val="3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b="1" lang="fi" sz="3700">
                <a:solidFill>
                  <a:schemeClr val="lt1"/>
                </a:solidFill>
                <a:latin typeface="Helvetica Neue"/>
                <a:ea typeface="Helvetica Neue"/>
                <a:cs typeface="Helvetica Neue"/>
                <a:sym typeface="Helvetica Neue"/>
              </a:rPr>
              <a:t>Expat </a:t>
            </a:r>
            <a:endParaRPr b="1" sz="3700">
              <a:solidFill>
                <a:schemeClr val="lt1"/>
              </a:solidFill>
              <a:latin typeface="Helvetica Neue"/>
              <a:ea typeface="Helvetica Neue"/>
              <a:cs typeface="Helvetica Neue"/>
              <a:sym typeface="Helvetica Neue"/>
            </a:endParaRPr>
          </a:p>
          <a:p>
            <a:pPr indent="0" lvl="0" marL="0" rtl="0" algn="ctr">
              <a:spcBef>
                <a:spcPts val="0"/>
              </a:spcBef>
              <a:spcAft>
                <a:spcPts val="0"/>
              </a:spcAft>
              <a:buNone/>
            </a:pPr>
            <a:r>
              <a:rPr b="1" lang="fi" sz="3700">
                <a:solidFill>
                  <a:schemeClr val="lt1"/>
                </a:solidFill>
                <a:latin typeface="Helvetica Neue"/>
                <a:ea typeface="Helvetica Neue"/>
                <a:cs typeface="Helvetica Neue"/>
                <a:sym typeface="Helvetica Neue"/>
              </a:rPr>
              <a:t>Employee Guide</a:t>
            </a:r>
            <a:endParaRPr b="1" sz="3700">
              <a:solidFill>
                <a:schemeClr val="lt1"/>
              </a:solidFill>
              <a:latin typeface="Helvetica Neue"/>
              <a:ea typeface="Helvetica Neue"/>
              <a:cs typeface="Helvetica Neue"/>
              <a:sym typeface="Helvetica Neue"/>
            </a:endParaRPr>
          </a:p>
        </p:txBody>
      </p:sp>
      <p:sp>
        <p:nvSpPr>
          <p:cNvPr id="56" name="Google Shape;56;p13"/>
          <p:cNvSpPr/>
          <p:nvPr/>
        </p:nvSpPr>
        <p:spPr>
          <a:xfrm>
            <a:off x="5932550" y="4032700"/>
            <a:ext cx="1980600" cy="821700"/>
          </a:xfrm>
          <a:prstGeom prst="rect">
            <a:avLst/>
          </a:prstGeom>
          <a:solidFill>
            <a:srgbClr val="000000">
              <a:alpha val="4366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57" name="Google Shape;57;p13"/>
          <p:cNvSpPr txBox="1"/>
          <p:nvPr/>
        </p:nvSpPr>
        <p:spPr>
          <a:xfrm>
            <a:off x="5932550" y="4032700"/>
            <a:ext cx="2160900" cy="735600"/>
          </a:xfrm>
          <a:prstGeom prst="rect">
            <a:avLst/>
          </a:prstGeom>
          <a:noFill/>
          <a:ln>
            <a:noFill/>
          </a:ln>
          <a:effectLst>
            <a:outerShdw blurRad="142875" rotWithShape="0" algn="bl" dir="5400000" dist="47625">
              <a:srgbClr val="000000">
                <a:alpha val="30000"/>
              </a:srgbClr>
            </a:outerShdw>
          </a:effectLst>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i="1" lang="fi" sz="1200">
                <a:solidFill>
                  <a:schemeClr val="lt1"/>
                </a:solidFill>
              </a:rPr>
              <a:t>A practical guide for international employees relocating to Finland.</a:t>
            </a:r>
            <a:endParaRPr i="1" sz="1200">
              <a:solidFill>
                <a:schemeClr val="lt1"/>
              </a:solidFill>
            </a:endParaRPr>
          </a:p>
          <a:p>
            <a:pPr indent="0" lvl="0" marL="0" rtl="0" algn="ctr">
              <a:spcBef>
                <a:spcPts val="1200"/>
              </a:spcBef>
              <a:spcAft>
                <a:spcPts val="0"/>
              </a:spcAft>
              <a:buNone/>
            </a:pPr>
            <a:r>
              <a:t/>
            </a:r>
            <a:endParaRPr b="1" sz="3700">
              <a:solidFill>
                <a:schemeClr val="lt1"/>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 name="Shape 61"/>
        <p:cNvGrpSpPr/>
        <p:nvPr/>
      </p:nvGrpSpPr>
      <p:grpSpPr>
        <a:xfrm>
          <a:off x="0" y="0"/>
          <a:ext cx="0" cy="0"/>
          <a:chOff x="0" y="0"/>
          <a:chExt cx="0" cy="0"/>
        </a:xfrm>
      </p:grpSpPr>
      <p:sp>
        <p:nvSpPr>
          <p:cNvPr id="62" name="Google Shape;62;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t>‹#›</a:t>
            </a:fld>
            <a:endParaRPr/>
          </a:p>
        </p:txBody>
      </p:sp>
      <p:sp>
        <p:nvSpPr>
          <p:cNvPr id="63" name="Google Shape;63;p14"/>
          <p:cNvSpPr txBox="1"/>
          <p:nvPr/>
        </p:nvSpPr>
        <p:spPr>
          <a:xfrm>
            <a:off x="2135500" y="117725"/>
            <a:ext cx="4781700" cy="820800"/>
          </a:xfrm>
          <a:prstGeom prst="rect">
            <a:avLst/>
          </a:prstGeom>
          <a:noFill/>
          <a:ln>
            <a:noFill/>
          </a:ln>
          <a:effectLst>
            <a:outerShdw blurRad="71438" rotWithShape="0" algn="bl" dir="5400000" dist="38100">
              <a:srgbClr val="000000">
                <a:alpha val="9000"/>
              </a:srgbClr>
            </a:outerShdw>
          </a:effectLst>
        </p:spPr>
        <p:txBody>
          <a:bodyPr anchorCtr="0" anchor="t" bIns="91425" lIns="91425" spcFirstLastPara="1" rIns="91425" wrap="square" tIns="91425">
            <a:noAutofit/>
          </a:bodyPr>
          <a:lstStyle/>
          <a:p>
            <a:pPr indent="0" lvl="0" marL="457200" rtl="0" algn="l">
              <a:spcBef>
                <a:spcPts val="0"/>
              </a:spcBef>
              <a:spcAft>
                <a:spcPts val="0"/>
              </a:spcAft>
              <a:buNone/>
            </a:pPr>
            <a:r>
              <a:rPr b="1" lang="fi" sz="3700">
                <a:solidFill>
                  <a:schemeClr val="dk1"/>
                </a:solidFill>
                <a:latin typeface="Helvetica Neue"/>
                <a:ea typeface="Helvetica Neue"/>
                <a:cs typeface="Helvetica Neue"/>
                <a:sym typeface="Helvetica Neue"/>
              </a:rPr>
              <a:t>Table of contents</a:t>
            </a:r>
            <a:endParaRPr b="1" sz="3700">
              <a:solidFill>
                <a:schemeClr val="dk1"/>
              </a:solidFill>
              <a:latin typeface="Helvetica Neue"/>
              <a:ea typeface="Helvetica Neue"/>
              <a:cs typeface="Helvetica Neue"/>
              <a:sym typeface="Helvetica Neue"/>
            </a:endParaRPr>
          </a:p>
          <a:p>
            <a:pPr indent="0" lvl="0" marL="457200" rtl="0" algn="l">
              <a:spcBef>
                <a:spcPts val="0"/>
              </a:spcBef>
              <a:spcAft>
                <a:spcPts val="0"/>
              </a:spcAft>
              <a:buNone/>
            </a:pPr>
            <a:r>
              <a:t/>
            </a:r>
            <a:endParaRPr b="1" sz="3700">
              <a:solidFill>
                <a:schemeClr val="lt1"/>
              </a:solidFill>
              <a:latin typeface="Helvetica Neue"/>
              <a:ea typeface="Helvetica Neue"/>
              <a:cs typeface="Helvetica Neue"/>
              <a:sym typeface="Helvetica Neue"/>
            </a:endParaRPr>
          </a:p>
        </p:txBody>
      </p:sp>
      <p:sp>
        <p:nvSpPr>
          <p:cNvPr id="64" name="Google Shape;64;p14"/>
          <p:cNvSpPr txBox="1"/>
          <p:nvPr/>
        </p:nvSpPr>
        <p:spPr>
          <a:xfrm>
            <a:off x="2637675" y="869025"/>
            <a:ext cx="4174800" cy="3758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Helvetica Neue Light"/>
              <a:buChar char="●"/>
            </a:pPr>
            <a:r>
              <a:rPr lang="fi">
                <a:solidFill>
                  <a:schemeClr val="dk2"/>
                </a:solidFill>
                <a:latin typeface="Helvetica Neue Light"/>
                <a:ea typeface="Helvetica Neue Light"/>
                <a:cs typeface="Helvetica Neue Light"/>
                <a:sym typeface="Helvetica Neue Light"/>
              </a:rPr>
              <a:t>VISA &amp; residence permit for </a:t>
            </a:r>
            <a:r>
              <a:rPr lang="fi">
                <a:solidFill>
                  <a:schemeClr val="dk2"/>
                </a:solidFill>
                <a:latin typeface="Helvetica Neue Light"/>
                <a:ea typeface="Helvetica Neue Light"/>
                <a:cs typeface="Helvetica Neue Light"/>
                <a:sym typeface="Helvetica Neue Light"/>
              </a:rPr>
              <a:t>employment</a:t>
            </a:r>
            <a:endParaRPr>
              <a:solidFill>
                <a:schemeClr val="dk2"/>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2"/>
              </a:buClr>
              <a:buSzPts val="1400"/>
              <a:buFont typeface="Helvetica Neue Light"/>
              <a:buChar char="●"/>
            </a:pPr>
            <a:r>
              <a:rPr lang="fi">
                <a:solidFill>
                  <a:schemeClr val="dk2"/>
                </a:solidFill>
                <a:latin typeface="Helvetica Neue Light"/>
                <a:ea typeface="Helvetica Neue Light"/>
                <a:cs typeface="Helvetica Neue Light"/>
                <a:sym typeface="Helvetica Neue Light"/>
              </a:rPr>
              <a:t>Employment contract</a:t>
            </a:r>
            <a:endParaRPr>
              <a:solidFill>
                <a:schemeClr val="dk2"/>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2"/>
              </a:buClr>
              <a:buSzPts val="1400"/>
              <a:buFont typeface="Helvetica Neue Light"/>
              <a:buChar char="●"/>
            </a:pPr>
            <a:r>
              <a:rPr lang="fi">
                <a:solidFill>
                  <a:schemeClr val="dk2"/>
                </a:solidFill>
                <a:latin typeface="Helvetica Neue Light"/>
                <a:ea typeface="Helvetica Neue Light"/>
                <a:cs typeface="Helvetica Neue Light"/>
                <a:sym typeface="Helvetica Neue Light"/>
              </a:rPr>
              <a:t>Emergency number</a:t>
            </a:r>
            <a:endParaRPr>
              <a:solidFill>
                <a:schemeClr val="dk2"/>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2"/>
              </a:buClr>
              <a:buSzPts val="1400"/>
              <a:buFont typeface="Helvetica Neue Light"/>
              <a:buChar char="●"/>
            </a:pPr>
            <a:r>
              <a:rPr lang="fi">
                <a:solidFill>
                  <a:schemeClr val="dk2"/>
                </a:solidFill>
                <a:latin typeface="Helvetica Neue Light"/>
                <a:ea typeface="Helvetica Neue Light"/>
                <a:cs typeface="Helvetica Neue Light"/>
                <a:sym typeface="Helvetica Neue Light"/>
              </a:rPr>
              <a:t>Social Security</a:t>
            </a:r>
            <a:endParaRPr>
              <a:solidFill>
                <a:schemeClr val="dk2"/>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2"/>
              </a:buClr>
              <a:buSzPts val="1400"/>
              <a:buFont typeface="Helvetica Neue Light"/>
              <a:buChar char="●"/>
            </a:pPr>
            <a:r>
              <a:rPr lang="fi">
                <a:solidFill>
                  <a:schemeClr val="dk2"/>
                </a:solidFill>
                <a:latin typeface="Helvetica Neue Light"/>
                <a:ea typeface="Helvetica Neue Light"/>
                <a:cs typeface="Helvetica Neue Light"/>
                <a:sym typeface="Helvetica Neue Light"/>
              </a:rPr>
              <a:t>SIM card</a:t>
            </a:r>
            <a:endParaRPr>
              <a:solidFill>
                <a:schemeClr val="dk2"/>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2"/>
              </a:buClr>
              <a:buSzPts val="1400"/>
              <a:buFont typeface="Helvetica Neue Light"/>
              <a:buChar char="●"/>
            </a:pPr>
            <a:r>
              <a:rPr lang="fi">
                <a:solidFill>
                  <a:schemeClr val="dk2"/>
                </a:solidFill>
                <a:latin typeface="Helvetica Neue Light"/>
                <a:ea typeface="Helvetica Neue Light"/>
                <a:cs typeface="Helvetica Neue Light"/>
                <a:sym typeface="Helvetica Neue Light"/>
              </a:rPr>
              <a:t>Public transport (HSL; Helsinki Region Transport)</a:t>
            </a:r>
            <a:endParaRPr>
              <a:solidFill>
                <a:schemeClr val="dk2"/>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2"/>
              </a:buClr>
              <a:buSzPts val="1400"/>
              <a:buFont typeface="Helvetica Neue Light"/>
              <a:buChar char="●"/>
            </a:pPr>
            <a:r>
              <a:rPr lang="fi">
                <a:solidFill>
                  <a:schemeClr val="dk2"/>
                </a:solidFill>
                <a:latin typeface="Helvetica Neue Light"/>
                <a:ea typeface="Helvetica Neue Light"/>
                <a:cs typeface="Helvetica Neue Light"/>
                <a:sym typeface="Helvetica Neue Light"/>
              </a:rPr>
              <a:t>Healthcare (occupational healthcare)</a:t>
            </a:r>
            <a:endParaRPr>
              <a:solidFill>
                <a:schemeClr val="dk2"/>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2"/>
              </a:buClr>
              <a:buSzPts val="1400"/>
              <a:buFont typeface="Helvetica Neue Light"/>
              <a:buChar char="●"/>
            </a:pPr>
            <a:r>
              <a:rPr lang="fi">
                <a:solidFill>
                  <a:schemeClr val="dk2"/>
                </a:solidFill>
                <a:latin typeface="Helvetica Neue Light"/>
                <a:ea typeface="Helvetica Neue Light"/>
                <a:cs typeface="Helvetica Neue Light"/>
                <a:sym typeface="Helvetica Neue Light"/>
              </a:rPr>
              <a:t>Bank account</a:t>
            </a:r>
            <a:endParaRPr>
              <a:solidFill>
                <a:schemeClr val="dk2"/>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2"/>
              </a:buClr>
              <a:buSzPts val="1400"/>
              <a:buFont typeface="Helvetica Neue Light"/>
              <a:buChar char="●"/>
            </a:pPr>
            <a:r>
              <a:rPr lang="fi">
                <a:solidFill>
                  <a:schemeClr val="dk2"/>
                </a:solidFill>
                <a:latin typeface="Helvetica Neue Light"/>
                <a:ea typeface="Helvetica Neue Light"/>
                <a:cs typeface="Helvetica Neue Light"/>
                <a:sym typeface="Helvetica Neue Light"/>
              </a:rPr>
              <a:t>Tax card</a:t>
            </a:r>
            <a:endParaRPr>
              <a:solidFill>
                <a:schemeClr val="dk2"/>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2"/>
              </a:buClr>
              <a:buSzPts val="1400"/>
              <a:buFont typeface="Helvetica Neue Light"/>
              <a:buChar char="●"/>
            </a:pPr>
            <a:r>
              <a:rPr lang="fi">
                <a:solidFill>
                  <a:schemeClr val="dk2"/>
                </a:solidFill>
                <a:latin typeface="Helvetica Neue Light"/>
                <a:ea typeface="Helvetica Neue Light"/>
                <a:cs typeface="Helvetica Neue Light"/>
                <a:sym typeface="Helvetica Neue Light"/>
              </a:rPr>
              <a:t>Salary</a:t>
            </a:r>
            <a:endParaRPr>
              <a:solidFill>
                <a:schemeClr val="dk2"/>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2"/>
              </a:buClr>
              <a:buSzPts val="1400"/>
              <a:buFont typeface="Helvetica Neue Light"/>
              <a:buChar char="●"/>
            </a:pPr>
            <a:r>
              <a:rPr lang="fi">
                <a:solidFill>
                  <a:schemeClr val="dk2"/>
                </a:solidFill>
                <a:latin typeface="Helvetica Neue Light"/>
                <a:ea typeface="Helvetica Neue Light"/>
                <a:cs typeface="Helvetica Neue Light"/>
                <a:sym typeface="Helvetica Neue Light"/>
              </a:rPr>
              <a:t>Working hours</a:t>
            </a:r>
            <a:endParaRPr>
              <a:solidFill>
                <a:schemeClr val="dk2"/>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2"/>
              </a:buClr>
              <a:buSzPts val="1400"/>
              <a:buFont typeface="Helvetica Neue Light"/>
              <a:buChar char="●"/>
            </a:pPr>
            <a:r>
              <a:rPr lang="fi">
                <a:solidFill>
                  <a:schemeClr val="dk2"/>
                </a:solidFill>
                <a:latin typeface="Helvetica Neue Light"/>
                <a:ea typeface="Helvetica Neue Light"/>
                <a:cs typeface="Helvetica Neue Light"/>
                <a:sym typeface="Helvetica Neue Light"/>
              </a:rPr>
              <a:t>Annual leave</a:t>
            </a:r>
            <a:endParaRPr>
              <a:solidFill>
                <a:schemeClr val="dk2"/>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2"/>
              </a:buClr>
              <a:buSzPts val="1400"/>
              <a:buFont typeface="Helvetica Neue Light"/>
              <a:buChar char="●"/>
            </a:pPr>
            <a:r>
              <a:rPr lang="fi">
                <a:solidFill>
                  <a:schemeClr val="dk2"/>
                </a:solidFill>
                <a:latin typeface="Helvetica Neue Light"/>
                <a:ea typeface="Helvetica Neue Light"/>
                <a:cs typeface="Helvetica Neue Light"/>
                <a:sym typeface="Helvetica Neue Light"/>
              </a:rPr>
              <a:t>Other absences</a:t>
            </a:r>
            <a:endParaRPr>
              <a:solidFill>
                <a:schemeClr val="dk2"/>
              </a:solidFill>
              <a:latin typeface="Helvetica Neue Light"/>
              <a:ea typeface="Helvetica Neue Light"/>
              <a:cs typeface="Helvetica Neue Light"/>
              <a:sym typeface="Helvetica Neue Light"/>
            </a:endParaRPr>
          </a:p>
          <a:p>
            <a:pPr indent="-317500" lvl="0" marL="457200" rtl="0" algn="l">
              <a:spcBef>
                <a:spcPts val="0"/>
              </a:spcBef>
              <a:spcAft>
                <a:spcPts val="0"/>
              </a:spcAft>
              <a:buClr>
                <a:schemeClr val="dk2"/>
              </a:buClr>
              <a:buSzPts val="1400"/>
              <a:buFont typeface="Helvetica Neue Light"/>
              <a:buChar char="●"/>
            </a:pPr>
            <a:r>
              <a:rPr lang="fi">
                <a:solidFill>
                  <a:schemeClr val="dk2"/>
                </a:solidFill>
                <a:latin typeface="Helvetica Neue Light"/>
                <a:ea typeface="Helvetica Neue Light"/>
                <a:cs typeface="Helvetica Neue Light"/>
                <a:sym typeface="Helvetica Neue Light"/>
              </a:rPr>
              <a:t>Grocery stores</a:t>
            </a:r>
            <a:endParaRPr>
              <a:solidFill>
                <a:schemeClr val="dk2"/>
              </a:solidFill>
              <a:latin typeface="Helvetica Neue Light"/>
              <a:ea typeface="Helvetica Neue Light"/>
              <a:cs typeface="Helvetica Neue Light"/>
              <a:sym typeface="Helvetica Neue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 name="Shape 68"/>
        <p:cNvGrpSpPr/>
        <p:nvPr/>
      </p:nvGrpSpPr>
      <p:grpSpPr>
        <a:xfrm>
          <a:off x="0" y="0"/>
          <a:ext cx="0" cy="0"/>
          <a:chOff x="0" y="0"/>
          <a:chExt cx="0" cy="0"/>
        </a:xfrm>
      </p:grpSpPr>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latin typeface="Helvetica Neue Light"/>
                <a:ea typeface="Helvetica Neue Light"/>
                <a:cs typeface="Helvetica Neue Light"/>
                <a:sym typeface="Helvetica Neue Light"/>
              </a:rPr>
              <a:t>‹#›</a:t>
            </a:fld>
            <a:endParaRPr>
              <a:latin typeface="Helvetica Neue Light"/>
              <a:ea typeface="Helvetica Neue Light"/>
              <a:cs typeface="Helvetica Neue Light"/>
              <a:sym typeface="Helvetica Neue Light"/>
            </a:endParaRPr>
          </a:p>
        </p:txBody>
      </p:sp>
      <p:sp>
        <p:nvSpPr>
          <p:cNvPr id="70" name="Google Shape;70;p15"/>
          <p:cNvSpPr txBox="1"/>
          <p:nvPr/>
        </p:nvSpPr>
        <p:spPr>
          <a:xfrm>
            <a:off x="2135500" y="117725"/>
            <a:ext cx="4781700" cy="820800"/>
          </a:xfrm>
          <a:prstGeom prst="rect">
            <a:avLst/>
          </a:prstGeom>
          <a:noFill/>
          <a:ln>
            <a:noFill/>
          </a:ln>
          <a:effectLst>
            <a:outerShdw blurRad="71438" rotWithShape="0" algn="bl" dir="5400000" dist="38100">
              <a:srgbClr val="000000">
                <a:alpha val="9000"/>
              </a:srgbClr>
            </a:outerShdw>
          </a:effectLst>
        </p:spPr>
        <p:txBody>
          <a:bodyPr anchorCtr="0" anchor="t" bIns="91425" lIns="91425" spcFirstLastPara="1" rIns="91425" wrap="square" tIns="91425">
            <a:noAutofit/>
          </a:bodyPr>
          <a:lstStyle/>
          <a:p>
            <a:pPr indent="0" lvl="0" marL="457200" rtl="0" algn="l">
              <a:spcBef>
                <a:spcPts val="0"/>
              </a:spcBef>
              <a:spcAft>
                <a:spcPts val="0"/>
              </a:spcAft>
              <a:buNone/>
            </a:pPr>
            <a:r>
              <a:rPr b="1" lang="fi" sz="3700">
                <a:solidFill>
                  <a:schemeClr val="dk1"/>
                </a:solidFill>
                <a:latin typeface="Helvetica Neue"/>
                <a:ea typeface="Helvetica Neue"/>
                <a:cs typeface="Helvetica Neue"/>
                <a:sym typeface="Helvetica Neue"/>
              </a:rPr>
              <a:t>Before Arrival</a:t>
            </a:r>
            <a:endParaRPr b="1" sz="3700">
              <a:solidFill>
                <a:schemeClr val="lt1"/>
              </a:solidFill>
              <a:latin typeface="Helvetica Neue"/>
              <a:ea typeface="Helvetica Neue"/>
              <a:cs typeface="Helvetica Neue"/>
              <a:sym typeface="Helvetica Neue"/>
            </a:endParaRPr>
          </a:p>
        </p:txBody>
      </p:sp>
      <p:sp>
        <p:nvSpPr>
          <p:cNvPr id="71" name="Google Shape;71;p15"/>
          <p:cNvSpPr/>
          <p:nvPr/>
        </p:nvSpPr>
        <p:spPr>
          <a:xfrm>
            <a:off x="2463225" y="1526900"/>
            <a:ext cx="1980600" cy="2353500"/>
          </a:xfrm>
          <a:prstGeom prst="rect">
            <a:avLst/>
          </a:prstGeom>
          <a:solidFill>
            <a:srgbClr val="4CD6E1">
              <a:alpha val="4366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1200"/>
              </a:spcBef>
              <a:spcAft>
                <a:spcPts val="1200"/>
              </a:spcAft>
              <a:buNone/>
            </a:pPr>
            <a:r>
              <a:t/>
            </a:r>
            <a:endParaRPr sz="1200">
              <a:solidFill>
                <a:schemeClr val="lt1"/>
              </a:solidFill>
              <a:latin typeface="Helvetica Neue Light"/>
              <a:ea typeface="Helvetica Neue Light"/>
              <a:cs typeface="Helvetica Neue Light"/>
              <a:sym typeface="Helvetica Neue Light"/>
            </a:endParaRPr>
          </a:p>
        </p:txBody>
      </p:sp>
      <p:sp>
        <p:nvSpPr>
          <p:cNvPr id="72" name="Google Shape;72;p15"/>
          <p:cNvSpPr/>
          <p:nvPr/>
        </p:nvSpPr>
        <p:spPr>
          <a:xfrm>
            <a:off x="4558400" y="1526900"/>
            <a:ext cx="1980600" cy="2353500"/>
          </a:xfrm>
          <a:prstGeom prst="rect">
            <a:avLst/>
          </a:prstGeom>
          <a:solidFill>
            <a:srgbClr val="4CD6E1">
              <a:alpha val="4366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1200"/>
              </a:spcBef>
              <a:spcAft>
                <a:spcPts val="1200"/>
              </a:spcAft>
              <a:buNone/>
            </a:pPr>
            <a:r>
              <a:t/>
            </a:r>
            <a:endParaRPr sz="1200">
              <a:solidFill>
                <a:schemeClr val="lt1"/>
              </a:solidFill>
              <a:latin typeface="Helvetica Neue Light"/>
              <a:ea typeface="Helvetica Neue Light"/>
              <a:cs typeface="Helvetica Neue Light"/>
              <a:sym typeface="Helvetica Neue Light"/>
            </a:endParaRPr>
          </a:p>
        </p:txBody>
      </p:sp>
      <p:sp>
        <p:nvSpPr>
          <p:cNvPr id="73" name="Google Shape;73;p15"/>
          <p:cNvSpPr/>
          <p:nvPr/>
        </p:nvSpPr>
        <p:spPr>
          <a:xfrm>
            <a:off x="6653575" y="1526900"/>
            <a:ext cx="1980600" cy="2353500"/>
          </a:xfrm>
          <a:prstGeom prst="rect">
            <a:avLst/>
          </a:prstGeom>
          <a:solidFill>
            <a:srgbClr val="4CD6E1">
              <a:alpha val="4366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1200"/>
              </a:spcBef>
              <a:spcAft>
                <a:spcPts val="1200"/>
              </a:spcAft>
              <a:buNone/>
            </a:pPr>
            <a:r>
              <a:t/>
            </a:r>
            <a:endParaRPr sz="1200">
              <a:solidFill>
                <a:schemeClr val="lt1"/>
              </a:solidFill>
              <a:latin typeface="Helvetica Neue Light"/>
              <a:ea typeface="Helvetica Neue Light"/>
              <a:cs typeface="Helvetica Neue Light"/>
              <a:sym typeface="Helvetica Neue Light"/>
            </a:endParaRPr>
          </a:p>
        </p:txBody>
      </p:sp>
      <p:sp>
        <p:nvSpPr>
          <p:cNvPr id="74" name="Google Shape;74;p15"/>
          <p:cNvSpPr txBox="1"/>
          <p:nvPr/>
        </p:nvSpPr>
        <p:spPr>
          <a:xfrm>
            <a:off x="360525" y="1526900"/>
            <a:ext cx="1944900" cy="2353500"/>
          </a:xfrm>
          <a:prstGeom prst="rect">
            <a:avLst/>
          </a:prstGeom>
          <a:solidFill>
            <a:srgbClr val="4CD6E1">
              <a:alpha val="4366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0"/>
              </a:spcAft>
              <a:buNone/>
            </a:pPr>
            <a:r>
              <a:t/>
            </a:r>
            <a:endParaRPr sz="1200">
              <a:solidFill>
                <a:schemeClr val="lt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fi" sz="1200">
                <a:solidFill>
                  <a:schemeClr val="dk1"/>
                </a:solidFill>
                <a:latin typeface="Helvetica Neue Light"/>
                <a:ea typeface="Helvetica Neue Light"/>
                <a:cs typeface="Helvetica Neue Light"/>
                <a:sym typeface="Helvetica Neue Light"/>
              </a:rPr>
              <a:t>Relocation checklist </a:t>
            </a:r>
            <a:endParaRPr sz="1200">
              <a:solidFill>
                <a:schemeClr val="dk1"/>
              </a:solidFill>
              <a:latin typeface="Helvetica Neue Light"/>
              <a:ea typeface="Helvetica Neue Light"/>
              <a:cs typeface="Helvetica Neue Light"/>
              <a:sym typeface="Helvetica Neue Light"/>
            </a:endParaRPr>
          </a:p>
          <a:p>
            <a:pPr indent="-298450" lvl="0" marL="457200" rtl="0" algn="l">
              <a:lnSpc>
                <a:spcPct val="115000"/>
              </a:lnSpc>
              <a:spcBef>
                <a:spcPts val="1200"/>
              </a:spcBef>
              <a:spcAft>
                <a:spcPts val="0"/>
              </a:spcAft>
              <a:buClr>
                <a:schemeClr val="dk1"/>
              </a:buClr>
              <a:buSzPts val="1100"/>
              <a:buFont typeface="Helvetica Neue Light"/>
              <a:buChar char="●"/>
            </a:pPr>
            <a:r>
              <a:rPr lang="fi" sz="1200">
                <a:solidFill>
                  <a:schemeClr val="dk1"/>
                </a:solidFill>
                <a:latin typeface="Helvetica Neue Light"/>
                <a:ea typeface="Helvetica Neue Light"/>
                <a:cs typeface="Helvetica Neue Light"/>
                <a:sym typeface="Helvetica Neue Light"/>
              </a:rPr>
              <a:t>Housing &amp; moving</a:t>
            </a:r>
            <a:endParaRPr sz="1200">
              <a:solidFill>
                <a:schemeClr val="dk1"/>
              </a:solidFill>
              <a:latin typeface="Helvetica Neue Light"/>
              <a:ea typeface="Helvetica Neue Light"/>
              <a:cs typeface="Helvetica Neue Light"/>
              <a:sym typeface="Helvetica Neue Light"/>
            </a:endParaRPr>
          </a:p>
          <a:p>
            <a:pPr indent="-304800" lvl="0" marL="457200" rtl="0" algn="l">
              <a:lnSpc>
                <a:spcPct val="115000"/>
              </a:lnSpc>
              <a:spcBef>
                <a:spcPts val="0"/>
              </a:spcBef>
              <a:spcAft>
                <a:spcPts val="0"/>
              </a:spcAft>
              <a:buClr>
                <a:schemeClr val="dk1"/>
              </a:buClr>
              <a:buSzPts val="1200"/>
              <a:buFont typeface="Helvetica Neue Light"/>
              <a:buChar char="●"/>
            </a:pPr>
            <a:r>
              <a:rPr lang="fi" sz="1200">
                <a:solidFill>
                  <a:schemeClr val="dk1"/>
                </a:solidFill>
                <a:latin typeface="Helvetica Neue Light"/>
                <a:ea typeface="Helvetica Neue Light"/>
                <a:cs typeface="Helvetica Neue Light"/>
                <a:sym typeface="Helvetica Neue Light"/>
              </a:rPr>
              <a:t>Documents (Visa, residence permit) </a:t>
            </a:r>
            <a:endParaRPr sz="1200">
              <a:solidFill>
                <a:schemeClr val="dk1"/>
              </a:solidFill>
              <a:latin typeface="Helvetica Neue Light"/>
              <a:ea typeface="Helvetica Neue Light"/>
              <a:cs typeface="Helvetica Neue Light"/>
              <a:sym typeface="Helvetica Neue Light"/>
            </a:endParaRPr>
          </a:p>
          <a:p>
            <a:pPr indent="-298450" lvl="0" marL="457200" rtl="0" algn="l">
              <a:lnSpc>
                <a:spcPct val="115000"/>
              </a:lnSpc>
              <a:spcBef>
                <a:spcPts val="0"/>
              </a:spcBef>
              <a:spcAft>
                <a:spcPts val="0"/>
              </a:spcAft>
              <a:buClr>
                <a:schemeClr val="dk1"/>
              </a:buClr>
              <a:buSzPts val="1100"/>
              <a:buFont typeface="Helvetica Neue Light"/>
              <a:buChar char="●"/>
            </a:pPr>
            <a:r>
              <a:rPr lang="fi" sz="1200">
                <a:solidFill>
                  <a:schemeClr val="dk1"/>
                </a:solidFill>
                <a:latin typeface="Helvetica Neue Light"/>
                <a:ea typeface="Helvetica Neue Light"/>
                <a:cs typeface="Helvetica Neue Light"/>
                <a:sym typeface="Helvetica Neue Light"/>
              </a:rPr>
              <a:t>Travel arrangements (flight tickets, travel from airport) </a:t>
            </a:r>
            <a:endParaRPr sz="1200">
              <a:solidFill>
                <a:schemeClr val="dk1"/>
              </a:solidFill>
              <a:latin typeface="Helvetica Neue Light"/>
              <a:ea typeface="Helvetica Neue Light"/>
              <a:cs typeface="Helvetica Neue Light"/>
              <a:sym typeface="Helvetica Neue Light"/>
            </a:endParaRPr>
          </a:p>
          <a:p>
            <a:pPr indent="0" lvl="0" marL="0" rtl="0" algn="ctr">
              <a:spcBef>
                <a:spcPts val="1200"/>
              </a:spcBef>
              <a:spcAft>
                <a:spcPts val="0"/>
              </a:spcAft>
              <a:buNone/>
            </a:pPr>
            <a:r>
              <a:t/>
            </a:r>
            <a:endParaRPr sz="3700">
              <a:solidFill>
                <a:schemeClr val="lt1"/>
              </a:solidFill>
              <a:latin typeface="Helvetica Neue Light"/>
              <a:ea typeface="Helvetica Neue Light"/>
              <a:cs typeface="Helvetica Neue Light"/>
              <a:sym typeface="Helvetica Neue Light"/>
            </a:endParaRPr>
          </a:p>
        </p:txBody>
      </p:sp>
      <p:sp>
        <p:nvSpPr>
          <p:cNvPr id="75" name="Google Shape;75;p15"/>
          <p:cNvSpPr txBox="1"/>
          <p:nvPr/>
        </p:nvSpPr>
        <p:spPr>
          <a:xfrm>
            <a:off x="2468375" y="1526900"/>
            <a:ext cx="1944900" cy="2171100"/>
          </a:xfrm>
          <a:prstGeom prst="rect">
            <a:avLst/>
          </a:prstGeom>
          <a:noFill/>
          <a:ln>
            <a:noFill/>
          </a:ln>
          <a:effectLst>
            <a:outerShdw blurRad="142875" rotWithShape="0" algn="bl" dir="5400000" dist="47625">
              <a:srgbClr val="000000">
                <a:alpha val="30000"/>
              </a:srgbClr>
            </a:outerShdw>
          </a:effectLst>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lang="fi" sz="1200">
                <a:solidFill>
                  <a:schemeClr val="dk1"/>
                </a:solidFill>
                <a:latin typeface="Helvetica Neue Light"/>
                <a:ea typeface="Helvetica Neue Light"/>
                <a:cs typeface="Helvetica Neue Light"/>
                <a:sym typeface="Helvetica Neue Light"/>
              </a:rPr>
              <a:t>Finland</a:t>
            </a:r>
            <a:r>
              <a:rPr lang="fi" sz="1200">
                <a:solidFill>
                  <a:schemeClr val="dk1"/>
                </a:solidFill>
                <a:latin typeface="Helvetica Neue Light"/>
                <a:ea typeface="Helvetica Neue Light"/>
                <a:cs typeface="Helvetica Neue Light"/>
                <a:sym typeface="Helvetica Neue Light"/>
              </a:rPr>
              <a:t> </a:t>
            </a:r>
            <a:r>
              <a:rPr lang="fi" sz="1200">
                <a:solidFill>
                  <a:schemeClr val="dk1"/>
                </a:solidFill>
                <a:latin typeface="Helvetica Neue Light"/>
                <a:ea typeface="Helvetica Neue Light"/>
                <a:cs typeface="Helvetica Neue Light"/>
                <a:sym typeface="Helvetica Neue Light"/>
              </a:rPr>
              <a:t>basics</a:t>
            </a:r>
            <a:endParaRPr sz="1200">
              <a:solidFill>
                <a:schemeClr val="dk1"/>
              </a:solidFill>
              <a:latin typeface="Helvetica Neue Light"/>
              <a:ea typeface="Helvetica Neue Light"/>
              <a:cs typeface="Helvetica Neue Light"/>
              <a:sym typeface="Helvetica Neue Light"/>
            </a:endParaRPr>
          </a:p>
          <a:p>
            <a:pPr indent="-298450" lvl="0" marL="457200" rtl="0" algn="l">
              <a:lnSpc>
                <a:spcPct val="115000"/>
              </a:lnSpc>
              <a:spcBef>
                <a:spcPts val="1200"/>
              </a:spcBef>
              <a:spcAft>
                <a:spcPts val="0"/>
              </a:spcAft>
              <a:buClr>
                <a:schemeClr val="dk1"/>
              </a:buClr>
              <a:buSzPts val="1100"/>
              <a:buFont typeface="Helvetica Neue Light"/>
              <a:buChar char="●"/>
            </a:pPr>
            <a:r>
              <a:rPr lang="fi" sz="1200">
                <a:solidFill>
                  <a:schemeClr val="dk1"/>
                </a:solidFill>
                <a:latin typeface="Helvetica Neue Light"/>
                <a:ea typeface="Helvetica Neue Light"/>
                <a:cs typeface="Helvetica Neue Light"/>
                <a:sym typeface="Helvetica Neue Light"/>
              </a:rPr>
              <a:t>Cost of living</a:t>
            </a:r>
            <a:endParaRPr sz="1200">
              <a:solidFill>
                <a:schemeClr val="dk1"/>
              </a:solidFill>
              <a:latin typeface="Helvetica Neue Light"/>
              <a:ea typeface="Helvetica Neue Light"/>
              <a:cs typeface="Helvetica Neue Light"/>
              <a:sym typeface="Helvetica Neue Light"/>
            </a:endParaRPr>
          </a:p>
          <a:p>
            <a:pPr indent="-304800" lvl="0" marL="457200" rtl="0" algn="l">
              <a:lnSpc>
                <a:spcPct val="115000"/>
              </a:lnSpc>
              <a:spcBef>
                <a:spcPts val="0"/>
              </a:spcBef>
              <a:spcAft>
                <a:spcPts val="0"/>
              </a:spcAft>
              <a:buClr>
                <a:schemeClr val="dk1"/>
              </a:buClr>
              <a:buSzPts val="1200"/>
              <a:buFont typeface="Helvetica Neue Light"/>
              <a:buChar char="●"/>
            </a:pPr>
            <a:r>
              <a:rPr lang="fi" sz="1200">
                <a:solidFill>
                  <a:schemeClr val="dk1"/>
                </a:solidFill>
                <a:latin typeface="Helvetica Neue Light"/>
                <a:ea typeface="Helvetica Neue Light"/>
                <a:cs typeface="Helvetica Neue Light"/>
                <a:sym typeface="Helvetica Neue Light"/>
              </a:rPr>
              <a:t>Transport (public transport or car) </a:t>
            </a:r>
            <a:endParaRPr sz="1200">
              <a:solidFill>
                <a:schemeClr val="dk1"/>
              </a:solidFill>
              <a:latin typeface="Helvetica Neue Light"/>
              <a:ea typeface="Helvetica Neue Light"/>
              <a:cs typeface="Helvetica Neue Light"/>
              <a:sym typeface="Helvetica Neue Light"/>
            </a:endParaRPr>
          </a:p>
          <a:p>
            <a:pPr indent="-304800" lvl="0" marL="457200" rtl="0" algn="l">
              <a:lnSpc>
                <a:spcPct val="115000"/>
              </a:lnSpc>
              <a:spcBef>
                <a:spcPts val="0"/>
              </a:spcBef>
              <a:spcAft>
                <a:spcPts val="0"/>
              </a:spcAft>
              <a:buClr>
                <a:schemeClr val="dk1"/>
              </a:buClr>
              <a:buSzPts val="1200"/>
              <a:buFont typeface="Helvetica Neue Light"/>
              <a:buChar char="●"/>
            </a:pPr>
            <a:r>
              <a:rPr lang="fi" sz="1200">
                <a:solidFill>
                  <a:schemeClr val="dk1"/>
                </a:solidFill>
                <a:latin typeface="Helvetica Neue Light"/>
                <a:ea typeface="Helvetica Neue Light"/>
                <a:cs typeface="Helvetica Neue Light"/>
                <a:sym typeface="Helvetica Neue Light"/>
              </a:rPr>
              <a:t>Healthcare</a:t>
            </a:r>
            <a:r>
              <a:rPr lang="fi" sz="1200">
                <a:solidFill>
                  <a:schemeClr val="dk1"/>
                </a:solidFill>
                <a:latin typeface="Helvetica Neue Light"/>
                <a:ea typeface="Helvetica Neue Light"/>
                <a:cs typeface="Helvetica Neue Light"/>
                <a:sym typeface="Helvetica Neue Light"/>
              </a:rPr>
              <a:t> (Occupational healthcare)</a:t>
            </a:r>
            <a:endParaRPr sz="1200">
              <a:solidFill>
                <a:schemeClr val="dk1"/>
              </a:solidFill>
              <a:latin typeface="Helvetica Neue Light"/>
              <a:ea typeface="Helvetica Neue Light"/>
              <a:cs typeface="Helvetica Neue Light"/>
              <a:sym typeface="Helvetica Neue Light"/>
            </a:endParaRPr>
          </a:p>
        </p:txBody>
      </p:sp>
      <p:sp>
        <p:nvSpPr>
          <p:cNvPr id="76" name="Google Shape;76;p15"/>
          <p:cNvSpPr txBox="1"/>
          <p:nvPr/>
        </p:nvSpPr>
        <p:spPr>
          <a:xfrm>
            <a:off x="4576250" y="1526925"/>
            <a:ext cx="1944900" cy="2353500"/>
          </a:xfrm>
          <a:prstGeom prst="rect">
            <a:avLst/>
          </a:prstGeom>
          <a:noFill/>
          <a:ln>
            <a:noFill/>
          </a:ln>
          <a:effectLst>
            <a:outerShdw blurRad="142875" rotWithShape="0" algn="bl" dir="5400000" dist="47625">
              <a:srgbClr val="000000">
                <a:alpha val="30000"/>
              </a:srgbClr>
            </a:outerShdw>
          </a:effectLst>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lang="fi" sz="1200">
                <a:solidFill>
                  <a:schemeClr val="dk1"/>
                </a:solidFill>
                <a:latin typeface="Helvetica Neue Light"/>
                <a:ea typeface="Helvetica Neue Light"/>
                <a:cs typeface="Helvetica Neue Light"/>
                <a:sym typeface="Helvetica Neue Light"/>
              </a:rPr>
              <a:t>Work practises</a:t>
            </a:r>
            <a:endParaRPr sz="1200">
              <a:solidFill>
                <a:schemeClr val="dk1"/>
              </a:solidFill>
              <a:latin typeface="Helvetica Neue Light"/>
              <a:ea typeface="Helvetica Neue Light"/>
              <a:cs typeface="Helvetica Neue Light"/>
              <a:sym typeface="Helvetica Neue Light"/>
            </a:endParaRPr>
          </a:p>
          <a:p>
            <a:pPr indent="-298450" lvl="0" marL="457200" rtl="0" algn="l">
              <a:lnSpc>
                <a:spcPct val="115000"/>
              </a:lnSpc>
              <a:spcBef>
                <a:spcPts val="1200"/>
              </a:spcBef>
              <a:spcAft>
                <a:spcPts val="0"/>
              </a:spcAft>
              <a:buClr>
                <a:schemeClr val="dk1"/>
              </a:buClr>
              <a:buSzPts val="1100"/>
              <a:buFont typeface="Helvetica Neue Light"/>
              <a:buChar char="●"/>
            </a:pPr>
            <a:r>
              <a:rPr lang="fi" sz="1200">
                <a:solidFill>
                  <a:schemeClr val="dk1"/>
                </a:solidFill>
                <a:latin typeface="Helvetica Neue Light"/>
                <a:ea typeface="Helvetica Neue Light"/>
                <a:cs typeface="Helvetica Neue Light"/>
                <a:sym typeface="Helvetica Neue Light"/>
              </a:rPr>
              <a:t>Employment</a:t>
            </a:r>
            <a:r>
              <a:rPr lang="fi" sz="1200">
                <a:solidFill>
                  <a:schemeClr val="dk1"/>
                </a:solidFill>
                <a:latin typeface="Helvetica Neue Light"/>
                <a:ea typeface="Helvetica Neue Light"/>
                <a:cs typeface="Helvetica Neue Light"/>
                <a:sym typeface="Helvetica Neue Light"/>
              </a:rPr>
              <a:t> contract overview</a:t>
            </a:r>
            <a:endParaRPr sz="1200">
              <a:solidFill>
                <a:schemeClr val="dk1"/>
              </a:solidFill>
              <a:latin typeface="Helvetica Neue Light"/>
              <a:ea typeface="Helvetica Neue Light"/>
              <a:cs typeface="Helvetica Neue Light"/>
              <a:sym typeface="Helvetica Neue Light"/>
            </a:endParaRPr>
          </a:p>
          <a:p>
            <a:pPr indent="-298450" lvl="0" marL="457200" marR="0" rtl="0" algn="l">
              <a:lnSpc>
                <a:spcPct val="115000"/>
              </a:lnSpc>
              <a:spcBef>
                <a:spcPts val="0"/>
              </a:spcBef>
              <a:spcAft>
                <a:spcPts val="0"/>
              </a:spcAft>
              <a:buClr>
                <a:schemeClr val="dk1"/>
              </a:buClr>
              <a:buSzPts val="1100"/>
              <a:buFont typeface="Helvetica Neue Light"/>
              <a:buChar char="●"/>
            </a:pPr>
            <a:r>
              <a:rPr lang="fi" sz="1200">
                <a:solidFill>
                  <a:schemeClr val="dk1"/>
                </a:solidFill>
                <a:latin typeface="Helvetica Neue Light"/>
                <a:ea typeface="Helvetica Neue Light"/>
                <a:cs typeface="Helvetica Neue Light"/>
                <a:sym typeface="Helvetica Neue Light"/>
              </a:rPr>
              <a:t>Orientation before arrival</a:t>
            </a:r>
            <a:endParaRPr sz="12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200"/>
              </a:spcBef>
              <a:spcAft>
                <a:spcPts val="0"/>
              </a:spcAft>
              <a:buNone/>
            </a:pPr>
            <a:r>
              <a:t/>
            </a:r>
            <a:endParaRPr sz="1200">
              <a:solidFill>
                <a:schemeClr val="lt1"/>
              </a:solidFill>
              <a:latin typeface="Helvetica Neue Light"/>
              <a:ea typeface="Helvetica Neue Light"/>
              <a:cs typeface="Helvetica Neue Light"/>
              <a:sym typeface="Helvetica Neue Light"/>
            </a:endParaRPr>
          </a:p>
          <a:p>
            <a:pPr indent="0" lvl="0" marL="0" marR="0" rtl="0" algn="ctr">
              <a:lnSpc>
                <a:spcPct val="115000"/>
              </a:lnSpc>
              <a:spcBef>
                <a:spcPts val="1200"/>
              </a:spcBef>
              <a:spcAft>
                <a:spcPts val="0"/>
              </a:spcAft>
              <a:buNone/>
            </a:pPr>
            <a:r>
              <a:t/>
            </a:r>
            <a:endParaRPr sz="1200">
              <a:solidFill>
                <a:schemeClr val="lt1"/>
              </a:solidFill>
              <a:latin typeface="Helvetica Neue Light"/>
              <a:ea typeface="Helvetica Neue Light"/>
              <a:cs typeface="Helvetica Neue Light"/>
              <a:sym typeface="Helvetica Neue Light"/>
            </a:endParaRPr>
          </a:p>
          <a:p>
            <a:pPr indent="0" lvl="0" marL="0" marR="0" rtl="0" algn="ctr">
              <a:lnSpc>
                <a:spcPct val="115000"/>
              </a:lnSpc>
              <a:spcBef>
                <a:spcPts val="1200"/>
              </a:spcBef>
              <a:spcAft>
                <a:spcPts val="1200"/>
              </a:spcAft>
              <a:buNone/>
            </a:pPr>
            <a:r>
              <a:t/>
            </a:r>
            <a:endParaRPr sz="1200">
              <a:solidFill>
                <a:schemeClr val="lt1"/>
              </a:solidFill>
              <a:latin typeface="Helvetica Neue Light"/>
              <a:ea typeface="Helvetica Neue Light"/>
              <a:cs typeface="Helvetica Neue Light"/>
              <a:sym typeface="Helvetica Neue Light"/>
            </a:endParaRPr>
          </a:p>
        </p:txBody>
      </p:sp>
      <p:sp>
        <p:nvSpPr>
          <p:cNvPr id="77" name="Google Shape;77;p15"/>
          <p:cNvSpPr txBox="1"/>
          <p:nvPr/>
        </p:nvSpPr>
        <p:spPr>
          <a:xfrm>
            <a:off x="6671425" y="1567475"/>
            <a:ext cx="1944900" cy="1668900"/>
          </a:xfrm>
          <a:prstGeom prst="rect">
            <a:avLst/>
          </a:prstGeom>
          <a:noFill/>
          <a:ln>
            <a:noFill/>
          </a:ln>
          <a:effectLst>
            <a:outerShdw blurRad="142875" rotWithShape="0" algn="bl" dir="5400000" dist="47625">
              <a:srgbClr val="000000">
                <a:alpha val="30000"/>
              </a:srgbClr>
            </a:outerShdw>
          </a:effectLst>
        </p:spPr>
        <p:txBody>
          <a:bodyPr anchorCtr="0" anchor="t" bIns="91425" lIns="91425" spcFirstLastPara="1" rIns="91425" wrap="square" tIns="91425">
            <a:noAutofit/>
          </a:bodyPr>
          <a:lstStyle/>
          <a:p>
            <a:pPr indent="0" lvl="0" marL="0" rtl="0" algn="ctr">
              <a:lnSpc>
                <a:spcPct val="115000"/>
              </a:lnSpc>
              <a:spcBef>
                <a:spcPts val="1200"/>
              </a:spcBef>
              <a:spcAft>
                <a:spcPts val="0"/>
              </a:spcAft>
              <a:buClr>
                <a:schemeClr val="dk1"/>
              </a:buClr>
              <a:buSzPts val="1100"/>
              <a:buFont typeface="Arial"/>
              <a:buNone/>
            </a:pPr>
            <a:r>
              <a:rPr lang="fi" sz="1200">
                <a:solidFill>
                  <a:schemeClr val="dk1"/>
                </a:solidFill>
                <a:latin typeface="Helvetica Neue Light"/>
                <a:ea typeface="Helvetica Neue Light"/>
                <a:cs typeface="Helvetica Neue Light"/>
                <a:sym typeface="Helvetica Neue Light"/>
              </a:rPr>
              <a:t>Contact persons</a:t>
            </a:r>
            <a:endParaRPr sz="1200">
              <a:solidFill>
                <a:schemeClr val="dk1"/>
              </a:solidFill>
              <a:latin typeface="Helvetica Neue Light"/>
              <a:ea typeface="Helvetica Neue Light"/>
              <a:cs typeface="Helvetica Neue Light"/>
              <a:sym typeface="Helvetica Neue Light"/>
            </a:endParaRPr>
          </a:p>
          <a:p>
            <a:pPr indent="-298450" lvl="0" marL="457200" rtl="0" algn="l">
              <a:lnSpc>
                <a:spcPct val="115000"/>
              </a:lnSpc>
              <a:spcBef>
                <a:spcPts val="1200"/>
              </a:spcBef>
              <a:spcAft>
                <a:spcPts val="0"/>
              </a:spcAft>
              <a:buClr>
                <a:schemeClr val="dk1"/>
              </a:buClr>
              <a:buSzPts val="1100"/>
              <a:buFont typeface="Helvetica Neue Light"/>
              <a:buChar char="●"/>
            </a:pPr>
            <a:r>
              <a:rPr lang="fi" sz="1200">
                <a:solidFill>
                  <a:schemeClr val="dk1"/>
                </a:solidFill>
                <a:latin typeface="Helvetica Neue Light"/>
                <a:ea typeface="Helvetica Neue Light"/>
                <a:cs typeface="Helvetica Neue Light"/>
                <a:sym typeface="Helvetica Neue Light"/>
              </a:rPr>
              <a:t>Team manager</a:t>
            </a:r>
            <a:endParaRPr sz="1200">
              <a:solidFill>
                <a:schemeClr val="dk1"/>
              </a:solidFill>
              <a:latin typeface="Helvetica Neue Light"/>
              <a:ea typeface="Helvetica Neue Light"/>
              <a:cs typeface="Helvetica Neue Light"/>
              <a:sym typeface="Helvetica Neue Light"/>
            </a:endParaRPr>
          </a:p>
          <a:p>
            <a:pPr indent="-298450" lvl="0" marL="457200" rtl="0" algn="l">
              <a:lnSpc>
                <a:spcPct val="115000"/>
              </a:lnSpc>
              <a:spcBef>
                <a:spcPts val="0"/>
              </a:spcBef>
              <a:spcAft>
                <a:spcPts val="0"/>
              </a:spcAft>
              <a:buClr>
                <a:schemeClr val="dk1"/>
              </a:buClr>
              <a:buSzPts val="1100"/>
              <a:buFont typeface="Helvetica Neue Light"/>
              <a:buChar char="●"/>
            </a:pPr>
            <a:r>
              <a:rPr lang="fi" sz="1200">
                <a:solidFill>
                  <a:schemeClr val="dk1"/>
                </a:solidFill>
                <a:latin typeface="Helvetica Neue Light"/>
                <a:ea typeface="Helvetica Neue Light"/>
                <a:cs typeface="Helvetica Neue Light"/>
                <a:sym typeface="Helvetica Neue Light"/>
              </a:rPr>
              <a:t>HR</a:t>
            </a:r>
            <a:endParaRPr sz="1200">
              <a:solidFill>
                <a:schemeClr val="dk1"/>
              </a:solidFill>
              <a:latin typeface="Helvetica Neue Light"/>
              <a:ea typeface="Helvetica Neue Light"/>
              <a:cs typeface="Helvetica Neue Light"/>
              <a:sym typeface="Helvetica Neue Light"/>
            </a:endParaRPr>
          </a:p>
          <a:p>
            <a:pPr indent="-298450" lvl="0" marL="457200" rtl="0" algn="l">
              <a:lnSpc>
                <a:spcPct val="115000"/>
              </a:lnSpc>
              <a:spcBef>
                <a:spcPts val="0"/>
              </a:spcBef>
              <a:spcAft>
                <a:spcPts val="0"/>
              </a:spcAft>
              <a:buClr>
                <a:schemeClr val="dk1"/>
              </a:buClr>
              <a:buSzPts val="1100"/>
              <a:buFont typeface="Helvetica Neue Light"/>
              <a:buChar char="●"/>
            </a:pPr>
            <a:r>
              <a:rPr lang="fi" sz="1200">
                <a:solidFill>
                  <a:schemeClr val="dk1"/>
                </a:solidFill>
                <a:latin typeface="Helvetica Neue Light"/>
                <a:ea typeface="Helvetica Neue Light"/>
                <a:cs typeface="Helvetica Neue Light"/>
                <a:sym typeface="Helvetica Neue Light"/>
              </a:rPr>
              <a:t>Relocation services (if included)</a:t>
            </a:r>
            <a:endParaRPr sz="1200">
              <a:solidFill>
                <a:schemeClr val="dk1"/>
              </a:solidFill>
              <a:latin typeface="Helvetica Neue Light"/>
              <a:ea typeface="Helvetica Neue Light"/>
              <a:cs typeface="Helvetica Neue Light"/>
              <a:sym typeface="Helvetica Neue Light"/>
            </a:endParaRPr>
          </a:p>
          <a:p>
            <a:pPr indent="0" lvl="0" marL="0" rtl="0" algn="ctr">
              <a:spcBef>
                <a:spcPts val="1200"/>
              </a:spcBef>
              <a:spcAft>
                <a:spcPts val="0"/>
              </a:spcAft>
              <a:buNone/>
            </a:pPr>
            <a:r>
              <a:t/>
            </a:r>
            <a:endParaRPr sz="3700">
              <a:solidFill>
                <a:schemeClr val="lt1"/>
              </a:solidFill>
              <a:latin typeface="Helvetica Neue Light"/>
              <a:ea typeface="Helvetica Neue Light"/>
              <a:cs typeface="Helvetica Neue Light"/>
              <a:sym typeface="Helvetica Neue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 name="Shape 81"/>
        <p:cNvGrpSpPr/>
        <p:nvPr/>
      </p:nvGrpSpPr>
      <p:grpSpPr>
        <a:xfrm>
          <a:off x="0" y="0"/>
          <a:ext cx="0" cy="0"/>
          <a:chOff x="0" y="0"/>
          <a:chExt cx="0" cy="0"/>
        </a:xfrm>
      </p:grpSpPr>
      <p:sp>
        <p:nvSpPr>
          <p:cNvPr id="82" name="Google Shape;8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i"/>
              <a:t>Emergency</a:t>
            </a:r>
            <a:endParaRPr/>
          </a:p>
        </p:txBody>
      </p:sp>
      <p:sp>
        <p:nvSpPr>
          <p:cNvPr id="83" name="Google Shape;8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7"/>
          <p:cNvSpPr txBox="1"/>
          <p:nvPr>
            <p:ph type="title"/>
          </p:nvPr>
        </p:nvSpPr>
        <p:spPr>
          <a:xfrm>
            <a:off x="311700" y="445025"/>
            <a:ext cx="8666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fi" sz="2900">
                <a:latin typeface="Helvetica Neue"/>
                <a:ea typeface="Helvetica Neue"/>
                <a:cs typeface="Helvetica Neue"/>
                <a:sym typeface="Helvetica Neue"/>
              </a:rPr>
              <a:t>VISA and residence permit for employment</a:t>
            </a:r>
            <a:endParaRPr sz="2020">
              <a:latin typeface="Helvetica Neue Light"/>
              <a:ea typeface="Helvetica Neue Light"/>
              <a:cs typeface="Helvetica Neue Light"/>
              <a:sym typeface="Helvetica Neue Light"/>
            </a:endParaRPr>
          </a:p>
        </p:txBody>
      </p:sp>
      <p:sp>
        <p:nvSpPr>
          <p:cNvPr id="90" name="Google Shape;90;p17"/>
          <p:cNvSpPr txBox="1"/>
          <p:nvPr>
            <p:ph idx="1" type="body"/>
          </p:nvPr>
        </p:nvSpPr>
        <p:spPr>
          <a:xfrm>
            <a:off x="311700" y="1152475"/>
            <a:ext cx="34266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935"/>
              <a:buNone/>
            </a:pPr>
            <a:r>
              <a:rPr lang="fi" sz="1130">
                <a:solidFill>
                  <a:schemeClr val="dk1"/>
                </a:solidFill>
                <a:latin typeface="Helvetica Neue Light"/>
                <a:ea typeface="Helvetica Neue Light"/>
                <a:cs typeface="Helvetica Neue Light"/>
                <a:sym typeface="Helvetica Neue Light"/>
              </a:rPr>
              <a:t>Before relocating to Finland, ensure you have the correct documentation to live and work legally.</a:t>
            </a:r>
            <a:endParaRPr sz="1130">
              <a:solidFill>
                <a:schemeClr val="dk1"/>
              </a:solidFill>
              <a:latin typeface="Helvetica Neue Light"/>
              <a:ea typeface="Helvetica Neue Light"/>
              <a:cs typeface="Helvetica Neue Light"/>
              <a:sym typeface="Helvetica Neue Light"/>
            </a:endParaRPr>
          </a:p>
          <a:p>
            <a:pPr indent="0" lvl="0" marL="0" rtl="0" algn="l">
              <a:lnSpc>
                <a:spcPct val="95000"/>
              </a:lnSpc>
              <a:spcBef>
                <a:spcPts val="1200"/>
              </a:spcBef>
              <a:spcAft>
                <a:spcPts val="0"/>
              </a:spcAft>
              <a:buSzPts val="935"/>
              <a:buNone/>
            </a:pPr>
            <a:r>
              <a:rPr b="1" lang="fi" sz="1130">
                <a:solidFill>
                  <a:schemeClr val="dk1"/>
                </a:solidFill>
                <a:latin typeface="Helvetica Neue"/>
                <a:ea typeface="Helvetica Neue"/>
                <a:cs typeface="Helvetica Neue"/>
                <a:sym typeface="Helvetica Neue"/>
              </a:rPr>
              <a:t>Who needs a residence permit?</a:t>
            </a:r>
            <a:endParaRPr b="1" sz="1130">
              <a:solidFill>
                <a:schemeClr val="dk1"/>
              </a:solidFill>
              <a:latin typeface="Helvetica Neue"/>
              <a:ea typeface="Helvetica Neue"/>
              <a:cs typeface="Helvetica Neue"/>
              <a:sym typeface="Helvetica Neue"/>
            </a:endParaRPr>
          </a:p>
          <a:p>
            <a:pPr indent="-300355" lvl="0" marL="457200" rtl="0" algn="l">
              <a:lnSpc>
                <a:spcPct val="95000"/>
              </a:lnSpc>
              <a:spcBef>
                <a:spcPts val="1200"/>
              </a:spcBef>
              <a:spcAft>
                <a:spcPts val="0"/>
              </a:spcAft>
              <a:buClr>
                <a:schemeClr val="dk1"/>
              </a:buClr>
              <a:buSzPts val="1130"/>
              <a:buFont typeface="Helvetica Neue Light"/>
              <a:buChar char="●"/>
            </a:pPr>
            <a:r>
              <a:rPr lang="fi" sz="1130">
                <a:solidFill>
                  <a:schemeClr val="dk1"/>
                </a:solidFill>
                <a:latin typeface="Helvetica Neue Light"/>
                <a:ea typeface="Helvetica Neue Light"/>
                <a:cs typeface="Helvetica Neue Light"/>
                <a:sym typeface="Helvetica Neue Light"/>
              </a:rPr>
              <a:t>EU/EEA &amp; Swiss citizens: No visa required. Registration may be required for stays over 90 days.</a:t>
            </a:r>
            <a:endParaRPr sz="1130">
              <a:solidFill>
                <a:schemeClr val="dk1"/>
              </a:solidFill>
              <a:latin typeface="Helvetica Neue Light"/>
              <a:ea typeface="Helvetica Neue Light"/>
              <a:cs typeface="Helvetica Neue Light"/>
              <a:sym typeface="Helvetica Neue Light"/>
            </a:endParaRPr>
          </a:p>
          <a:p>
            <a:pPr indent="-300355" lvl="0" marL="457200" rtl="0" algn="l">
              <a:lnSpc>
                <a:spcPct val="95000"/>
              </a:lnSpc>
              <a:spcBef>
                <a:spcPts val="0"/>
              </a:spcBef>
              <a:spcAft>
                <a:spcPts val="0"/>
              </a:spcAft>
              <a:buClr>
                <a:schemeClr val="dk1"/>
              </a:buClr>
              <a:buSzPts val="1130"/>
              <a:buFont typeface="Helvetica Neue Light"/>
              <a:buChar char="●"/>
            </a:pPr>
            <a:r>
              <a:rPr lang="fi" sz="1130">
                <a:solidFill>
                  <a:schemeClr val="dk1"/>
                </a:solidFill>
                <a:latin typeface="Helvetica Neue Light"/>
                <a:ea typeface="Helvetica Neue Light"/>
                <a:cs typeface="Helvetica Neue Light"/>
                <a:sym typeface="Helvetica Neue Light"/>
              </a:rPr>
              <a:t>Non-EU/EEA citizens: A residence permit for employment is generally required before arriving in Finland.</a:t>
            </a:r>
            <a:endParaRPr sz="1130">
              <a:solidFill>
                <a:schemeClr val="dk1"/>
              </a:solidFill>
              <a:latin typeface="Helvetica Neue Light"/>
              <a:ea typeface="Helvetica Neue Light"/>
              <a:cs typeface="Helvetica Neue Light"/>
              <a:sym typeface="Helvetica Neue Light"/>
            </a:endParaRPr>
          </a:p>
        </p:txBody>
      </p:sp>
      <p:sp>
        <p:nvSpPr>
          <p:cNvPr id="91" name="Google Shape;9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latin typeface="Helvetica Neue Light"/>
                <a:ea typeface="Helvetica Neue Light"/>
                <a:cs typeface="Helvetica Neue Light"/>
                <a:sym typeface="Helvetica Neue Light"/>
              </a:rPr>
              <a:t>‹#›</a:t>
            </a:fld>
            <a:endParaRPr>
              <a:latin typeface="Helvetica Neue Light"/>
              <a:ea typeface="Helvetica Neue Light"/>
              <a:cs typeface="Helvetica Neue Light"/>
              <a:sym typeface="Helvetica Neue Light"/>
            </a:endParaRPr>
          </a:p>
        </p:txBody>
      </p:sp>
      <p:sp>
        <p:nvSpPr>
          <p:cNvPr id="92" name="Google Shape;92;p17"/>
          <p:cNvSpPr txBox="1"/>
          <p:nvPr>
            <p:ph idx="1" type="body"/>
          </p:nvPr>
        </p:nvSpPr>
        <p:spPr>
          <a:xfrm>
            <a:off x="4238050" y="1152475"/>
            <a:ext cx="3426600" cy="22410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None/>
            </a:pPr>
            <a:r>
              <a:rPr b="1" lang="fi" sz="1300">
                <a:solidFill>
                  <a:schemeClr val="dk1"/>
                </a:solidFill>
                <a:latin typeface="Helvetica Neue"/>
                <a:ea typeface="Helvetica Neue"/>
                <a:cs typeface="Helvetica Neue"/>
                <a:sym typeface="Helvetica Neue"/>
              </a:rPr>
              <a:t>Application Process</a:t>
            </a:r>
            <a:endParaRPr b="1" sz="1300">
              <a:solidFill>
                <a:schemeClr val="dk1"/>
              </a:solidFill>
              <a:latin typeface="Helvetica Neue"/>
              <a:ea typeface="Helvetica Neue"/>
              <a:cs typeface="Helvetica Neue"/>
              <a:sym typeface="Helvetica Neue"/>
            </a:endParaRPr>
          </a:p>
          <a:p>
            <a:pPr indent="0" lvl="0" marL="457200" rtl="0" algn="l">
              <a:spcBef>
                <a:spcPts val="1200"/>
              </a:spcBef>
              <a:spcAft>
                <a:spcPts val="0"/>
              </a:spcAft>
              <a:buNone/>
            </a:pPr>
            <a:r>
              <a:rPr lang="fi" sz="1100">
                <a:solidFill>
                  <a:schemeClr val="dk1"/>
                </a:solidFill>
                <a:latin typeface="Helvetica Neue Light"/>
                <a:ea typeface="Helvetica Neue Light"/>
                <a:cs typeface="Helvetica Neue Light"/>
                <a:sym typeface="Helvetica Neue Light"/>
              </a:rPr>
              <a:t>1. Receive your employment contract</a:t>
            </a:r>
            <a:endParaRPr sz="1100">
              <a:solidFill>
                <a:schemeClr val="dk1"/>
              </a:solidFill>
              <a:latin typeface="Helvetica Neue Light"/>
              <a:ea typeface="Helvetica Neue Light"/>
              <a:cs typeface="Helvetica Neue Light"/>
              <a:sym typeface="Helvetica Neue Light"/>
            </a:endParaRPr>
          </a:p>
          <a:p>
            <a:pPr indent="0" lvl="0" marL="457200" rtl="0" algn="l">
              <a:spcBef>
                <a:spcPts val="1200"/>
              </a:spcBef>
              <a:spcAft>
                <a:spcPts val="0"/>
              </a:spcAft>
              <a:buNone/>
            </a:pPr>
            <a:r>
              <a:rPr lang="fi" sz="1100" u="sng">
                <a:solidFill>
                  <a:schemeClr val="hlink"/>
                </a:solidFill>
                <a:latin typeface="Helvetica Neue Light"/>
                <a:ea typeface="Helvetica Neue Light"/>
                <a:cs typeface="Helvetica Neue Light"/>
                <a:sym typeface="Helvetica Neue Light"/>
                <a:hlinkClick r:id="rId4"/>
              </a:rPr>
              <a:t>2. Apply for the appropriate residence permit</a:t>
            </a:r>
            <a:endParaRPr sz="1100">
              <a:solidFill>
                <a:schemeClr val="dk1"/>
              </a:solidFill>
              <a:latin typeface="Helvetica Neue Light"/>
              <a:ea typeface="Helvetica Neue Light"/>
              <a:cs typeface="Helvetica Neue Light"/>
              <a:sym typeface="Helvetica Neue Light"/>
            </a:endParaRPr>
          </a:p>
          <a:p>
            <a:pPr indent="0" lvl="0" marL="457200" rtl="0" algn="l">
              <a:spcBef>
                <a:spcPts val="1200"/>
              </a:spcBef>
              <a:spcAft>
                <a:spcPts val="0"/>
              </a:spcAft>
              <a:buNone/>
            </a:pPr>
            <a:r>
              <a:rPr lang="fi" sz="1100">
                <a:solidFill>
                  <a:schemeClr val="dk1"/>
                </a:solidFill>
                <a:latin typeface="Helvetica Neue Light"/>
                <a:ea typeface="Helvetica Neue Light"/>
                <a:cs typeface="Helvetica Neue Light"/>
                <a:sym typeface="Helvetica Neue Light"/>
              </a:rPr>
              <a:t>3. Verify your identity at a Finnish embassy or service point</a:t>
            </a:r>
            <a:endParaRPr sz="1100">
              <a:solidFill>
                <a:schemeClr val="dk1"/>
              </a:solidFill>
              <a:latin typeface="Helvetica Neue Light"/>
              <a:ea typeface="Helvetica Neue Light"/>
              <a:cs typeface="Helvetica Neue Light"/>
              <a:sym typeface="Helvetica Neue Light"/>
            </a:endParaRPr>
          </a:p>
          <a:p>
            <a:pPr indent="0" lvl="0" marL="457200" rtl="0" algn="l">
              <a:spcBef>
                <a:spcPts val="1200"/>
              </a:spcBef>
              <a:spcAft>
                <a:spcPts val="0"/>
              </a:spcAft>
              <a:buNone/>
            </a:pPr>
            <a:r>
              <a:rPr lang="fi" sz="1100">
                <a:solidFill>
                  <a:schemeClr val="dk1"/>
                </a:solidFill>
                <a:latin typeface="Helvetica Neue Light"/>
                <a:ea typeface="Helvetica Neue Light"/>
                <a:cs typeface="Helvetica Neue Light"/>
                <a:sym typeface="Helvetica Neue Light"/>
              </a:rPr>
              <a:t>4. Wait for your application decision</a:t>
            </a:r>
            <a:endParaRPr sz="1100">
              <a:solidFill>
                <a:schemeClr val="dk1"/>
              </a:solidFill>
              <a:latin typeface="Helvetica Neue Light"/>
              <a:ea typeface="Helvetica Neue Light"/>
              <a:cs typeface="Helvetica Neue Light"/>
              <a:sym typeface="Helvetica Neue Light"/>
            </a:endParaRPr>
          </a:p>
          <a:p>
            <a:pPr indent="0" lvl="0" marL="457200" rtl="0" algn="l">
              <a:spcBef>
                <a:spcPts val="1200"/>
              </a:spcBef>
              <a:spcAft>
                <a:spcPts val="1200"/>
              </a:spcAft>
              <a:buNone/>
            </a:pPr>
            <a:r>
              <a:rPr lang="fi" sz="1100">
                <a:solidFill>
                  <a:schemeClr val="dk1"/>
                </a:solidFill>
                <a:latin typeface="Helvetica Neue Light"/>
                <a:ea typeface="Helvetica Neue Light"/>
                <a:cs typeface="Helvetica Neue Light"/>
                <a:sym typeface="Helvetica Neue Light"/>
              </a:rPr>
              <a:t>5. Travel to Finland after approval</a:t>
            </a:r>
            <a:endParaRPr>
              <a:solidFill>
                <a:schemeClr val="dk1"/>
              </a:solidFill>
              <a:latin typeface="Helvetica Neue Light"/>
              <a:ea typeface="Helvetica Neue Light"/>
              <a:cs typeface="Helvetica Neue Light"/>
              <a:sym typeface="Helvetica Neue Light"/>
            </a:endParaRPr>
          </a:p>
        </p:txBody>
      </p:sp>
      <p:sp>
        <p:nvSpPr>
          <p:cNvPr id="93" name="Google Shape;93;p17"/>
          <p:cNvSpPr txBox="1"/>
          <p:nvPr/>
        </p:nvSpPr>
        <p:spPr>
          <a:xfrm>
            <a:off x="4238050" y="4129025"/>
            <a:ext cx="3624300" cy="960300"/>
          </a:xfrm>
          <a:prstGeom prst="rect">
            <a:avLst/>
          </a:prstGeom>
          <a:solidFill>
            <a:srgbClr val="4CD6E1">
              <a:alpha val="4366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15000"/>
              </a:lnSpc>
              <a:spcBef>
                <a:spcPts val="1400"/>
              </a:spcBef>
              <a:spcAft>
                <a:spcPts val="0"/>
              </a:spcAft>
              <a:buNone/>
            </a:pPr>
            <a:r>
              <a:rPr lang="fi" sz="1100">
                <a:solidFill>
                  <a:schemeClr val="dk1"/>
                </a:solidFill>
                <a:latin typeface="Helvetica Neue Light"/>
                <a:ea typeface="Helvetica Neue Light"/>
                <a:cs typeface="Helvetica Neue Light"/>
                <a:sym typeface="Helvetica Neue Light"/>
              </a:rPr>
              <a:t>💡</a:t>
            </a:r>
            <a:r>
              <a:rPr b="1" lang="fi" sz="1000">
                <a:solidFill>
                  <a:schemeClr val="dk1"/>
                </a:solidFill>
                <a:latin typeface="Helvetica Neue"/>
                <a:ea typeface="Helvetica Neue"/>
                <a:cs typeface="Helvetica Neue"/>
                <a:sym typeface="Helvetica Neue"/>
              </a:rPr>
              <a:t> </a:t>
            </a:r>
            <a:r>
              <a:rPr b="1" lang="fi" sz="1000">
                <a:solidFill>
                  <a:schemeClr val="dk1"/>
                </a:solidFill>
                <a:latin typeface="Helvetica Neue"/>
                <a:ea typeface="Helvetica Neue"/>
                <a:cs typeface="Helvetica Neue"/>
                <a:sym typeface="Helvetica Neue"/>
              </a:rPr>
              <a:t>Remember</a:t>
            </a:r>
            <a:endParaRPr b="1" sz="1600">
              <a:solidFill>
                <a:schemeClr val="dk1"/>
              </a:solidFill>
              <a:latin typeface="Helvetica Neue"/>
              <a:ea typeface="Helvetica Neue"/>
              <a:cs typeface="Helvetica Neue"/>
              <a:sym typeface="Helvetica Neue"/>
            </a:endParaRPr>
          </a:p>
          <a:p>
            <a:pPr indent="-279400" lvl="0" marL="457200" marR="0" rtl="0" algn="l">
              <a:lnSpc>
                <a:spcPct val="100000"/>
              </a:lnSpc>
              <a:spcBef>
                <a:spcPts val="400"/>
              </a:spcBef>
              <a:spcAft>
                <a:spcPts val="0"/>
              </a:spcAft>
              <a:buClr>
                <a:schemeClr val="dk1"/>
              </a:buClr>
              <a:buSzPts val="800"/>
              <a:buFont typeface="Helvetica Neue"/>
              <a:buChar char="●"/>
            </a:pPr>
            <a:r>
              <a:rPr lang="fi" sz="700">
                <a:solidFill>
                  <a:schemeClr val="dk1"/>
                </a:solidFill>
                <a:latin typeface="Helvetica Neue Light"/>
                <a:ea typeface="Helvetica Neue Light"/>
                <a:cs typeface="Helvetica Neue Light"/>
                <a:sym typeface="Helvetica Neue Light"/>
              </a:rPr>
              <a:t>Ensure your passport is valid.</a:t>
            </a:r>
            <a:endParaRPr sz="700">
              <a:solidFill>
                <a:schemeClr val="dk1"/>
              </a:solidFill>
              <a:latin typeface="Helvetica Neue Light"/>
              <a:ea typeface="Helvetica Neue Light"/>
              <a:cs typeface="Helvetica Neue Light"/>
              <a:sym typeface="Helvetica Neue Light"/>
            </a:endParaRPr>
          </a:p>
          <a:p>
            <a:pPr indent="-279400" lvl="0" marL="457200" rtl="0" algn="l">
              <a:lnSpc>
                <a:spcPct val="115000"/>
              </a:lnSpc>
              <a:spcBef>
                <a:spcPts val="0"/>
              </a:spcBef>
              <a:spcAft>
                <a:spcPts val="0"/>
              </a:spcAft>
              <a:buClr>
                <a:schemeClr val="dk1"/>
              </a:buClr>
              <a:buSzPts val="800"/>
              <a:buFont typeface="Helvetica Neue"/>
              <a:buChar char="●"/>
            </a:pPr>
            <a:r>
              <a:rPr lang="fi" sz="700">
                <a:solidFill>
                  <a:schemeClr val="dk1"/>
                </a:solidFill>
                <a:latin typeface="Helvetica Neue Light"/>
                <a:ea typeface="Helvetica Neue Light"/>
                <a:cs typeface="Helvetica Neue Light"/>
                <a:sym typeface="Helvetica Neue Light"/>
              </a:rPr>
              <a:t>Apply well before your planned start date.</a:t>
            </a:r>
            <a:endParaRPr sz="700">
              <a:solidFill>
                <a:schemeClr val="dk1"/>
              </a:solidFill>
              <a:latin typeface="Helvetica Neue Light"/>
              <a:ea typeface="Helvetica Neue Light"/>
              <a:cs typeface="Helvetica Neue Light"/>
              <a:sym typeface="Helvetica Neue Light"/>
            </a:endParaRPr>
          </a:p>
          <a:p>
            <a:pPr indent="-279400" lvl="0" marL="457200" rtl="0" algn="l">
              <a:lnSpc>
                <a:spcPct val="115000"/>
              </a:lnSpc>
              <a:spcBef>
                <a:spcPts val="0"/>
              </a:spcBef>
              <a:spcAft>
                <a:spcPts val="0"/>
              </a:spcAft>
              <a:buClr>
                <a:schemeClr val="dk1"/>
              </a:buClr>
              <a:buSzPts val="800"/>
              <a:buFont typeface="Helvetica Neue"/>
              <a:buChar char="●"/>
            </a:pPr>
            <a:r>
              <a:rPr lang="fi" sz="700">
                <a:solidFill>
                  <a:schemeClr val="dk1"/>
                </a:solidFill>
                <a:latin typeface="Helvetica Neue Light"/>
                <a:ea typeface="Helvetica Neue Light"/>
                <a:cs typeface="Helvetica Neue Light"/>
                <a:sym typeface="Helvetica Neue Light"/>
              </a:rPr>
              <a:t>Keep your residence permit valid throughout your employment.</a:t>
            </a:r>
            <a:endParaRPr sz="700">
              <a:solidFill>
                <a:schemeClr val="dk1"/>
              </a:solidFill>
              <a:latin typeface="Helvetica Neue Light"/>
              <a:ea typeface="Helvetica Neue Light"/>
              <a:cs typeface="Helvetica Neue Light"/>
              <a:sym typeface="Helvetica Neue Light"/>
            </a:endParaRPr>
          </a:p>
          <a:p>
            <a:pPr indent="-279400" lvl="0" marL="457200" rtl="0" algn="l">
              <a:lnSpc>
                <a:spcPct val="115000"/>
              </a:lnSpc>
              <a:spcBef>
                <a:spcPts val="0"/>
              </a:spcBef>
              <a:spcAft>
                <a:spcPts val="0"/>
              </a:spcAft>
              <a:buClr>
                <a:schemeClr val="dk1"/>
              </a:buClr>
              <a:buSzPts val="800"/>
              <a:buFont typeface="Helvetica Neue"/>
              <a:buChar char="●"/>
            </a:pPr>
            <a:r>
              <a:rPr lang="fi" sz="700">
                <a:solidFill>
                  <a:schemeClr val="dk1"/>
                </a:solidFill>
                <a:latin typeface="Helvetica Neue Light"/>
                <a:ea typeface="Helvetica Neue Light"/>
                <a:cs typeface="Helvetica Neue Light"/>
                <a:sym typeface="Helvetica Neue Light"/>
              </a:rPr>
              <a:t>HR is available to support you during the process.</a:t>
            </a:r>
            <a:endParaRPr sz="800">
              <a:solidFill>
                <a:schemeClr val="dk1"/>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7" name="Shape 97"/>
        <p:cNvGrpSpPr/>
        <p:nvPr/>
      </p:nvGrpSpPr>
      <p:grpSpPr>
        <a:xfrm>
          <a:off x="0" y="0"/>
          <a:ext cx="0" cy="0"/>
          <a:chOff x="0" y="0"/>
          <a:chExt cx="0" cy="0"/>
        </a:xfrm>
      </p:grpSpPr>
      <p:sp>
        <p:nvSpPr>
          <p:cNvPr id="98" name="Google Shape;98;p18"/>
          <p:cNvSpPr txBox="1"/>
          <p:nvPr>
            <p:ph type="title"/>
          </p:nvPr>
        </p:nvSpPr>
        <p:spPr>
          <a:xfrm>
            <a:off x="311700" y="460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fi" sz="2900">
                <a:latin typeface="Helvetica Neue"/>
                <a:ea typeface="Helvetica Neue"/>
                <a:cs typeface="Helvetica Neue"/>
                <a:sym typeface="Helvetica Neue"/>
              </a:rPr>
              <a:t>Employment</a:t>
            </a:r>
            <a:r>
              <a:rPr b="1" lang="fi" sz="2900">
                <a:latin typeface="Helvetica Neue"/>
                <a:ea typeface="Helvetica Neue"/>
                <a:cs typeface="Helvetica Neue"/>
                <a:sym typeface="Helvetica Neue"/>
              </a:rPr>
              <a:t> contract</a:t>
            </a:r>
            <a:endParaRPr/>
          </a:p>
        </p:txBody>
      </p:sp>
      <p:sp>
        <p:nvSpPr>
          <p:cNvPr id="99" name="Google Shape;99;p18"/>
          <p:cNvSpPr txBox="1"/>
          <p:nvPr>
            <p:ph idx="1" type="body"/>
          </p:nvPr>
        </p:nvSpPr>
        <p:spPr>
          <a:xfrm>
            <a:off x="621100" y="1032950"/>
            <a:ext cx="41217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lang="fi" sz="1100">
                <a:solidFill>
                  <a:schemeClr val="dk1"/>
                </a:solidFill>
                <a:latin typeface="Helvetica Neue Light"/>
                <a:ea typeface="Helvetica Neue Light"/>
                <a:cs typeface="Helvetica Neue Light"/>
                <a:sym typeface="Helvetica Neue Light"/>
              </a:rPr>
              <a:t>Before signing your employment contract, make sure you understand the following:</a:t>
            </a:r>
            <a:endParaRPr sz="11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Clr>
                <a:schemeClr val="dk1"/>
              </a:buClr>
              <a:buSzPts val="1100"/>
              <a:buFont typeface="Arial"/>
              <a:buNone/>
            </a:pPr>
            <a:r>
              <a:rPr b="1" lang="fi" sz="1100">
                <a:solidFill>
                  <a:schemeClr val="dk1"/>
                </a:solidFill>
                <a:latin typeface="Helvetica Neue"/>
                <a:ea typeface="Helvetica Neue"/>
                <a:cs typeface="Helvetica Neue"/>
                <a:sym typeface="Helvetica Neue"/>
              </a:rPr>
              <a:t>Job title &amp; responsibilities</a:t>
            </a:r>
            <a:br>
              <a:rPr lang="fi" sz="1100">
                <a:solidFill>
                  <a:schemeClr val="dk1"/>
                </a:solidFill>
                <a:latin typeface="Helvetica Neue Light"/>
                <a:ea typeface="Helvetica Neue Light"/>
                <a:cs typeface="Helvetica Neue Light"/>
                <a:sym typeface="Helvetica Neue Light"/>
              </a:rPr>
            </a:br>
            <a:r>
              <a:rPr lang="fi" sz="1100">
                <a:solidFill>
                  <a:schemeClr val="dk1"/>
                </a:solidFill>
                <a:latin typeface="Helvetica Neue Light"/>
                <a:ea typeface="Helvetica Neue Light"/>
                <a:cs typeface="Helvetica Neue Light"/>
                <a:sym typeface="Helvetica Neue Light"/>
              </a:rPr>
              <a:t> Confirm your role, reporting line and main duties.</a:t>
            </a:r>
            <a:endParaRPr sz="11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Clr>
                <a:schemeClr val="dk1"/>
              </a:buClr>
              <a:buSzPts val="1100"/>
              <a:buFont typeface="Arial"/>
              <a:buNone/>
            </a:pPr>
            <a:r>
              <a:rPr b="1" lang="fi" sz="1100">
                <a:solidFill>
                  <a:schemeClr val="dk1"/>
                </a:solidFill>
                <a:latin typeface="Helvetica Neue"/>
                <a:ea typeface="Helvetica Neue"/>
                <a:cs typeface="Helvetica Neue"/>
                <a:sym typeface="Helvetica Neue"/>
              </a:rPr>
              <a:t>Employment type</a:t>
            </a:r>
            <a:br>
              <a:rPr lang="fi" sz="1100">
                <a:solidFill>
                  <a:schemeClr val="dk1"/>
                </a:solidFill>
                <a:latin typeface="Helvetica Neue Light"/>
                <a:ea typeface="Helvetica Neue Light"/>
                <a:cs typeface="Helvetica Neue Light"/>
                <a:sym typeface="Helvetica Neue Light"/>
              </a:rPr>
            </a:br>
            <a:r>
              <a:rPr lang="fi" sz="1100">
                <a:solidFill>
                  <a:schemeClr val="dk1"/>
                </a:solidFill>
                <a:latin typeface="Helvetica Neue Light"/>
                <a:ea typeface="Helvetica Neue Light"/>
                <a:cs typeface="Helvetica Neue Light"/>
                <a:sym typeface="Helvetica Neue Light"/>
              </a:rPr>
              <a:t> Permanent or fixed-term, full-time or part-time.</a:t>
            </a:r>
            <a:endParaRPr sz="11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Clr>
                <a:schemeClr val="dk1"/>
              </a:buClr>
              <a:buSzPts val="1100"/>
              <a:buFont typeface="Arial"/>
              <a:buNone/>
            </a:pPr>
            <a:r>
              <a:rPr b="1" lang="fi" sz="1100">
                <a:solidFill>
                  <a:schemeClr val="dk1"/>
                </a:solidFill>
                <a:latin typeface="Helvetica Neue"/>
                <a:ea typeface="Helvetica Neue"/>
                <a:cs typeface="Helvetica Neue"/>
                <a:sym typeface="Helvetica Neue"/>
              </a:rPr>
              <a:t>Working hours</a:t>
            </a:r>
            <a:br>
              <a:rPr lang="fi" sz="1100">
                <a:solidFill>
                  <a:schemeClr val="dk1"/>
                </a:solidFill>
                <a:latin typeface="Helvetica Neue Light"/>
                <a:ea typeface="Helvetica Neue Light"/>
                <a:cs typeface="Helvetica Neue Light"/>
                <a:sym typeface="Helvetica Neue Light"/>
              </a:rPr>
            </a:br>
            <a:r>
              <a:rPr lang="fi" sz="1100">
                <a:solidFill>
                  <a:schemeClr val="dk1"/>
                </a:solidFill>
                <a:latin typeface="Helvetica Neue Light"/>
                <a:ea typeface="Helvetica Neue Light"/>
                <a:cs typeface="Helvetica Neue Light"/>
                <a:sym typeface="Helvetica Neue Light"/>
              </a:rPr>
              <a:t> Standard weekly hours, flexible working arrangements and overtime practices.</a:t>
            </a:r>
            <a:endParaRPr sz="11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Clr>
                <a:schemeClr val="dk1"/>
              </a:buClr>
              <a:buSzPts val="1100"/>
              <a:buFont typeface="Arial"/>
              <a:buNone/>
            </a:pPr>
            <a:r>
              <a:rPr b="1" lang="fi" sz="1100">
                <a:solidFill>
                  <a:schemeClr val="dk1"/>
                </a:solidFill>
                <a:latin typeface="Helvetica Neue"/>
                <a:ea typeface="Helvetica Neue"/>
                <a:cs typeface="Helvetica Neue"/>
                <a:sym typeface="Helvetica Neue"/>
              </a:rPr>
              <a:t>Salary &amp; benefits</a:t>
            </a:r>
            <a:br>
              <a:rPr lang="fi" sz="1100">
                <a:solidFill>
                  <a:schemeClr val="dk1"/>
                </a:solidFill>
                <a:latin typeface="Helvetica Neue Light"/>
                <a:ea typeface="Helvetica Neue Light"/>
                <a:cs typeface="Helvetica Neue Light"/>
                <a:sym typeface="Helvetica Neue Light"/>
              </a:rPr>
            </a:br>
            <a:r>
              <a:rPr lang="fi" sz="1100">
                <a:solidFill>
                  <a:schemeClr val="dk1"/>
                </a:solidFill>
                <a:latin typeface="Helvetica Neue Light"/>
                <a:ea typeface="Helvetica Neue Light"/>
                <a:cs typeface="Helvetica Neue Light"/>
                <a:sym typeface="Helvetica Neue Light"/>
              </a:rPr>
              <a:t> Monthly salary, pay date, bonuses and employee benefits.</a:t>
            </a:r>
            <a:endParaRPr sz="11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Clr>
                <a:schemeClr val="dk1"/>
              </a:buClr>
              <a:buSzPts val="1100"/>
              <a:buFont typeface="Arial"/>
              <a:buNone/>
            </a:pPr>
            <a:r>
              <a:rPr b="1" lang="fi" sz="1100">
                <a:solidFill>
                  <a:schemeClr val="dk1"/>
                </a:solidFill>
                <a:latin typeface="Helvetica Neue"/>
                <a:ea typeface="Helvetica Neue"/>
                <a:cs typeface="Helvetica Neue"/>
                <a:sym typeface="Helvetica Neue"/>
              </a:rPr>
              <a:t>Probation period</a:t>
            </a:r>
            <a:br>
              <a:rPr lang="fi" sz="1100">
                <a:solidFill>
                  <a:schemeClr val="dk1"/>
                </a:solidFill>
                <a:latin typeface="Helvetica Neue Light"/>
                <a:ea typeface="Helvetica Neue Light"/>
                <a:cs typeface="Helvetica Neue Light"/>
                <a:sym typeface="Helvetica Neue Light"/>
              </a:rPr>
            </a:br>
            <a:r>
              <a:rPr lang="fi" sz="1100">
                <a:solidFill>
                  <a:schemeClr val="dk1"/>
                </a:solidFill>
                <a:latin typeface="Helvetica Neue Light"/>
                <a:ea typeface="Helvetica Neue Light"/>
                <a:cs typeface="Helvetica Neue Light"/>
                <a:sym typeface="Helvetica Neue Light"/>
              </a:rPr>
              <a:t> Length of the probation period and applicable terms.</a:t>
            </a:r>
            <a:endParaRPr sz="11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t/>
            </a:r>
            <a:endParaRPr/>
          </a:p>
        </p:txBody>
      </p:sp>
      <p:sp>
        <p:nvSpPr>
          <p:cNvPr id="100" name="Google Shape;10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t>‹#›</a:t>
            </a:fld>
            <a:endParaRPr/>
          </a:p>
        </p:txBody>
      </p:sp>
      <p:sp>
        <p:nvSpPr>
          <p:cNvPr id="101" name="Google Shape;101;p18"/>
          <p:cNvSpPr txBox="1"/>
          <p:nvPr/>
        </p:nvSpPr>
        <p:spPr>
          <a:xfrm>
            <a:off x="6061650" y="4046500"/>
            <a:ext cx="1775400" cy="1038300"/>
          </a:xfrm>
          <a:prstGeom prst="rect">
            <a:avLst/>
          </a:prstGeom>
          <a:solidFill>
            <a:srgbClr val="4CD6E1">
              <a:alpha val="4366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15000"/>
              </a:lnSpc>
              <a:spcBef>
                <a:spcPts val="1400"/>
              </a:spcBef>
              <a:spcAft>
                <a:spcPts val="0"/>
              </a:spcAft>
              <a:buNone/>
            </a:pPr>
            <a:r>
              <a:rPr b="1" lang="fi" sz="1100">
                <a:solidFill>
                  <a:schemeClr val="dk1"/>
                </a:solidFill>
                <a:latin typeface="Helvetica Neue"/>
                <a:ea typeface="Helvetica Neue"/>
                <a:cs typeface="Helvetica Neue"/>
                <a:sym typeface="Helvetica Neue"/>
              </a:rPr>
              <a:t>💡 HR Tip</a:t>
            </a:r>
            <a:endParaRPr b="1" sz="1100">
              <a:solidFill>
                <a:schemeClr val="dk1"/>
              </a:solidFill>
              <a:latin typeface="Helvetica Neue"/>
              <a:ea typeface="Helvetica Neue"/>
              <a:cs typeface="Helvetica Neue"/>
              <a:sym typeface="Helvetica Neue"/>
            </a:endParaRPr>
          </a:p>
          <a:p>
            <a:pPr indent="0" lvl="0" marL="0" marR="0" rtl="0" algn="l">
              <a:lnSpc>
                <a:spcPct val="115000"/>
              </a:lnSpc>
              <a:spcBef>
                <a:spcPts val="1400"/>
              </a:spcBef>
              <a:spcAft>
                <a:spcPts val="400"/>
              </a:spcAft>
              <a:buNone/>
            </a:pPr>
            <a:r>
              <a:rPr lang="fi" sz="700">
                <a:solidFill>
                  <a:schemeClr val="dk1"/>
                </a:solidFill>
                <a:latin typeface="Helvetica Neue Light"/>
                <a:ea typeface="Helvetica Neue Light"/>
                <a:cs typeface="Helvetica Neue Light"/>
                <a:sym typeface="Helvetica Neue Light"/>
              </a:rPr>
              <a:t>If anything in your contract is unclear, ask your HR representative before signing. Make sure you receive a signed copy for your records.</a:t>
            </a:r>
            <a:endParaRPr sz="700">
              <a:solidFill>
                <a:schemeClr val="dk1"/>
              </a:solidFill>
              <a:latin typeface="Helvetica Neue Light"/>
              <a:ea typeface="Helvetica Neue Light"/>
              <a:cs typeface="Helvetica Neue Light"/>
              <a:sym typeface="Helvetica Neue Light"/>
            </a:endParaRPr>
          </a:p>
        </p:txBody>
      </p:sp>
      <p:sp>
        <p:nvSpPr>
          <p:cNvPr id="102" name="Google Shape;102;p18"/>
          <p:cNvSpPr txBox="1"/>
          <p:nvPr/>
        </p:nvSpPr>
        <p:spPr>
          <a:xfrm>
            <a:off x="4572000" y="1032950"/>
            <a:ext cx="3000000" cy="241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i" sz="1100">
                <a:solidFill>
                  <a:schemeClr val="dk1"/>
                </a:solidFill>
                <a:latin typeface="Helvetica Neue"/>
                <a:ea typeface="Helvetica Neue"/>
                <a:cs typeface="Helvetica Neue"/>
                <a:sym typeface="Helvetica Neue"/>
              </a:rPr>
              <a:t>Annual leave</a:t>
            </a:r>
            <a:br>
              <a:rPr lang="fi" sz="1100">
                <a:solidFill>
                  <a:schemeClr val="dk1"/>
                </a:solidFill>
                <a:latin typeface="Helvetica Neue Light"/>
                <a:ea typeface="Helvetica Neue Light"/>
                <a:cs typeface="Helvetica Neue Light"/>
                <a:sym typeface="Helvetica Neue Light"/>
              </a:rPr>
            </a:br>
            <a:r>
              <a:rPr lang="fi" sz="1100">
                <a:solidFill>
                  <a:schemeClr val="dk1"/>
                </a:solidFill>
                <a:latin typeface="Helvetica Neue Light"/>
                <a:ea typeface="Helvetica Neue Light"/>
                <a:cs typeface="Helvetica Neue Light"/>
                <a:sym typeface="Helvetica Neue Light"/>
              </a:rPr>
              <a:t> Vacation entitlement and how leave is accrued and requested.</a:t>
            </a:r>
            <a:endParaRPr b="1" sz="1100">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0"/>
              </a:spcAft>
              <a:buNone/>
            </a:pPr>
            <a:r>
              <a:rPr b="1" lang="fi" sz="1100">
                <a:solidFill>
                  <a:schemeClr val="dk1"/>
                </a:solidFill>
                <a:latin typeface="Helvetica Neue"/>
                <a:ea typeface="Helvetica Neue"/>
                <a:cs typeface="Helvetica Neue"/>
                <a:sym typeface="Helvetica Neue"/>
              </a:rPr>
              <a:t>Notice period</a:t>
            </a:r>
            <a:br>
              <a:rPr lang="fi" sz="1100">
                <a:solidFill>
                  <a:schemeClr val="dk1"/>
                </a:solidFill>
                <a:latin typeface="Helvetica Neue Light"/>
                <a:ea typeface="Helvetica Neue Light"/>
                <a:cs typeface="Helvetica Neue Light"/>
                <a:sym typeface="Helvetica Neue Light"/>
              </a:rPr>
            </a:br>
            <a:r>
              <a:rPr lang="fi" sz="1100">
                <a:solidFill>
                  <a:schemeClr val="dk1"/>
                </a:solidFill>
                <a:latin typeface="Helvetica Neue Light"/>
                <a:ea typeface="Helvetica Neue Light"/>
                <a:cs typeface="Helvetica Neue Light"/>
                <a:sym typeface="Helvetica Neue Light"/>
              </a:rPr>
              <a:t> Notice periods for both the employee and employer.</a:t>
            </a:r>
            <a:endParaRPr sz="11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200"/>
              </a:spcBef>
              <a:spcAft>
                <a:spcPts val="1200"/>
              </a:spcAft>
              <a:buNone/>
            </a:pPr>
            <a:r>
              <a:rPr b="1" lang="fi" sz="1100">
                <a:solidFill>
                  <a:schemeClr val="dk1"/>
                </a:solidFill>
                <a:latin typeface="Helvetica Neue"/>
                <a:ea typeface="Helvetica Neue"/>
                <a:cs typeface="Helvetica Neue"/>
                <a:sym typeface="Helvetica Neue"/>
              </a:rPr>
              <a:t>Collective Agreement (TES)</a:t>
            </a:r>
            <a:br>
              <a:rPr lang="fi" sz="1100">
                <a:solidFill>
                  <a:schemeClr val="dk1"/>
                </a:solidFill>
                <a:latin typeface="Helvetica Neue Light"/>
                <a:ea typeface="Helvetica Neue Light"/>
                <a:cs typeface="Helvetica Neue Light"/>
                <a:sym typeface="Helvetica Neue Light"/>
              </a:rPr>
            </a:br>
            <a:r>
              <a:rPr lang="fi" sz="1100">
                <a:solidFill>
                  <a:schemeClr val="dk1"/>
                </a:solidFill>
                <a:latin typeface="Helvetica Neue Light"/>
                <a:ea typeface="Helvetica Neue Light"/>
                <a:cs typeface="Helvetica Neue Light"/>
                <a:sym typeface="Helvetica Neue Light"/>
              </a:rPr>
              <a:t> Check whether your employment is covered by a Finnish Collective Agreement, which may define minimum terms and conditions.</a:t>
            </a:r>
            <a:endParaRPr sz="11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1200"/>
              </a:spcAft>
              <a:buNone/>
            </a:pPr>
            <a:r>
              <a:rPr lang="fi"/>
              <a:t>Personal identity code (hetu)</a:t>
            </a:r>
            <a:endParaRPr/>
          </a:p>
        </p:txBody>
      </p:sp>
      <p:sp>
        <p:nvSpPr>
          <p:cNvPr id="108" name="Google Shape;10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i"/>
              <a:t>What a Finnish personal identity code is</a:t>
            </a:r>
            <a:endParaRPr/>
          </a:p>
          <a:p>
            <a:pPr indent="0" lvl="0" marL="0" rtl="0" algn="l">
              <a:spcBef>
                <a:spcPts val="1200"/>
              </a:spcBef>
              <a:spcAft>
                <a:spcPts val="0"/>
              </a:spcAft>
              <a:buClr>
                <a:schemeClr val="dk1"/>
              </a:buClr>
              <a:buSzPts val="1100"/>
              <a:buFont typeface="Arial"/>
              <a:buNone/>
            </a:pPr>
            <a:r>
              <a:rPr lang="fi"/>
              <a:t>Why it is needed (banking, healthcare, payroll, housing)</a:t>
            </a:r>
            <a:endParaRPr/>
          </a:p>
          <a:p>
            <a:pPr indent="0" lvl="0" marL="0" rtl="0" algn="l">
              <a:spcBef>
                <a:spcPts val="1200"/>
              </a:spcBef>
              <a:spcAft>
                <a:spcPts val="0"/>
              </a:spcAft>
              <a:buClr>
                <a:schemeClr val="dk1"/>
              </a:buClr>
              <a:buSzPts val="1100"/>
              <a:buFont typeface="Arial"/>
              <a:buNone/>
            </a:pPr>
            <a:r>
              <a:rPr lang="fi"/>
              <a:t>How expats obtain it (Digital and Population Data Services Agency / DVV)</a:t>
            </a:r>
            <a:endParaRPr/>
          </a:p>
          <a:p>
            <a:pPr indent="0" lvl="0" marL="0" rtl="0" algn="l">
              <a:spcBef>
                <a:spcPts val="1200"/>
              </a:spcBef>
              <a:spcAft>
                <a:spcPts val="0"/>
              </a:spcAft>
              <a:buClr>
                <a:schemeClr val="dk1"/>
              </a:buClr>
              <a:buSzPts val="1100"/>
              <a:buFont typeface="Arial"/>
              <a:buNone/>
            </a:pPr>
            <a:r>
              <a:rPr lang="fi"/>
              <a:t>HR support role in the process</a:t>
            </a:r>
            <a:endParaRPr/>
          </a:p>
          <a:p>
            <a:pPr indent="0" lvl="0" marL="0" rtl="0" algn="l">
              <a:spcBef>
                <a:spcPts val="1200"/>
              </a:spcBef>
              <a:spcAft>
                <a:spcPts val="0"/>
              </a:spcAft>
              <a:buClr>
                <a:schemeClr val="dk1"/>
              </a:buClr>
              <a:buSzPts val="1100"/>
              <a:buFont typeface="Arial"/>
              <a:buNone/>
            </a:pPr>
            <a:r>
              <a:rPr lang="fi"/>
              <a:t>Temporary workarounds if it is delayed</a:t>
            </a:r>
            <a:endParaRPr/>
          </a:p>
          <a:p>
            <a:pPr indent="0" lvl="0" marL="0" rtl="0" algn="l">
              <a:spcBef>
                <a:spcPts val="1200"/>
              </a:spcBef>
              <a:spcAft>
                <a:spcPts val="1200"/>
              </a:spcAft>
              <a:buNone/>
            </a:pPr>
            <a:r>
              <a:t/>
            </a:r>
            <a:endParaRPr/>
          </a:p>
        </p:txBody>
      </p:sp>
      <p:sp>
        <p:nvSpPr>
          <p:cNvPr id="109" name="Google Shape;10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fi" sz="3700">
                <a:latin typeface="Helvetica Neue"/>
                <a:ea typeface="Helvetica Neue"/>
                <a:cs typeface="Helvetica Neue"/>
                <a:sym typeface="Helvetica Neue"/>
              </a:rPr>
              <a:t>First week in Finland</a:t>
            </a:r>
            <a:endParaRPr/>
          </a:p>
          <a:p>
            <a:pPr indent="0" lvl="0" marL="0" rtl="0" algn="l">
              <a:spcBef>
                <a:spcPts val="0"/>
              </a:spcBef>
              <a:spcAft>
                <a:spcPts val="0"/>
              </a:spcAft>
              <a:buNone/>
            </a:pPr>
            <a:r>
              <a:t/>
            </a:r>
            <a:endParaRPr/>
          </a:p>
        </p:txBody>
      </p:sp>
      <p:sp>
        <p:nvSpPr>
          <p:cNvPr id="115" name="Google Shape;11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293211" lvl="0" marL="457200" marR="0" rtl="0" algn="l">
              <a:lnSpc>
                <a:spcPct val="115000"/>
              </a:lnSpc>
              <a:spcBef>
                <a:spcPts val="1200"/>
              </a:spcBef>
              <a:spcAft>
                <a:spcPts val="0"/>
              </a:spcAft>
              <a:buClr>
                <a:schemeClr val="dk1"/>
              </a:buClr>
              <a:buSzPct val="61111"/>
              <a:buChar char="●"/>
            </a:pPr>
            <a:r>
              <a:rPr lang="fi"/>
              <a:t>Airport pickup / first-day instructions</a:t>
            </a:r>
            <a:endParaRPr/>
          </a:p>
          <a:p>
            <a:pPr indent="-293211" lvl="0" marL="457200" marR="0" rtl="0" algn="l">
              <a:lnSpc>
                <a:spcPct val="115000"/>
              </a:lnSpc>
              <a:spcBef>
                <a:spcPts val="0"/>
              </a:spcBef>
              <a:spcAft>
                <a:spcPts val="0"/>
              </a:spcAft>
              <a:buClr>
                <a:schemeClr val="dk1"/>
              </a:buClr>
              <a:buSzPct val="61111"/>
              <a:buChar char="●"/>
            </a:pPr>
            <a:r>
              <a:rPr lang="fi"/>
              <a:t>Office arrival process (ID, keys, IT setup)</a:t>
            </a:r>
            <a:endParaRPr/>
          </a:p>
          <a:p>
            <a:pPr indent="-293211" lvl="0" marL="457200" marR="0" rtl="0" algn="l">
              <a:lnSpc>
                <a:spcPct val="115000"/>
              </a:lnSpc>
              <a:spcBef>
                <a:spcPts val="0"/>
              </a:spcBef>
              <a:spcAft>
                <a:spcPts val="0"/>
              </a:spcAft>
              <a:buClr>
                <a:schemeClr val="dk1"/>
              </a:buClr>
              <a:buSzPct val="61111"/>
              <a:buChar char="●"/>
            </a:pPr>
            <a:r>
              <a:rPr lang="fi"/>
              <a:t>Welcome meeting agenda</a:t>
            </a:r>
            <a:endParaRPr/>
          </a:p>
          <a:p>
            <a:pPr indent="-293211" lvl="0" marL="457200" marR="0" rtl="0" algn="l">
              <a:lnSpc>
                <a:spcPct val="115000"/>
              </a:lnSpc>
              <a:spcBef>
                <a:spcPts val="0"/>
              </a:spcBef>
              <a:spcAft>
                <a:spcPts val="0"/>
              </a:spcAft>
              <a:buClr>
                <a:schemeClr val="dk1"/>
              </a:buClr>
              <a:buSzPct val="61111"/>
              <a:buChar char="●"/>
            </a:pPr>
            <a:r>
              <a:rPr lang="fi"/>
              <a:t>Company introduction (mission, departments, key people)</a:t>
            </a:r>
            <a:endParaRPr/>
          </a:p>
          <a:p>
            <a:pPr indent="-293211" lvl="0" marL="457200" marR="0" rtl="0" algn="l">
              <a:lnSpc>
                <a:spcPct val="115000"/>
              </a:lnSpc>
              <a:spcBef>
                <a:spcPts val="0"/>
              </a:spcBef>
              <a:spcAft>
                <a:spcPts val="0"/>
              </a:spcAft>
              <a:buClr>
                <a:schemeClr val="dk1"/>
              </a:buClr>
              <a:buSzPct val="61111"/>
              <a:buChar char="●"/>
            </a:pPr>
            <a:r>
              <a:rPr lang="fi"/>
              <a:t>Practical survival info:</a:t>
            </a:r>
            <a:endParaRPr/>
          </a:p>
          <a:p>
            <a:pPr indent="-293211" lvl="1" marL="914400" marR="0" rtl="0" algn="l">
              <a:lnSpc>
                <a:spcPct val="115000"/>
              </a:lnSpc>
              <a:spcBef>
                <a:spcPts val="0"/>
              </a:spcBef>
              <a:spcAft>
                <a:spcPts val="0"/>
              </a:spcAft>
              <a:buClr>
                <a:schemeClr val="dk1"/>
              </a:buClr>
              <a:buSzPct val="78571"/>
              <a:buChar char="○"/>
            </a:pPr>
            <a:r>
              <a:rPr lang="fi"/>
              <a:t>social security</a:t>
            </a:r>
            <a:endParaRPr/>
          </a:p>
          <a:p>
            <a:pPr indent="-293211" lvl="1" marL="914400" marR="0" rtl="0" algn="l">
              <a:lnSpc>
                <a:spcPct val="115000"/>
              </a:lnSpc>
              <a:spcBef>
                <a:spcPts val="0"/>
              </a:spcBef>
              <a:spcAft>
                <a:spcPts val="0"/>
              </a:spcAft>
              <a:buClr>
                <a:schemeClr val="dk1"/>
              </a:buClr>
              <a:buSzPct val="78571"/>
              <a:buChar char="○"/>
            </a:pPr>
            <a:r>
              <a:rPr lang="fi"/>
              <a:t>public transport card (HSL in Helsinki area)</a:t>
            </a:r>
            <a:endParaRPr/>
          </a:p>
          <a:p>
            <a:pPr indent="-293211" lvl="1" marL="914400" marR="0" rtl="0" algn="l">
              <a:lnSpc>
                <a:spcPct val="115000"/>
              </a:lnSpc>
              <a:spcBef>
                <a:spcPts val="0"/>
              </a:spcBef>
              <a:spcAft>
                <a:spcPts val="0"/>
              </a:spcAft>
              <a:buClr>
                <a:schemeClr val="dk1"/>
              </a:buClr>
              <a:buSzPct val="78571"/>
              <a:buChar char="○"/>
            </a:pPr>
            <a:r>
              <a:rPr lang="fi"/>
              <a:t>bank account</a:t>
            </a:r>
            <a:endParaRPr/>
          </a:p>
          <a:p>
            <a:pPr indent="-293211" lvl="1" marL="914400" marR="0" rtl="0" algn="l">
              <a:lnSpc>
                <a:spcPct val="115000"/>
              </a:lnSpc>
              <a:spcBef>
                <a:spcPts val="0"/>
              </a:spcBef>
              <a:spcAft>
                <a:spcPts val="0"/>
              </a:spcAft>
              <a:buClr>
                <a:schemeClr val="dk1"/>
              </a:buClr>
              <a:buSzPct val="78571"/>
              <a:buChar char="○"/>
            </a:pPr>
            <a:r>
              <a:rPr lang="fi"/>
              <a:t>salary</a:t>
            </a:r>
            <a:endParaRPr/>
          </a:p>
          <a:p>
            <a:pPr indent="-293211" lvl="1" marL="914400" marR="0" rtl="0" algn="l">
              <a:lnSpc>
                <a:spcPct val="115000"/>
              </a:lnSpc>
              <a:spcBef>
                <a:spcPts val="0"/>
              </a:spcBef>
              <a:spcAft>
                <a:spcPts val="0"/>
              </a:spcAft>
              <a:buClr>
                <a:schemeClr val="dk1"/>
              </a:buClr>
              <a:buSzPct val="78571"/>
              <a:buChar char="○"/>
            </a:pPr>
            <a:r>
              <a:rPr lang="fi"/>
              <a:t>working hours</a:t>
            </a:r>
            <a:endParaRPr/>
          </a:p>
          <a:p>
            <a:pPr indent="-293211" lvl="1" marL="914400" marR="0" rtl="0" algn="l">
              <a:lnSpc>
                <a:spcPct val="115000"/>
              </a:lnSpc>
              <a:spcBef>
                <a:spcPts val="0"/>
              </a:spcBef>
              <a:spcAft>
                <a:spcPts val="0"/>
              </a:spcAft>
              <a:buClr>
                <a:schemeClr val="dk1"/>
              </a:buClr>
              <a:buSzPct val="78571"/>
              <a:buChar char="○"/>
            </a:pPr>
            <a:r>
              <a:rPr lang="fi"/>
              <a:t>tax card</a:t>
            </a:r>
            <a:endParaRPr/>
          </a:p>
          <a:p>
            <a:pPr indent="-293211" lvl="1" marL="914400" marR="0" rtl="0" algn="l">
              <a:lnSpc>
                <a:spcPct val="115000"/>
              </a:lnSpc>
              <a:spcBef>
                <a:spcPts val="0"/>
              </a:spcBef>
              <a:spcAft>
                <a:spcPts val="0"/>
              </a:spcAft>
              <a:buClr>
                <a:schemeClr val="dk1"/>
              </a:buClr>
              <a:buSzPct val="78571"/>
              <a:buChar char="○"/>
            </a:pPr>
            <a:r>
              <a:rPr lang="fi"/>
              <a:t>grocery stores</a:t>
            </a:r>
            <a:endParaRPr/>
          </a:p>
          <a:p>
            <a:pPr indent="-293211" lvl="1" marL="914400" marR="0" rtl="0" algn="l">
              <a:lnSpc>
                <a:spcPct val="115000"/>
              </a:lnSpc>
              <a:spcBef>
                <a:spcPts val="0"/>
              </a:spcBef>
              <a:spcAft>
                <a:spcPts val="0"/>
              </a:spcAft>
              <a:buClr>
                <a:schemeClr val="dk1"/>
              </a:buClr>
              <a:buSzPct val="78571"/>
              <a:buChar char="○"/>
            </a:pPr>
            <a:r>
              <a:rPr lang="fi"/>
              <a:t>SIM card</a:t>
            </a:r>
            <a:endParaRPr/>
          </a:p>
          <a:p>
            <a:pPr indent="-293211" lvl="1" marL="914400" marR="0" rtl="0" algn="l">
              <a:lnSpc>
                <a:spcPct val="115000"/>
              </a:lnSpc>
              <a:spcBef>
                <a:spcPts val="0"/>
              </a:spcBef>
              <a:spcAft>
                <a:spcPts val="0"/>
              </a:spcAft>
              <a:buClr>
                <a:schemeClr val="dk1"/>
              </a:buClr>
              <a:buSzPct val="78571"/>
              <a:buChar char="○"/>
            </a:pPr>
            <a:r>
              <a:rPr lang="fi"/>
              <a:t>occupational </a:t>
            </a:r>
            <a:r>
              <a:rPr lang="fi"/>
              <a:t>healthcare</a:t>
            </a:r>
            <a:endParaRPr/>
          </a:p>
          <a:p>
            <a:pPr indent="-293211" lvl="1" marL="914400" marR="0" rtl="0" algn="l">
              <a:lnSpc>
                <a:spcPct val="115000"/>
              </a:lnSpc>
              <a:spcBef>
                <a:spcPts val="0"/>
              </a:spcBef>
              <a:spcAft>
                <a:spcPts val="0"/>
              </a:spcAft>
              <a:buClr>
                <a:schemeClr val="dk1"/>
              </a:buClr>
              <a:buSzPct val="78571"/>
              <a:buChar char="○"/>
            </a:pPr>
            <a:r>
              <a:rPr lang="fi"/>
              <a:t>other HR practises</a:t>
            </a:r>
            <a:endParaRPr/>
          </a:p>
        </p:txBody>
      </p:sp>
      <p:sp>
        <p:nvSpPr>
          <p:cNvPr id="116" name="Google Shape;11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 name="Shape 120"/>
        <p:cNvGrpSpPr/>
        <p:nvPr/>
      </p:nvGrpSpPr>
      <p:grpSpPr>
        <a:xfrm>
          <a:off x="0" y="0"/>
          <a:ext cx="0" cy="0"/>
          <a:chOff x="0" y="0"/>
          <a:chExt cx="0" cy="0"/>
        </a:xfrm>
      </p:grpSpPr>
      <p:sp>
        <p:nvSpPr>
          <p:cNvPr id="121" name="Google Shape;12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1200"/>
              </a:spcAft>
              <a:buNone/>
            </a:pPr>
            <a:r>
              <a:rPr lang="fi"/>
              <a:t>Bank account</a:t>
            </a:r>
            <a:endParaRPr/>
          </a:p>
        </p:txBody>
      </p:sp>
      <p:sp>
        <p:nvSpPr>
          <p:cNvPr id="122" name="Google Shape;122;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t>‹#›</a:t>
            </a:fld>
            <a:endParaRPr/>
          </a:p>
        </p:txBody>
      </p:sp>
      <p:sp>
        <p:nvSpPr>
          <p:cNvPr id="123" name="Google Shape;123;p21"/>
          <p:cNvSpPr txBox="1"/>
          <p:nvPr/>
        </p:nvSpPr>
        <p:spPr>
          <a:xfrm>
            <a:off x="552900" y="1268125"/>
            <a:ext cx="3000000" cy="267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fi" sz="1700">
                <a:solidFill>
                  <a:schemeClr val="dk1"/>
                </a:solidFill>
              </a:rPr>
              <a:t>Why is it important?</a:t>
            </a:r>
            <a:endParaRPr b="1" sz="1700">
              <a:solidFill>
                <a:schemeClr val="dk1"/>
              </a:solidFill>
            </a:endParaRPr>
          </a:p>
          <a:p>
            <a:pPr indent="0" lvl="0" marL="0" rtl="0" algn="l">
              <a:lnSpc>
                <a:spcPct val="115000"/>
              </a:lnSpc>
              <a:spcBef>
                <a:spcPts val="1200"/>
              </a:spcBef>
              <a:spcAft>
                <a:spcPts val="0"/>
              </a:spcAft>
              <a:buNone/>
            </a:pPr>
            <a:r>
              <a:rPr b="1" lang="fi" sz="1100">
                <a:solidFill>
                  <a:schemeClr val="dk1"/>
                </a:solidFill>
              </a:rPr>
              <a:t>Receive your salary</a:t>
            </a:r>
            <a:br>
              <a:rPr b="1" lang="fi" sz="1100">
                <a:solidFill>
                  <a:schemeClr val="dk1"/>
                </a:solidFill>
              </a:rPr>
            </a:br>
            <a:r>
              <a:rPr lang="fi" sz="1100">
                <a:solidFill>
                  <a:schemeClr val="dk1"/>
                </a:solidFill>
              </a:rPr>
              <a:t>Employers pay salaries to a Finnish bank account.</a:t>
            </a:r>
            <a:endParaRPr sz="1100">
              <a:solidFill>
                <a:schemeClr val="dk1"/>
              </a:solidFill>
            </a:endParaRPr>
          </a:p>
          <a:p>
            <a:pPr indent="0" lvl="0" marL="0" rtl="0" algn="l">
              <a:lnSpc>
                <a:spcPct val="115000"/>
              </a:lnSpc>
              <a:spcBef>
                <a:spcPts val="1200"/>
              </a:spcBef>
              <a:spcAft>
                <a:spcPts val="0"/>
              </a:spcAft>
              <a:buNone/>
            </a:pPr>
            <a:r>
              <a:rPr b="1" lang="fi" sz="1100">
                <a:solidFill>
                  <a:schemeClr val="dk1"/>
                </a:solidFill>
              </a:rPr>
              <a:t>Access digital services</a:t>
            </a:r>
            <a:br>
              <a:rPr b="1" lang="fi" sz="1100">
                <a:solidFill>
                  <a:schemeClr val="dk1"/>
                </a:solidFill>
              </a:rPr>
            </a:br>
            <a:r>
              <a:rPr lang="fi" sz="1100">
                <a:solidFill>
                  <a:schemeClr val="dk1"/>
                </a:solidFill>
              </a:rPr>
              <a:t>Bank credentials are widely used for secure online identification.</a:t>
            </a:r>
            <a:endParaRPr sz="1100">
              <a:solidFill>
                <a:schemeClr val="dk1"/>
              </a:solidFill>
            </a:endParaRPr>
          </a:p>
          <a:p>
            <a:pPr indent="0" lvl="0" marL="0" rtl="0" algn="l">
              <a:lnSpc>
                <a:spcPct val="115000"/>
              </a:lnSpc>
              <a:spcBef>
                <a:spcPts val="1200"/>
              </a:spcBef>
              <a:spcAft>
                <a:spcPts val="1200"/>
              </a:spcAft>
              <a:buNone/>
            </a:pPr>
            <a:r>
              <a:rPr b="1" lang="fi" sz="1100">
                <a:solidFill>
                  <a:schemeClr val="dk1"/>
                </a:solidFill>
              </a:rPr>
              <a:t>M</a:t>
            </a:r>
            <a:r>
              <a:rPr b="1" lang="fi" sz="1100">
                <a:solidFill>
                  <a:schemeClr val="dk1"/>
                </a:solidFill>
              </a:rPr>
              <a:t>anage everyday finances</a:t>
            </a:r>
            <a:br>
              <a:rPr b="1" lang="fi" sz="1100">
                <a:solidFill>
                  <a:schemeClr val="dk1"/>
                </a:solidFill>
              </a:rPr>
            </a:br>
            <a:r>
              <a:rPr lang="fi" sz="1100">
                <a:solidFill>
                  <a:schemeClr val="dk1"/>
                </a:solidFill>
              </a:rPr>
              <a:t>Pay bills, use online banking and receive payments.</a:t>
            </a:r>
            <a:endParaRPr/>
          </a:p>
        </p:txBody>
      </p:sp>
      <p:graphicFrame>
        <p:nvGraphicFramePr>
          <p:cNvPr id="124" name="Google Shape;124;p21"/>
          <p:cNvGraphicFramePr/>
          <p:nvPr/>
        </p:nvGraphicFramePr>
        <p:xfrm>
          <a:off x="4279100" y="1217400"/>
          <a:ext cx="3000000" cy="3000000"/>
        </p:xfrm>
        <a:graphic>
          <a:graphicData uri="http://schemas.openxmlformats.org/drawingml/2006/table">
            <a:tbl>
              <a:tblPr>
                <a:noFill/>
                <a:tableStyleId>{451FEE2D-6496-49E0-A77C-5147DCB3214B}</a:tableStyleId>
              </a:tblPr>
              <a:tblGrid>
                <a:gridCol w="1154950"/>
                <a:gridCol w="1299100"/>
                <a:gridCol w="888025"/>
              </a:tblGrid>
              <a:tr h="288300">
                <a:tc>
                  <a:txBody>
                    <a:bodyPr/>
                    <a:lstStyle/>
                    <a:p>
                      <a:pPr indent="0" lvl="0" marL="0" rtl="0" algn="ctr">
                        <a:lnSpc>
                          <a:spcPct val="115000"/>
                        </a:lnSpc>
                        <a:spcBef>
                          <a:spcPts val="0"/>
                        </a:spcBef>
                        <a:spcAft>
                          <a:spcPts val="0"/>
                        </a:spcAft>
                        <a:buNone/>
                      </a:pPr>
                      <a:r>
                        <a:rPr b="1" lang="fi" sz="700">
                          <a:latin typeface="Helvetica Neue"/>
                          <a:ea typeface="Helvetica Neue"/>
                          <a:cs typeface="Helvetica Neue"/>
                          <a:sym typeface="Helvetica Neue"/>
                        </a:rPr>
                        <a:t>① Prepare Documents</a:t>
                      </a:r>
                      <a:endParaRPr b="1" sz="700">
                        <a:latin typeface="Helvetica Neue"/>
                        <a:ea typeface="Helvetica Neue"/>
                        <a:cs typeface="Helvetica Neue"/>
                        <a:sym typeface="Helvetica Neue"/>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i" sz="700">
                          <a:latin typeface="Helvetica Neue"/>
                          <a:ea typeface="Helvetica Neue"/>
                          <a:cs typeface="Helvetica Neue"/>
                          <a:sym typeface="Helvetica Neue"/>
                        </a:rPr>
                        <a:t>② Visit a Bank</a:t>
                      </a:r>
                      <a:endParaRPr b="1" sz="700">
                        <a:latin typeface="Helvetica Neue"/>
                        <a:ea typeface="Helvetica Neue"/>
                        <a:cs typeface="Helvetica Neue"/>
                        <a:sym typeface="Helvetica Neue"/>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i" sz="700">
                          <a:latin typeface="Helvetica Neue"/>
                          <a:ea typeface="Helvetica Neue"/>
                          <a:cs typeface="Helvetica Neue"/>
                          <a:sym typeface="Helvetica Neue"/>
                        </a:rPr>
                        <a:t>③ Provide Account Details</a:t>
                      </a:r>
                      <a:endParaRPr b="1" sz="700">
                        <a:latin typeface="Helvetica Neue"/>
                        <a:ea typeface="Helvetica Neue"/>
                        <a:cs typeface="Helvetica Neue"/>
                        <a:sym typeface="Helvetica Neue"/>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1089025">
                <a:tc>
                  <a:txBody>
                    <a:bodyPr/>
                    <a:lstStyle/>
                    <a:p>
                      <a:pPr indent="0" lvl="0" marL="0" rtl="0" algn="l">
                        <a:lnSpc>
                          <a:spcPct val="115000"/>
                        </a:lnSpc>
                        <a:spcBef>
                          <a:spcPts val="0"/>
                        </a:spcBef>
                        <a:spcAft>
                          <a:spcPts val="0"/>
                        </a:spcAft>
                        <a:buNone/>
                      </a:pPr>
                      <a:r>
                        <a:rPr lang="fi" sz="700">
                          <a:latin typeface="Helvetica Neue Light"/>
                          <a:ea typeface="Helvetica Neue Light"/>
                          <a:cs typeface="Helvetica Neue Light"/>
                          <a:sym typeface="Helvetica Neue Light"/>
                        </a:rPr>
                        <a:t>Passport or ID</a:t>
                      </a:r>
                      <a:endParaRPr sz="700">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lang="fi" sz="700">
                          <a:latin typeface="Helvetica Neue Light"/>
                          <a:ea typeface="Helvetica Neue Light"/>
                          <a:cs typeface="Helvetica Neue Light"/>
                          <a:sym typeface="Helvetica Neue Light"/>
                        </a:rPr>
                        <a:t>Residence permit (if applicable)</a:t>
                      </a:r>
                      <a:endParaRPr sz="700">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lang="fi" sz="700">
                          <a:latin typeface="Helvetica Neue Light"/>
                          <a:ea typeface="Helvetica Neue Light"/>
                          <a:cs typeface="Helvetica Neue Light"/>
                          <a:sym typeface="Helvetica Neue Light"/>
                        </a:rPr>
                        <a:t>Finnish Personal Identity Code</a:t>
                      </a:r>
                      <a:endParaRPr sz="700">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lang="fi" sz="700">
                          <a:latin typeface="Helvetica Neue Light"/>
                          <a:ea typeface="Helvetica Neue Light"/>
                          <a:cs typeface="Helvetica Neue Light"/>
                          <a:sym typeface="Helvetica Neue Light"/>
                        </a:rPr>
                        <a:t>Employment contract or salary certificate</a:t>
                      </a:r>
                      <a:endParaRPr sz="700">
                        <a:latin typeface="Helvetica Neue Light"/>
                        <a:ea typeface="Helvetica Neue Light"/>
                        <a:cs typeface="Helvetica Neue Light"/>
                        <a:sym typeface="Helvetica Neue Light"/>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i" sz="700">
                          <a:latin typeface="Helvetica Neue Light"/>
                          <a:ea typeface="Helvetica Neue Light"/>
                          <a:cs typeface="Helvetica Neue Light"/>
                          <a:sym typeface="Helvetica Neue Light"/>
                        </a:rPr>
                        <a:t>Choose a bank and attend your appointment. </a:t>
                      </a:r>
                      <a:endParaRPr sz="700">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t/>
                      </a:r>
                      <a:endParaRPr sz="700">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lang="fi" sz="700">
                          <a:latin typeface="Helvetica Neue Light"/>
                          <a:ea typeface="Helvetica Neue Light"/>
                          <a:cs typeface="Helvetica Neue Light"/>
                          <a:sym typeface="Helvetica Neue Light"/>
                        </a:rPr>
                        <a:t>Common banks:</a:t>
                      </a:r>
                      <a:endParaRPr sz="700">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lang="fi" sz="700">
                          <a:latin typeface="Helvetica Neue Light"/>
                          <a:ea typeface="Helvetica Neue Light"/>
                          <a:cs typeface="Helvetica Neue Light"/>
                          <a:sym typeface="Helvetica Neue Light"/>
                        </a:rPr>
                        <a:t>• Nordea</a:t>
                      </a:r>
                      <a:endParaRPr sz="700">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lang="fi" sz="700">
                          <a:latin typeface="Helvetica Neue Light"/>
                          <a:ea typeface="Helvetica Neue Light"/>
                          <a:cs typeface="Helvetica Neue Light"/>
                          <a:sym typeface="Helvetica Neue Light"/>
                        </a:rPr>
                        <a:t>• OP Financial Group</a:t>
                      </a:r>
                      <a:endParaRPr sz="700">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lang="fi" sz="700">
                          <a:latin typeface="Helvetica Neue Light"/>
                          <a:ea typeface="Helvetica Neue Light"/>
                          <a:cs typeface="Helvetica Neue Light"/>
                          <a:sym typeface="Helvetica Neue Light"/>
                        </a:rPr>
                        <a:t>• Danske Bank</a:t>
                      </a:r>
                      <a:endParaRPr sz="700">
                        <a:latin typeface="Helvetica Neue Light"/>
                        <a:ea typeface="Helvetica Neue Light"/>
                        <a:cs typeface="Helvetica Neue Light"/>
                        <a:sym typeface="Helvetica Neue Light"/>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i" sz="700">
                          <a:latin typeface="Helvetica Neue Light"/>
                          <a:ea typeface="Helvetica Neue Light"/>
                          <a:cs typeface="Helvetica Neue Light"/>
                          <a:sym typeface="Helvetica Neue Light"/>
                        </a:rPr>
                        <a:t>Once your account is opened, provide your IBAN and bank details to HR before the payroll deadline.</a:t>
                      </a:r>
                      <a:endParaRPr sz="700">
                        <a:latin typeface="Helvetica Neue Light"/>
                        <a:ea typeface="Helvetica Neue Light"/>
                        <a:cs typeface="Helvetica Neue Light"/>
                        <a:sym typeface="Helvetica Neue Light"/>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bl>
          </a:graphicData>
        </a:graphic>
      </p:graphicFrame>
      <p:sp>
        <p:nvSpPr>
          <p:cNvPr id="125" name="Google Shape;125;p21"/>
          <p:cNvSpPr txBox="1"/>
          <p:nvPr/>
        </p:nvSpPr>
        <p:spPr>
          <a:xfrm>
            <a:off x="4595800" y="2681075"/>
            <a:ext cx="3251400" cy="72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fi" sz="900">
                <a:solidFill>
                  <a:schemeClr val="dk1"/>
                </a:solidFill>
              </a:rPr>
              <a:t>Timeline</a:t>
            </a:r>
            <a:endParaRPr b="1" sz="900">
              <a:solidFill>
                <a:schemeClr val="dk1"/>
              </a:solidFill>
            </a:endParaRPr>
          </a:p>
          <a:p>
            <a:pPr indent="0" lvl="0" marL="0" rtl="0" algn="l">
              <a:lnSpc>
                <a:spcPct val="115000"/>
              </a:lnSpc>
              <a:spcBef>
                <a:spcPts val="1200"/>
              </a:spcBef>
              <a:spcAft>
                <a:spcPts val="1200"/>
              </a:spcAft>
              <a:buNone/>
            </a:pPr>
            <a:r>
              <a:rPr b="1" lang="fi" sz="700">
                <a:solidFill>
                  <a:schemeClr val="dk1"/>
                </a:solidFill>
              </a:rPr>
              <a:t>Account opening typically takes from the same day up to 1–2 weeks</a:t>
            </a:r>
            <a:r>
              <a:rPr lang="fi" sz="700">
                <a:solidFill>
                  <a:schemeClr val="dk1"/>
                </a:solidFill>
              </a:rPr>
              <a:t>, depending on the bank and document verification.</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i"/>
              <a:t>Tax card “Verokortti”</a:t>
            </a:r>
            <a:endParaRPr/>
          </a:p>
          <a:p>
            <a:pPr indent="0" lvl="0" marL="0" rtl="0" algn="l">
              <a:spcBef>
                <a:spcPts val="0"/>
              </a:spcBef>
              <a:spcAft>
                <a:spcPts val="0"/>
              </a:spcAft>
              <a:buNone/>
            </a:pPr>
            <a:r>
              <a:t/>
            </a:r>
            <a:endParaRPr/>
          </a:p>
        </p:txBody>
      </p:sp>
      <p:sp>
        <p:nvSpPr>
          <p:cNvPr id="131" name="Google Shape;131;p2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None/>
            </a:pPr>
            <a:r>
              <a:rPr b="1" lang="fi" sz="1300">
                <a:solidFill>
                  <a:schemeClr val="dk1"/>
                </a:solidFill>
              </a:rPr>
              <a:t>Your tax card determines how much income tax is withheld from your salary.</a:t>
            </a:r>
            <a:endParaRPr b="1" sz="1300">
              <a:solidFill>
                <a:schemeClr val="dk1"/>
              </a:solidFill>
            </a:endParaRPr>
          </a:p>
          <a:p>
            <a:pPr indent="0" lvl="0" marL="0" rtl="0" algn="l">
              <a:spcBef>
                <a:spcPts val="1200"/>
              </a:spcBef>
              <a:spcAft>
                <a:spcPts val="0"/>
              </a:spcAft>
              <a:buNone/>
            </a:pPr>
            <a:r>
              <a:rPr b="1" lang="fi" sz="1100">
                <a:solidFill>
                  <a:schemeClr val="dk1"/>
                </a:solidFill>
              </a:rPr>
              <a:t> What is a Tax Card?</a:t>
            </a:r>
            <a:endParaRPr b="1" sz="1100">
              <a:solidFill>
                <a:schemeClr val="dk1"/>
              </a:solidFill>
            </a:endParaRPr>
          </a:p>
          <a:p>
            <a:pPr indent="-298450" lvl="0" marL="457200" rtl="0" algn="l">
              <a:spcBef>
                <a:spcPts val="1200"/>
              </a:spcBef>
              <a:spcAft>
                <a:spcPts val="0"/>
              </a:spcAft>
              <a:buClr>
                <a:schemeClr val="dk1"/>
              </a:buClr>
              <a:buSzPts val="1100"/>
              <a:buChar char="●"/>
            </a:pPr>
            <a:r>
              <a:rPr lang="fi" sz="1100">
                <a:solidFill>
                  <a:schemeClr val="dk1"/>
                </a:solidFill>
              </a:rPr>
              <a:t>A tax card is issued by the Finnish Tax Administration.</a:t>
            </a:r>
            <a:endParaRPr sz="1100">
              <a:solidFill>
                <a:schemeClr val="dk1"/>
              </a:solidFill>
            </a:endParaRPr>
          </a:p>
          <a:p>
            <a:pPr indent="-298450" lvl="0" marL="457200" rtl="0" algn="l">
              <a:spcBef>
                <a:spcPts val="0"/>
              </a:spcBef>
              <a:spcAft>
                <a:spcPts val="0"/>
              </a:spcAft>
              <a:buClr>
                <a:schemeClr val="dk1"/>
              </a:buClr>
              <a:buSzPts val="1100"/>
              <a:buChar char="●"/>
            </a:pPr>
            <a:r>
              <a:rPr lang="fi" sz="1100">
                <a:solidFill>
                  <a:schemeClr val="dk1"/>
                </a:solidFill>
              </a:rPr>
              <a:t>It contains your personal tax rate based on your estimated annual income.</a:t>
            </a:r>
            <a:endParaRPr sz="1100">
              <a:solidFill>
                <a:schemeClr val="dk1"/>
              </a:solidFill>
            </a:endParaRPr>
          </a:p>
          <a:p>
            <a:pPr indent="0" lvl="0" marL="0" rtl="0" algn="l">
              <a:spcBef>
                <a:spcPts val="1200"/>
              </a:spcBef>
              <a:spcAft>
                <a:spcPts val="0"/>
              </a:spcAft>
              <a:buNone/>
            </a:pPr>
            <a:r>
              <a:rPr b="1" lang="fi" sz="1100">
                <a:solidFill>
                  <a:schemeClr val="dk1"/>
                </a:solidFill>
              </a:rPr>
              <a:t>How to Get One</a:t>
            </a:r>
            <a:br>
              <a:rPr b="1" lang="fi" sz="1100">
                <a:solidFill>
                  <a:schemeClr val="dk1"/>
                </a:solidFill>
              </a:rPr>
            </a:br>
            <a:r>
              <a:rPr lang="fi" sz="1100">
                <a:solidFill>
                  <a:schemeClr val="dk1"/>
                </a:solidFill>
              </a:rPr>
              <a:t>To apply for a tax card, you typically need:</a:t>
            </a:r>
            <a:endParaRPr sz="1100">
              <a:solidFill>
                <a:schemeClr val="dk1"/>
              </a:solidFill>
            </a:endParaRPr>
          </a:p>
          <a:p>
            <a:pPr indent="-298450" lvl="0" marL="457200" rtl="0" algn="l">
              <a:spcBef>
                <a:spcPts val="1200"/>
              </a:spcBef>
              <a:spcAft>
                <a:spcPts val="0"/>
              </a:spcAft>
              <a:buClr>
                <a:schemeClr val="dk1"/>
              </a:buClr>
              <a:buSzPts val="1100"/>
              <a:buChar char="●"/>
            </a:pPr>
            <a:r>
              <a:rPr lang="fi" sz="1100">
                <a:solidFill>
                  <a:schemeClr val="dk1"/>
                </a:solidFill>
              </a:rPr>
              <a:t>Valid identification</a:t>
            </a:r>
            <a:endParaRPr sz="1100">
              <a:solidFill>
                <a:schemeClr val="dk1"/>
              </a:solidFill>
            </a:endParaRPr>
          </a:p>
          <a:p>
            <a:pPr indent="-298450" lvl="0" marL="457200" rtl="0" algn="l">
              <a:spcBef>
                <a:spcPts val="0"/>
              </a:spcBef>
              <a:spcAft>
                <a:spcPts val="0"/>
              </a:spcAft>
              <a:buClr>
                <a:schemeClr val="dk1"/>
              </a:buClr>
              <a:buSzPts val="1100"/>
              <a:buChar char="●"/>
            </a:pPr>
            <a:r>
              <a:rPr lang="fi" sz="1100">
                <a:solidFill>
                  <a:schemeClr val="dk1"/>
                </a:solidFill>
              </a:rPr>
              <a:t>Finnish personal identity code</a:t>
            </a:r>
            <a:endParaRPr sz="1100">
              <a:solidFill>
                <a:schemeClr val="dk1"/>
              </a:solidFill>
            </a:endParaRPr>
          </a:p>
          <a:p>
            <a:pPr indent="-298450" lvl="0" marL="457200" rtl="0" algn="l">
              <a:spcBef>
                <a:spcPts val="0"/>
              </a:spcBef>
              <a:spcAft>
                <a:spcPts val="0"/>
              </a:spcAft>
              <a:buClr>
                <a:schemeClr val="dk1"/>
              </a:buClr>
              <a:buSzPts val="1100"/>
              <a:buChar char="●"/>
            </a:pPr>
            <a:r>
              <a:rPr lang="fi" sz="1100">
                <a:solidFill>
                  <a:schemeClr val="dk1"/>
                </a:solidFill>
              </a:rPr>
              <a:t>Estimated annual salary</a:t>
            </a:r>
            <a:endParaRPr sz="1100">
              <a:solidFill>
                <a:schemeClr val="dk1"/>
              </a:solidFill>
            </a:endParaRPr>
          </a:p>
          <a:p>
            <a:pPr indent="-298450" lvl="0" marL="457200" rtl="0" algn="l">
              <a:spcBef>
                <a:spcPts val="0"/>
              </a:spcBef>
              <a:spcAft>
                <a:spcPts val="0"/>
              </a:spcAft>
              <a:buClr>
                <a:schemeClr val="dk1"/>
              </a:buClr>
              <a:buSzPts val="1100"/>
              <a:buChar char="●"/>
            </a:pPr>
            <a:r>
              <a:rPr lang="fi" sz="1100">
                <a:solidFill>
                  <a:schemeClr val="dk1"/>
                </a:solidFill>
              </a:rPr>
              <a:t>Employment details</a:t>
            </a:r>
            <a:endParaRPr/>
          </a:p>
          <a:p>
            <a:pPr indent="0" lvl="0" marL="0" rtl="0" algn="l">
              <a:spcBef>
                <a:spcPts val="1200"/>
              </a:spcBef>
              <a:spcAft>
                <a:spcPts val="1200"/>
              </a:spcAft>
              <a:buNone/>
            </a:pPr>
            <a:r>
              <a:t/>
            </a:r>
            <a:endParaRPr/>
          </a:p>
        </p:txBody>
      </p:sp>
      <p:sp>
        <p:nvSpPr>
          <p:cNvPr id="132" name="Google Shape;13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t>‹#›</a:t>
            </a:fld>
            <a:endParaRPr/>
          </a:p>
        </p:txBody>
      </p:sp>
      <p:sp>
        <p:nvSpPr>
          <p:cNvPr id="133" name="Google Shape;133;p2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fi" sz="1100">
                <a:solidFill>
                  <a:schemeClr val="dk1"/>
                </a:solidFill>
              </a:rPr>
              <a:t> HR &amp; Payroll</a:t>
            </a:r>
            <a:endParaRPr b="1" sz="1100">
              <a:solidFill>
                <a:schemeClr val="dk1"/>
              </a:solidFill>
            </a:endParaRPr>
          </a:p>
          <a:p>
            <a:pPr indent="-298450" lvl="0" marL="457200" rtl="0" algn="l">
              <a:spcBef>
                <a:spcPts val="1200"/>
              </a:spcBef>
              <a:spcAft>
                <a:spcPts val="0"/>
              </a:spcAft>
              <a:buClr>
                <a:schemeClr val="dk1"/>
              </a:buClr>
              <a:buSzPts val="1100"/>
              <a:buChar char="●"/>
            </a:pPr>
            <a:r>
              <a:rPr lang="fi" sz="1100">
                <a:solidFill>
                  <a:schemeClr val="dk1"/>
                </a:solidFill>
              </a:rPr>
              <a:t>Submit your tax card to HR or Payroll before your first payday.</a:t>
            </a:r>
            <a:endParaRPr sz="1100">
              <a:solidFill>
                <a:schemeClr val="dk1"/>
              </a:solidFill>
            </a:endParaRPr>
          </a:p>
          <a:p>
            <a:pPr indent="-298450" lvl="0" marL="457200" rtl="0" algn="l">
              <a:spcBef>
                <a:spcPts val="0"/>
              </a:spcBef>
              <a:spcAft>
                <a:spcPts val="0"/>
              </a:spcAft>
              <a:buClr>
                <a:schemeClr val="dk1"/>
              </a:buClr>
              <a:buSzPts val="1100"/>
              <a:buChar char="●"/>
            </a:pPr>
            <a:r>
              <a:rPr lang="fi" sz="1100">
                <a:solidFill>
                  <a:schemeClr val="dk1"/>
                </a:solidFill>
              </a:rPr>
              <a:t>Payroll uses the tax card to calculate the correct amount of tax to withhold from your salary.</a:t>
            </a:r>
            <a:endParaRPr sz="1100">
              <a:solidFill>
                <a:schemeClr val="dk1"/>
              </a:solidFill>
            </a:endParaRPr>
          </a:p>
          <a:p>
            <a:pPr indent="0" lvl="0" marL="0" rtl="0" algn="l">
              <a:spcBef>
                <a:spcPts val="1200"/>
              </a:spcBef>
              <a:spcAft>
                <a:spcPts val="0"/>
              </a:spcAft>
              <a:buClr>
                <a:schemeClr val="dk1"/>
              </a:buClr>
              <a:buSzPts val="1100"/>
              <a:buFont typeface="Arial"/>
              <a:buNone/>
            </a:pPr>
            <a:r>
              <a:rPr b="1" lang="fi" sz="1100">
                <a:solidFill>
                  <a:schemeClr val="dk1"/>
                </a:solidFill>
              </a:rPr>
              <a:t>If Your Tax Card Is Missing</a:t>
            </a:r>
            <a:endParaRPr b="1" sz="1100">
              <a:solidFill>
                <a:schemeClr val="dk1"/>
              </a:solidFill>
            </a:endParaRPr>
          </a:p>
          <a:p>
            <a:pPr indent="-298450" lvl="0" marL="457200" rtl="0" algn="l">
              <a:spcBef>
                <a:spcPts val="1200"/>
              </a:spcBef>
              <a:spcAft>
                <a:spcPts val="0"/>
              </a:spcAft>
              <a:buClr>
                <a:schemeClr val="dk1"/>
              </a:buClr>
              <a:buSzPts val="1100"/>
              <a:buChar char="●"/>
            </a:pPr>
            <a:r>
              <a:rPr lang="fi" sz="1100">
                <a:solidFill>
                  <a:schemeClr val="dk1"/>
                </a:solidFill>
              </a:rPr>
              <a:t>Payroll may be required to withhold tax at a significantly higher rate until a valid tax card is received.</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Clr>
                <a:schemeClr val="dk1"/>
              </a:buClr>
              <a:buSzPct val="64706"/>
              <a:buFont typeface="Arial"/>
              <a:buNone/>
            </a:pPr>
            <a:r>
              <a:rPr b="1" lang="fi" sz="1700"/>
              <a:t>Common tax card types</a:t>
            </a:r>
            <a:endParaRPr b="1" sz="1700"/>
          </a:p>
          <a:p>
            <a:pPr indent="0" lvl="0" marL="0" rtl="0" algn="l">
              <a:spcBef>
                <a:spcPts val="400"/>
              </a:spcBef>
              <a:spcAft>
                <a:spcPts val="0"/>
              </a:spcAft>
              <a:buNone/>
            </a:pPr>
            <a:r>
              <a:t/>
            </a:r>
            <a:endParaRPr/>
          </a:p>
        </p:txBody>
      </p:sp>
      <p:sp>
        <p:nvSpPr>
          <p:cNvPr id="139" name="Google Shape;139;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t>‹#›</a:t>
            </a:fld>
            <a:endParaRPr/>
          </a:p>
        </p:txBody>
      </p:sp>
      <p:graphicFrame>
        <p:nvGraphicFramePr>
          <p:cNvPr id="140" name="Google Shape;140;p23"/>
          <p:cNvGraphicFramePr/>
          <p:nvPr/>
        </p:nvGraphicFramePr>
        <p:xfrm>
          <a:off x="223450" y="1182125"/>
          <a:ext cx="3000000" cy="3000000"/>
        </p:xfrm>
        <a:graphic>
          <a:graphicData uri="http://schemas.openxmlformats.org/drawingml/2006/table">
            <a:tbl>
              <a:tblPr>
                <a:noFill/>
                <a:tableStyleId>{88ECA0AB-4214-4633-85FE-4F567D8F92C5}</a:tableStyleId>
              </a:tblPr>
              <a:tblGrid>
                <a:gridCol w="1571625"/>
                <a:gridCol w="2705100"/>
                <a:gridCol w="1924050"/>
                <a:gridCol w="2552700"/>
              </a:tblGrid>
              <a:tr h="1905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lnSpc>
                          <a:spcPct val="115000"/>
                        </a:lnSpc>
                        <a:spcBef>
                          <a:spcPts val="0"/>
                        </a:spcBef>
                        <a:spcAft>
                          <a:spcPts val="0"/>
                        </a:spcAft>
                        <a:buNone/>
                      </a:pPr>
                      <a:r>
                        <a:rPr b="1" lang="fi" sz="1100"/>
                        <a:t>Standard Tax Card</a:t>
                      </a:r>
                      <a:endParaRPr b="1" sz="1100"/>
                    </a:p>
                  </a:txBody>
                  <a:tcPr marT="91425" marB="91425" marR="91425" marL="91425"/>
                </a:tc>
                <a:tc>
                  <a:txBody>
                    <a:bodyPr/>
                    <a:lstStyle/>
                    <a:p>
                      <a:pPr indent="0" lvl="0" marL="0" rtl="0" algn="ctr">
                        <a:lnSpc>
                          <a:spcPct val="115000"/>
                        </a:lnSpc>
                        <a:spcBef>
                          <a:spcPts val="0"/>
                        </a:spcBef>
                        <a:spcAft>
                          <a:spcPts val="0"/>
                        </a:spcAft>
                        <a:buNone/>
                      </a:pPr>
                      <a:r>
                        <a:rPr b="1" lang="fi" sz="1100"/>
                        <a:t>Source Tax Card</a:t>
                      </a:r>
                      <a:endParaRPr b="1" sz="1100"/>
                    </a:p>
                  </a:txBody>
                  <a:tcPr marT="91425" marB="91425" marR="91425" marL="91425"/>
                </a:tc>
                <a:tc>
                  <a:txBody>
                    <a:bodyPr/>
                    <a:lstStyle/>
                    <a:p>
                      <a:pPr indent="0" lvl="0" marL="0" rtl="0" algn="ctr">
                        <a:lnSpc>
                          <a:spcPct val="115000"/>
                        </a:lnSpc>
                        <a:spcBef>
                          <a:spcPts val="0"/>
                        </a:spcBef>
                        <a:spcAft>
                          <a:spcPts val="0"/>
                        </a:spcAft>
                        <a:buNone/>
                      </a:pPr>
                      <a:r>
                        <a:rPr b="1" lang="fi" sz="1100"/>
                        <a:t>Special Expat Tax Regime</a:t>
                      </a:r>
                      <a:endParaRPr b="1" sz="1100"/>
                    </a:p>
                  </a:txBody>
                  <a:tcPr marT="91425" marB="91425" marR="91425" marL="91425"/>
                </a:tc>
              </a:tr>
              <a:tr h="361950">
                <a:tc>
                  <a:txBody>
                    <a:bodyPr/>
                    <a:lstStyle/>
                    <a:p>
                      <a:pPr indent="0" lvl="0" marL="0" rtl="0" algn="l">
                        <a:spcBef>
                          <a:spcPts val="0"/>
                        </a:spcBef>
                        <a:spcAft>
                          <a:spcPts val="0"/>
                        </a:spcAft>
                        <a:buNone/>
                      </a:pPr>
                      <a:r>
                        <a:rPr b="1" lang="fi" sz="1100"/>
                        <a:t>Who typically receives it?</a:t>
                      </a:r>
                      <a:endParaRPr b="1" sz="1100"/>
                    </a:p>
                  </a:txBody>
                  <a:tcPr marT="91425" marB="91425" marR="91425" marL="91425"/>
                </a:tc>
                <a:tc>
                  <a:txBody>
                    <a:bodyPr/>
                    <a:lstStyle/>
                    <a:p>
                      <a:pPr indent="0" lvl="0" marL="0" rtl="0" algn="l">
                        <a:spcBef>
                          <a:spcPts val="0"/>
                        </a:spcBef>
                        <a:spcAft>
                          <a:spcPts val="0"/>
                        </a:spcAft>
                        <a:buNone/>
                      </a:pPr>
                      <a:r>
                        <a:rPr lang="fi" sz="1100"/>
                        <a:t>Employees staying in Finland </a:t>
                      </a:r>
                      <a:r>
                        <a:rPr b="1" lang="fi" sz="1100"/>
                        <a:t>over 6 months</a:t>
                      </a:r>
                      <a:endParaRPr b="1" sz="1100"/>
                    </a:p>
                  </a:txBody>
                  <a:tcPr marT="91425" marB="91425" marR="91425" marL="91425"/>
                </a:tc>
                <a:tc>
                  <a:txBody>
                    <a:bodyPr/>
                    <a:lstStyle/>
                    <a:p>
                      <a:pPr indent="0" lvl="0" marL="0" rtl="0" algn="l">
                        <a:spcBef>
                          <a:spcPts val="0"/>
                        </a:spcBef>
                        <a:spcAft>
                          <a:spcPts val="0"/>
                        </a:spcAft>
                        <a:buNone/>
                      </a:pPr>
                      <a:r>
                        <a:rPr lang="fi" sz="1100"/>
                        <a:t>Employees staying </a:t>
                      </a:r>
                      <a:r>
                        <a:rPr b="1" lang="fi" sz="1100"/>
                        <a:t>up to 6 months</a:t>
                      </a:r>
                      <a:endParaRPr b="1" sz="1100"/>
                    </a:p>
                  </a:txBody>
                  <a:tcPr marT="91425" marB="91425" marR="91425" marL="91425"/>
                </a:tc>
                <a:tc>
                  <a:txBody>
                    <a:bodyPr/>
                    <a:lstStyle/>
                    <a:p>
                      <a:pPr indent="0" lvl="0" marL="0" rtl="0" algn="l">
                        <a:spcBef>
                          <a:spcPts val="0"/>
                        </a:spcBef>
                        <a:spcAft>
                          <a:spcPts val="0"/>
                        </a:spcAft>
                        <a:buNone/>
                      </a:pPr>
                      <a:r>
                        <a:rPr lang="fi"/>
                        <a:t>Eligible foreign experts meeting specific criteria</a:t>
                      </a:r>
                      <a:endParaRPr/>
                    </a:p>
                  </a:txBody>
                  <a:tcPr marT="91425" marB="91425" marR="91425" marL="91425"/>
                </a:tc>
              </a:tr>
              <a:tr h="190500">
                <a:tc>
                  <a:txBody>
                    <a:bodyPr/>
                    <a:lstStyle/>
                    <a:p>
                      <a:pPr indent="0" lvl="0" marL="0" rtl="0" algn="l">
                        <a:spcBef>
                          <a:spcPts val="0"/>
                        </a:spcBef>
                        <a:spcAft>
                          <a:spcPts val="0"/>
                        </a:spcAft>
                        <a:buNone/>
                      </a:pPr>
                      <a:r>
                        <a:rPr b="1" lang="fi" sz="1100"/>
                        <a:t>Tax method</a:t>
                      </a:r>
                      <a:endParaRPr b="1" sz="1100"/>
                    </a:p>
                  </a:txBody>
                  <a:tcPr marT="91425" marB="91425" marR="91425" marL="91425"/>
                </a:tc>
                <a:tc>
                  <a:txBody>
                    <a:bodyPr/>
                    <a:lstStyle/>
                    <a:p>
                      <a:pPr indent="0" lvl="0" marL="0" rtl="0" algn="l">
                        <a:spcBef>
                          <a:spcPts val="0"/>
                        </a:spcBef>
                        <a:spcAft>
                          <a:spcPts val="0"/>
                        </a:spcAft>
                        <a:buNone/>
                      </a:pPr>
                      <a:r>
                        <a:rPr lang="fi"/>
                        <a:t>Progressive taxation</a:t>
                      </a:r>
                      <a:endParaRPr/>
                    </a:p>
                  </a:txBody>
                  <a:tcPr marT="91425" marB="91425" marR="91425" marL="91425"/>
                </a:tc>
                <a:tc>
                  <a:txBody>
                    <a:bodyPr/>
                    <a:lstStyle/>
                    <a:p>
                      <a:pPr indent="0" lvl="0" marL="0" rtl="0" algn="l">
                        <a:spcBef>
                          <a:spcPts val="0"/>
                        </a:spcBef>
                        <a:spcAft>
                          <a:spcPts val="0"/>
                        </a:spcAft>
                        <a:buNone/>
                      </a:pPr>
                      <a:r>
                        <a:rPr lang="fi"/>
                        <a:t>Flat source tax</a:t>
                      </a:r>
                      <a:endParaRPr/>
                    </a:p>
                  </a:txBody>
                  <a:tcPr marT="91425" marB="91425" marR="91425" marL="91425"/>
                </a:tc>
                <a:tc>
                  <a:txBody>
                    <a:bodyPr/>
                    <a:lstStyle/>
                    <a:p>
                      <a:pPr indent="0" lvl="0" marL="0" rtl="0" algn="l">
                        <a:spcBef>
                          <a:spcPts val="0"/>
                        </a:spcBef>
                        <a:spcAft>
                          <a:spcPts val="0"/>
                        </a:spcAft>
                        <a:buNone/>
                      </a:pPr>
                      <a:r>
                        <a:rPr lang="fi"/>
                        <a:t>Fixed special tax rate</a:t>
                      </a:r>
                      <a:endParaRPr/>
                    </a:p>
                  </a:txBody>
                  <a:tcPr marT="91425" marB="91425" marR="91425" marL="91425"/>
                </a:tc>
              </a:tr>
              <a:tr h="361950">
                <a:tc>
                  <a:txBody>
                    <a:bodyPr/>
                    <a:lstStyle/>
                    <a:p>
                      <a:pPr indent="0" lvl="0" marL="0" rtl="0" algn="l">
                        <a:spcBef>
                          <a:spcPts val="0"/>
                        </a:spcBef>
                        <a:spcAft>
                          <a:spcPts val="0"/>
                        </a:spcAft>
                        <a:buNone/>
                      </a:pPr>
                      <a:r>
                        <a:rPr b="1" lang="fi" sz="1100"/>
                        <a:t>Income estimate required?</a:t>
                      </a:r>
                      <a:endParaRPr b="1" sz="1100"/>
                    </a:p>
                  </a:txBody>
                  <a:tcPr marT="91425" marB="91425" marR="91425" marL="91425"/>
                </a:tc>
                <a:tc>
                  <a:txBody>
                    <a:bodyPr/>
                    <a:lstStyle/>
                    <a:p>
                      <a:pPr indent="0" lvl="0" marL="0" rtl="0" algn="l">
                        <a:spcBef>
                          <a:spcPts val="0"/>
                        </a:spcBef>
                        <a:spcAft>
                          <a:spcPts val="0"/>
                        </a:spcAft>
                        <a:buNone/>
                      </a:pPr>
                      <a:r>
                        <a:rPr lang="fi"/>
                        <a:t>✅ Yes</a:t>
                      </a:r>
                      <a:endParaRPr/>
                    </a:p>
                  </a:txBody>
                  <a:tcPr marT="91425" marB="91425" marR="91425" marL="91425"/>
                </a:tc>
                <a:tc>
                  <a:txBody>
                    <a:bodyPr/>
                    <a:lstStyle/>
                    <a:p>
                      <a:pPr indent="0" lvl="0" marL="0" rtl="0" algn="l">
                        <a:spcBef>
                          <a:spcPts val="0"/>
                        </a:spcBef>
                        <a:spcAft>
                          <a:spcPts val="0"/>
                        </a:spcAft>
                        <a:buNone/>
                      </a:pPr>
                      <a:r>
                        <a:rPr lang="fi"/>
                        <a:t>❌ Usually no</a:t>
                      </a:r>
                      <a:endParaRPr/>
                    </a:p>
                  </a:txBody>
                  <a:tcPr marT="91425" marB="91425" marR="91425" marL="91425"/>
                </a:tc>
                <a:tc>
                  <a:txBody>
                    <a:bodyPr/>
                    <a:lstStyle/>
                    <a:p>
                      <a:pPr indent="0" lvl="0" marL="0" rtl="0" algn="l">
                        <a:spcBef>
                          <a:spcPts val="0"/>
                        </a:spcBef>
                        <a:spcAft>
                          <a:spcPts val="0"/>
                        </a:spcAft>
                        <a:buNone/>
                      </a:pPr>
                      <a:r>
                        <a:rPr lang="fi"/>
                        <a:t>✅ Yes</a:t>
                      </a:r>
                      <a:endParaRPr/>
                    </a:p>
                  </a:txBody>
                  <a:tcPr marT="91425" marB="91425" marR="91425" marL="91425"/>
                </a:tc>
              </a:tr>
              <a:tr h="361950">
                <a:tc>
                  <a:txBody>
                    <a:bodyPr/>
                    <a:lstStyle/>
                    <a:p>
                      <a:pPr indent="0" lvl="0" marL="0" rtl="0" algn="l">
                        <a:spcBef>
                          <a:spcPts val="0"/>
                        </a:spcBef>
                        <a:spcAft>
                          <a:spcPts val="0"/>
                        </a:spcAft>
                        <a:buNone/>
                      </a:pPr>
                      <a:r>
                        <a:rPr b="1" lang="fi" sz="1100"/>
                        <a:t>Typical HR action</a:t>
                      </a:r>
                      <a:endParaRPr b="1" sz="1100"/>
                    </a:p>
                  </a:txBody>
                  <a:tcPr marT="91425" marB="91425" marR="91425" marL="91425"/>
                </a:tc>
                <a:tc>
                  <a:txBody>
                    <a:bodyPr/>
                    <a:lstStyle/>
                    <a:p>
                      <a:pPr indent="0" lvl="0" marL="0" rtl="0" algn="l">
                        <a:spcBef>
                          <a:spcPts val="0"/>
                        </a:spcBef>
                        <a:spcAft>
                          <a:spcPts val="0"/>
                        </a:spcAft>
                        <a:buNone/>
                      </a:pPr>
                      <a:r>
                        <a:rPr lang="fi"/>
                        <a:t>Payroll withholds according to tax card percentage</a:t>
                      </a:r>
                      <a:endParaRPr/>
                    </a:p>
                  </a:txBody>
                  <a:tcPr marT="91425" marB="91425" marR="91425" marL="91425"/>
                </a:tc>
                <a:tc>
                  <a:txBody>
                    <a:bodyPr/>
                    <a:lstStyle/>
                    <a:p>
                      <a:pPr indent="0" lvl="0" marL="0" rtl="0" algn="l">
                        <a:spcBef>
                          <a:spcPts val="0"/>
                        </a:spcBef>
                        <a:spcAft>
                          <a:spcPts val="0"/>
                        </a:spcAft>
                        <a:buNone/>
                      </a:pPr>
                      <a:r>
                        <a:rPr lang="fi"/>
                        <a:t>Payroll withholds source tax</a:t>
                      </a:r>
                      <a:endParaRPr/>
                    </a:p>
                  </a:txBody>
                  <a:tcPr marT="91425" marB="91425" marR="91425" marL="91425"/>
                </a:tc>
                <a:tc>
                  <a:txBody>
                    <a:bodyPr/>
                    <a:lstStyle/>
                    <a:p>
                      <a:pPr indent="0" lvl="0" marL="0" rtl="0" algn="l">
                        <a:spcBef>
                          <a:spcPts val="0"/>
                        </a:spcBef>
                        <a:spcAft>
                          <a:spcPts val="0"/>
                        </a:spcAft>
                        <a:buNone/>
                      </a:pPr>
                      <a:r>
                        <a:rPr lang="fi"/>
                        <a:t>Payroll applies approved special tax rate</a:t>
                      </a:r>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i"/>
              <a:t>Salary</a:t>
            </a:r>
            <a:endParaRPr/>
          </a:p>
          <a:p>
            <a:pPr indent="0" lvl="0" marL="0" rtl="0" algn="l">
              <a:spcBef>
                <a:spcPts val="0"/>
              </a:spcBef>
              <a:spcAft>
                <a:spcPts val="0"/>
              </a:spcAft>
              <a:buNone/>
            </a:pPr>
            <a:r>
              <a:t/>
            </a:r>
            <a:endParaRPr/>
          </a:p>
        </p:txBody>
      </p:sp>
      <p:sp>
        <p:nvSpPr>
          <p:cNvPr id="146" name="Google Shape;146;p2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Clr>
                <a:schemeClr val="dk1"/>
              </a:buClr>
              <a:buSzPts val="275"/>
              <a:buFont typeface="Arial"/>
              <a:buNone/>
            </a:pPr>
            <a:r>
              <a:rPr b="1" lang="fi" sz="4400">
                <a:solidFill>
                  <a:schemeClr val="dk1"/>
                </a:solidFill>
              </a:rPr>
              <a:t>Pay Day</a:t>
            </a:r>
            <a:endParaRPr b="1" sz="4400">
              <a:solidFill>
                <a:schemeClr val="dk1"/>
              </a:solidFill>
            </a:endParaRPr>
          </a:p>
          <a:p>
            <a:pPr indent="-298450" lvl="0" marL="457200" rtl="0" algn="l">
              <a:spcBef>
                <a:spcPts val="1200"/>
              </a:spcBef>
              <a:spcAft>
                <a:spcPts val="0"/>
              </a:spcAft>
              <a:buClr>
                <a:schemeClr val="dk1"/>
              </a:buClr>
              <a:buSzPct val="100000"/>
              <a:buChar char="●"/>
            </a:pPr>
            <a:r>
              <a:rPr lang="fi" sz="4400">
                <a:solidFill>
                  <a:schemeClr val="dk1"/>
                </a:solidFill>
              </a:rPr>
              <a:t>Salaries are typically paid </a:t>
            </a:r>
            <a:r>
              <a:rPr b="1" lang="fi" sz="4400">
                <a:solidFill>
                  <a:schemeClr val="dk1"/>
                </a:solidFill>
              </a:rPr>
              <a:t>once per month</a:t>
            </a:r>
            <a:r>
              <a:rPr lang="fi" sz="4400">
                <a:solidFill>
                  <a:schemeClr val="dk1"/>
                </a:solidFill>
              </a:rPr>
              <a:t> on the agreed pay date (e.g., the 15th or the last banking day of the month).</a:t>
            </a:r>
            <a:endParaRPr sz="4400">
              <a:solidFill>
                <a:schemeClr val="dk1"/>
              </a:solidFill>
            </a:endParaRPr>
          </a:p>
          <a:p>
            <a:pPr indent="0" lvl="0" marL="0" rtl="0" algn="l">
              <a:spcBef>
                <a:spcPts val="1200"/>
              </a:spcBef>
              <a:spcAft>
                <a:spcPts val="0"/>
              </a:spcAft>
              <a:buClr>
                <a:schemeClr val="dk1"/>
              </a:buClr>
              <a:buSzPts val="275"/>
              <a:buFont typeface="Arial"/>
              <a:buNone/>
            </a:pPr>
            <a:r>
              <a:rPr b="1" lang="fi" sz="4400">
                <a:solidFill>
                  <a:schemeClr val="dk1"/>
                </a:solidFill>
              </a:rPr>
              <a:t>What Your Salary May Include</a:t>
            </a:r>
            <a:endParaRPr b="1" sz="4400">
              <a:solidFill>
                <a:schemeClr val="dk1"/>
              </a:solidFill>
            </a:endParaRPr>
          </a:p>
          <a:p>
            <a:pPr indent="-298450" lvl="0" marL="457200" rtl="0" algn="l">
              <a:spcBef>
                <a:spcPts val="1200"/>
              </a:spcBef>
              <a:spcAft>
                <a:spcPts val="0"/>
              </a:spcAft>
              <a:buClr>
                <a:schemeClr val="dk1"/>
              </a:buClr>
              <a:buSzPct val="100000"/>
              <a:buChar char="●"/>
            </a:pPr>
            <a:r>
              <a:rPr lang="fi" sz="4400">
                <a:solidFill>
                  <a:schemeClr val="dk1"/>
                </a:solidFill>
              </a:rPr>
              <a:t>Base salary</a:t>
            </a:r>
            <a:endParaRPr sz="4400">
              <a:solidFill>
                <a:schemeClr val="dk1"/>
              </a:solidFill>
            </a:endParaRPr>
          </a:p>
          <a:p>
            <a:pPr indent="-298450" lvl="0" marL="457200" rtl="0" algn="l">
              <a:spcBef>
                <a:spcPts val="0"/>
              </a:spcBef>
              <a:spcAft>
                <a:spcPts val="0"/>
              </a:spcAft>
              <a:buClr>
                <a:schemeClr val="dk1"/>
              </a:buClr>
              <a:buSzPct val="100000"/>
              <a:buChar char="●"/>
            </a:pPr>
            <a:r>
              <a:rPr lang="fi" sz="4400">
                <a:solidFill>
                  <a:schemeClr val="dk1"/>
                </a:solidFill>
              </a:rPr>
              <a:t>Overtime compensation (if applicable)</a:t>
            </a:r>
            <a:endParaRPr sz="4400">
              <a:solidFill>
                <a:schemeClr val="dk1"/>
              </a:solidFill>
            </a:endParaRPr>
          </a:p>
          <a:p>
            <a:pPr indent="-298450" lvl="0" marL="457200" rtl="0" algn="l">
              <a:spcBef>
                <a:spcPts val="0"/>
              </a:spcBef>
              <a:spcAft>
                <a:spcPts val="0"/>
              </a:spcAft>
              <a:buClr>
                <a:schemeClr val="dk1"/>
              </a:buClr>
              <a:buSzPct val="100000"/>
              <a:buChar char="●"/>
            </a:pPr>
            <a:r>
              <a:rPr lang="fi" sz="4400">
                <a:solidFill>
                  <a:schemeClr val="dk1"/>
                </a:solidFill>
              </a:rPr>
              <a:t>Bonuses or other agreed allowances</a:t>
            </a:r>
            <a:endParaRPr sz="4400">
              <a:solidFill>
                <a:schemeClr val="dk1"/>
              </a:solidFill>
            </a:endParaRPr>
          </a:p>
          <a:p>
            <a:pPr indent="-298450" lvl="0" marL="457200" rtl="0" algn="l">
              <a:spcBef>
                <a:spcPts val="0"/>
              </a:spcBef>
              <a:spcAft>
                <a:spcPts val="0"/>
              </a:spcAft>
              <a:buClr>
                <a:schemeClr val="dk1"/>
              </a:buClr>
              <a:buSzPct val="100000"/>
              <a:buChar char="●"/>
            </a:pPr>
            <a:r>
              <a:rPr lang="fi" sz="4400">
                <a:solidFill>
                  <a:schemeClr val="dk1"/>
                </a:solidFill>
              </a:rPr>
              <a:t>Taxable employee benefits (if applicable)</a:t>
            </a:r>
            <a:endParaRPr sz="4400">
              <a:solidFill>
                <a:schemeClr val="dk1"/>
              </a:solidFill>
            </a:endParaRPr>
          </a:p>
          <a:p>
            <a:pPr indent="0" lvl="0" marL="0" rtl="0" algn="l">
              <a:spcBef>
                <a:spcPts val="1200"/>
              </a:spcBef>
              <a:spcAft>
                <a:spcPts val="0"/>
              </a:spcAft>
              <a:buClr>
                <a:schemeClr val="dk1"/>
              </a:buClr>
              <a:buSzPts val="275"/>
              <a:buFont typeface="Arial"/>
              <a:buNone/>
            </a:pPr>
            <a:r>
              <a:rPr b="1" lang="fi" sz="4400">
                <a:solidFill>
                  <a:schemeClr val="dk1"/>
                </a:solidFill>
              </a:rPr>
              <a:t>Payslip</a:t>
            </a:r>
            <a:br>
              <a:rPr b="1" lang="fi" sz="4400">
                <a:solidFill>
                  <a:schemeClr val="dk1"/>
                </a:solidFill>
              </a:rPr>
            </a:br>
            <a:r>
              <a:rPr lang="fi" sz="4400">
                <a:solidFill>
                  <a:schemeClr val="dk1"/>
                </a:solidFill>
              </a:rPr>
              <a:t>Review your payslip each month to understand:</a:t>
            </a:r>
            <a:endParaRPr sz="4400">
              <a:solidFill>
                <a:schemeClr val="dk1"/>
              </a:solidFill>
            </a:endParaRPr>
          </a:p>
          <a:p>
            <a:pPr indent="-298450" lvl="0" marL="457200" rtl="0" algn="l">
              <a:spcBef>
                <a:spcPts val="1200"/>
              </a:spcBef>
              <a:spcAft>
                <a:spcPts val="0"/>
              </a:spcAft>
              <a:buClr>
                <a:schemeClr val="dk1"/>
              </a:buClr>
              <a:buSzPct val="100000"/>
              <a:buChar char="●"/>
            </a:pPr>
            <a:r>
              <a:rPr b="1" lang="fi" sz="4400">
                <a:solidFill>
                  <a:schemeClr val="dk1"/>
                </a:solidFill>
              </a:rPr>
              <a:t>Gross salary</a:t>
            </a:r>
            <a:r>
              <a:rPr lang="fi" sz="4400">
                <a:solidFill>
                  <a:schemeClr val="dk1"/>
                </a:solidFill>
              </a:rPr>
              <a:t> – Earnings before deductions</a:t>
            </a:r>
            <a:endParaRPr sz="4400">
              <a:solidFill>
                <a:schemeClr val="dk1"/>
              </a:solidFill>
            </a:endParaRPr>
          </a:p>
          <a:p>
            <a:pPr indent="-298450" lvl="0" marL="457200" rtl="0" algn="l">
              <a:spcBef>
                <a:spcPts val="0"/>
              </a:spcBef>
              <a:spcAft>
                <a:spcPts val="0"/>
              </a:spcAft>
              <a:buClr>
                <a:schemeClr val="dk1"/>
              </a:buClr>
              <a:buSzPct val="100000"/>
              <a:buChar char="●"/>
            </a:pPr>
            <a:r>
              <a:rPr b="1" lang="fi" sz="4400">
                <a:solidFill>
                  <a:schemeClr val="dk1"/>
                </a:solidFill>
              </a:rPr>
              <a:t>Net salary</a:t>
            </a:r>
            <a:r>
              <a:rPr lang="fi" sz="4400">
                <a:solidFill>
                  <a:schemeClr val="dk1"/>
                </a:solidFill>
              </a:rPr>
              <a:t> – Amount paid into your bank account after deductions</a:t>
            </a:r>
            <a:endParaRPr sz="4400">
              <a:solidFill>
                <a:schemeClr val="dk1"/>
              </a:solidFill>
            </a:endParaRPr>
          </a:p>
          <a:p>
            <a:pPr indent="0" lvl="0" marL="381000" marR="381000" rtl="0" algn="l">
              <a:spcBef>
                <a:spcPts val="1200"/>
              </a:spcBef>
              <a:spcAft>
                <a:spcPts val="0"/>
              </a:spcAft>
              <a:buClr>
                <a:schemeClr val="dk1"/>
              </a:buClr>
              <a:buSzPct val="100000"/>
              <a:buFont typeface="Arial"/>
              <a:buNone/>
            </a:pPr>
            <a:r>
              <a:t/>
            </a:r>
            <a:endParaRPr sz="1100">
              <a:solidFill>
                <a:schemeClr val="dk1"/>
              </a:solidFill>
            </a:endParaRPr>
          </a:p>
          <a:p>
            <a:pPr indent="0" lvl="0" marL="0" rtl="0" algn="l">
              <a:spcBef>
                <a:spcPts val="1200"/>
              </a:spcBef>
              <a:spcAft>
                <a:spcPts val="0"/>
              </a:spcAft>
              <a:buClr>
                <a:schemeClr val="dk1"/>
              </a:buClr>
              <a:buSzPct val="78571"/>
              <a:buFont typeface="Arial"/>
              <a:buNone/>
            </a:pPr>
            <a:r>
              <a:t/>
            </a:r>
            <a:endParaRPr/>
          </a:p>
          <a:p>
            <a:pPr indent="0" lvl="0" marL="0" rtl="0" algn="l">
              <a:spcBef>
                <a:spcPts val="1200"/>
              </a:spcBef>
              <a:spcAft>
                <a:spcPts val="1200"/>
              </a:spcAft>
              <a:buNone/>
            </a:pPr>
            <a:r>
              <a:t/>
            </a:r>
            <a:endParaRPr/>
          </a:p>
        </p:txBody>
      </p:sp>
      <p:sp>
        <p:nvSpPr>
          <p:cNvPr id="147" name="Google Shape;147;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t>‹#›</a:t>
            </a:fld>
            <a:endParaRPr/>
          </a:p>
        </p:txBody>
      </p:sp>
      <p:sp>
        <p:nvSpPr>
          <p:cNvPr id="148" name="Google Shape;148;p2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fi" sz="1100">
                <a:solidFill>
                  <a:schemeClr val="dk1"/>
                </a:solidFill>
              </a:rPr>
              <a:t>Tax &amp; Deductions</a:t>
            </a:r>
            <a:br>
              <a:rPr b="1" lang="fi" sz="1100">
                <a:solidFill>
                  <a:schemeClr val="dk1"/>
                </a:solidFill>
              </a:rPr>
            </a:br>
            <a:r>
              <a:rPr lang="fi" sz="1100">
                <a:solidFill>
                  <a:schemeClr val="dk1"/>
                </a:solidFill>
              </a:rPr>
              <a:t>Your salary may include deductions for:</a:t>
            </a:r>
            <a:endParaRPr sz="1100">
              <a:solidFill>
                <a:schemeClr val="dk1"/>
              </a:solidFill>
            </a:endParaRPr>
          </a:p>
          <a:p>
            <a:pPr indent="-298450" lvl="0" marL="457200" rtl="0" algn="l">
              <a:spcBef>
                <a:spcPts val="1200"/>
              </a:spcBef>
              <a:spcAft>
                <a:spcPts val="0"/>
              </a:spcAft>
              <a:buClr>
                <a:schemeClr val="dk1"/>
              </a:buClr>
              <a:buSzPts val="1100"/>
              <a:buChar char="●"/>
            </a:pPr>
            <a:r>
              <a:rPr lang="fi" sz="1100">
                <a:solidFill>
                  <a:schemeClr val="dk1"/>
                </a:solidFill>
              </a:rPr>
              <a:t>Income tax</a:t>
            </a:r>
            <a:endParaRPr sz="1100">
              <a:solidFill>
                <a:schemeClr val="dk1"/>
              </a:solidFill>
            </a:endParaRPr>
          </a:p>
          <a:p>
            <a:pPr indent="-298450" lvl="0" marL="457200" rtl="0" algn="l">
              <a:spcBef>
                <a:spcPts val="0"/>
              </a:spcBef>
              <a:spcAft>
                <a:spcPts val="0"/>
              </a:spcAft>
              <a:buClr>
                <a:schemeClr val="dk1"/>
              </a:buClr>
              <a:buSzPts val="1100"/>
              <a:buChar char="●"/>
            </a:pPr>
            <a:r>
              <a:rPr lang="fi" sz="1100">
                <a:solidFill>
                  <a:schemeClr val="dk1"/>
                </a:solidFill>
              </a:rPr>
              <a:t>Pension contributions</a:t>
            </a:r>
            <a:endParaRPr sz="1100">
              <a:solidFill>
                <a:schemeClr val="dk1"/>
              </a:solidFill>
            </a:endParaRPr>
          </a:p>
          <a:p>
            <a:pPr indent="-298450" lvl="0" marL="457200" rtl="0" algn="l">
              <a:spcBef>
                <a:spcPts val="0"/>
              </a:spcBef>
              <a:spcAft>
                <a:spcPts val="0"/>
              </a:spcAft>
              <a:buClr>
                <a:schemeClr val="dk1"/>
              </a:buClr>
              <a:buSzPts val="1100"/>
              <a:buChar char="●"/>
            </a:pPr>
            <a:r>
              <a:rPr lang="fi" sz="1100">
                <a:solidFill>
                  <a:schemeClr val="dk1"/>
                </a:solidFill>
              </a:rPr>
              <a:t>Unemployment insurance</a:t>
            </a:r>
            <a:endParaRPr sz="1100">
              <a:solidFill>
                <a:schemeClr val="dk1"/>
              </a:solidFill>
            </a:endParaRPr>
          </a:p>
          <a:p>
            <a:pPr indent="-298450" lvl="0" marL="457200" rtl="0" algn="l">
              <a:spcBef>
                <a:spcPts val="0"/>
              </a:spcBef>
              <a:spcAft>
                <a:spcPts val="0"/>
              </a:spcAft>
              <a:buClr>
                <a:schemeClr val="dk1"/>
              </a:buClr>
              <a:buSzPts val="1100"/>
              <a:buChar char="●"/>
            </a:pPr>
            <a:r>
              <a:rPr lang="fi" sz="1100">
                <a:solidFill>
                  <a:schemeClr val="dk1"/>
                </a:solidFill>
              </a:rPr>
              <a:t>Other statutory deductions</a:t>
            </a:r>
            <a:endParaRPr sz="1100">
              <a:solidFill>
                <a:schemeClr val="dk1"/>
              </a:solidFill>
            </a:endParaRPr>
          </a:p>
          <a:p>
            <a:pPr indent="0" lvl="0" marL="0" rtl="0" algn="l">
              <a:spcBef>
                <a:spcPts val="1200"/>
              </a:spcBef>
              <a:spcAft>
                <a:spcPts val="0"/>
              </a:spcAft>
              <a:buNone/>
            </a:pPr>
            <a:r>
              <a:rPr b="1" lang="fi" sz="1100">
                <a:solidFill>
                  <a:schemeClr val="dk1"/>
                </a:solidFill>
              </a:rPr>
              <a:t>Payroll Questions</a:t>
            </a:r>
            <a:br>
              <a:rPr b="1" lang="fi" sz="1100">
                <a:solidFill>
                  <a:schemeClr val="dk1"/>
                </a:solidFill>
              </a:rPr>
            </a:br>
            <a:r>
              <a:rPr lang="fi" sz="1100">
                <a:solidFill>
                  <a:schemeClr val="dk1"/>
                </a:solidFill>
              </a:rPr>
              <a:t>If you notice any discrepancies in your salary or payslip, contact your </a:t>
            </a:r>
            <a:r>
              <a:rPr b="1" lang="fi" sz="1100">
                <a:solidFill>
                  <a:schemeClr val="dk1"/>
                </a:solidFill>
              </a:rPr>
              <a:t>Payroll or HR team</a:t>
            </a:r>
            <a:r>
              <a:rPr lang="fi" sz="1100">
                <a:solidFill>
                  <a:schemeClr val="dk1"/>
                </a:solidFill>
              </a:rPr>
              <a:t> as soon as possible.</a:t>
            </a:r>
            <a:endParaRPr sz="1100">
              <a:solidFill>
                <a:schemeClr val="dk1"/>
              </a:solidFill>
            </a:endParaRPr>
          </a:p>
          <a:p>
            <a:pPr indent="0" lvl="0" marL="381000" marR="381000" rtl="0" algn="l">
              <a:spcBef>
                <a:spcPts val="1200"/>
              </a:spcBef>
              <a:spcAft>
                <a:spcPts val="1200"/>
              </a:spcAft>
              <a:buClr>
                <a:schemeClr val="dk1"/>
              </a:buClr>
              <a:buSzPts val="1100"/>
              <a:buFont typeface="Arial"/>
              <a:buNone/>
            </a:pPr>
            <a:r>
              <a:t/>
            </a:r>
            <a:endParaRPr/>
          </a:p>
        </p:txBody>
      </p:sp>
      <p:sp>
        <p:nvSpPr>
          <p:cNvPr id="149" name="Google Shape;149;p24"/>
          <p:cNvSpPr txBox="1"/>
          <p:nvPr/>
        </p:nvSpPr>
        <p:spPr>
          <a:xfrm>
            <a:off x="5224700" y="3624925"/>
            <a:ext cx="1775400" cy="914400"/>
          </a:xfrm>
          <a:prstGeom prst="rect">
            <a:avLst/>
          </a:prstGeom>
          <a:solidFill>
            <a:srgbClr val="4CD6E1">
              <a:alpha val="4366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15000"/>
              </a:lnSpc>
              <a:spcBef>
                <a:spcPts val="1400"/>
              </a:spcBef>
              <a:spcAft>
                <a:spcPts val="0"/>
              </a:spcAft>
              <a:buNone/>
            </a:pPr>
            <a:r>
              <a:rPr b="1" lang="fi" sz="1100">
                <a:solidFill>
                  <a:schemeClr val="dk1"/>
                </a:solidFill>
                <a:latin typeface="Helvetica Neue"/>
                <a:ea typeface="Helvetica Neue"/>
                <a:cs typeface="Helvetica Neue"/>
                <a:sym typeface="Helvetica Neue"/>
              </a:rPr>
              <a:t>💡 HR Tip</a:t>
            </a:r>
            <a:endParaRPr b="1" sz="1100">
              <a:solidFill>
                <a:schemeClr val="dk1"/>
              </a:solidFill>
              <a:latin typeface="Helvetica Neue"/>
              <a:ea typeface="Helvetica Neue"/>
              <a:cs typeface="Helvetica Neue"/>
              <a:sym typeface="Helvetica Neue"/>
            </a:endParaRPr>
          </a:p>
          <a:p>
            <a:pPr indent="0" lvl="0" marL="0" marR="0" rtl="0" algn="l">
              <a:lnSpc>
                <a:spcPct val="115000"/>
              </a:lnSpc>
              <a:spcBef>
                <a:spcPts val="1400"/>
              </a:spcBef>
              <a:spcAft>
                <a:spcPts val="400"/>
              </a:spcAft>
              <a:buNone/>
            </a:pPr>
            <a:r>
              <a:rPr lang="fi" sz="700">
                <a:solidFill>
                  <a:schemeClr val="dk1"/>
                </a:solidFill>
                <a:latin typeface="Helvetica Neue Light"/>
                <a:ea typeface="Helvetica Neue Light"/>
                <a:cs typeface="Helvetica Neue Light"/>
                <a:sym typeface="Helvetica Neue Light"/>
              </a:rPr>
              <a:t>Keep your tax card and bank account information up to date to ensure accurate salary payments. </a:t>
            </a:r>
            <a:endParaRPr sz="7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sp>
        <p:nvSpPr>
          <p:cNvPr id="154" name="Google Shape;15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i"/>
              <a:t>Working hours</a:t>
            </a:r>
            <a:endParaRPr/>
          </a:p>
          <a:p>
            <a:pPr indent="0" lvl="0" marL="0" rtl="0" algn="l">
              <a:spcBef>
                <a:spcPts val="0"/>
              </a:spcBef>
              <a:spcAft>
                <a:spcPts val="0"/>
              </a:spcAft>
              <a:buNone/>
            </a:pPr>
            <a:r>
              <a:t/>
            </a:r>
            <a:endParaRPr/>
          </a:p>
        </p:txBody>
      </p:sp>
      <p:sp>
        <p:nvSpPr>
          <p:cNvPr id="155" name="Google Shape;15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fi" sz="1100">
                <a:solidFill>
                  <a:schemeClr val="dk1"/>
                </a:solidFill>
              </a:rPr>
              <a:t>The standard full-time working hours are </a:t>
            </a:r>
            <a:r>
              <a:rPr b="1" lang="fi" sz="1100">
                <a:solidFill>
                  <a:schemeClr val="dk1"/>
                </a:solidFill>
              </a:rPr>
              <a:t>37.5 hours per week</a:t>
            </a:r>
            <a:r>
              <a:rPr lang="fi" sz="1100">
                <a:solidFill>
                  <a:schemeClr val="dk1"/>
                </a:solidFill>
              </a:rPr>
              <a:t> in accordance with company policy and applicable Finnish labour market practices.</a:t>
            </a:r>
            <a:endParaRPr sz="1100">
              <a:solidFill>
                <a:schemeClr val="dk1"/>
              </a:solidFill>
            </a:endParaRPr>
          </a:p>
          <a:p>
            <a:pPr indent="0" lvl="0" marL="0" rtl="0" algn="l">
              <a:spcBef>
                <a:spcPts val="1200"/>
              </a:spcBef>
              <a:spcAft>
                <a:spcPts val="0"/>
              </a:spcAft>
              <a:buClr>
                <a:schemeClr val="dk1"/>
              </a:buClr>
              <a:buSzPts val="1100"/>
              <a:buFont typeface="Arial"/>
              <a:buNone/>
            </a:pPr>
            <a:r>
              <a:rPr lang="fi" sz="1100">
                <a:solidFill>
                  <a:schemeClr val="dk1"/>
                </a:solidFill>
              </a:rPr>
              <a:t>For office workers, working time is typically structured as:</a:t>
            </a:r>
            <a:endParaRPr sz="1100">
              <a:solidFill>
                <a:schemeClr val="dk1"/>
              </a:solidFill>
            </a:endParaRPr>
          </a:p>
          <a:p>
            <a:pPr indent="-298450" lvl="0" marL="457200" rtl="0" algn="l">
              <a:spcBef>
                <a:spcPts val="1200"/>
              </a:spcBef>
              <a:spcAft>
                <a:spcPts val="0"/>
              </a:spcAft>
              <a:buClr>
                <a:schemeClr val="dk1"/>
              </a:buClr>
              <a:buSzPts val="1100"/>
              <a:buChar char="●"/>
            </a:pPr>
            <a:r>
              <a:rPr lang="fi" sz="1100">
                <a:solidFill>
                  <a:schemeClr val="dk1"/>
                </a:solidFill>
              </a:rPr>
              <a:t>Approximately 7.5 hours per working day (Monday–Friday)</a:t>
            </a:r>
            <a:endParaRPr sz="1100">
              <a:solidFill>
                <a:schemeClr val="dk1"/>
              </a:solidFill>
            </a:endParaRPr>
          </a:p>
          <a:p>
            <a:pPr indent="-298450" lvl="0" marL="457200" rtl="0" algn="l">
              <a:spcBef>
                <a:spcPts val="0"/>
              </a:spcBef>
              <a:spcAft>
                <a:spcPts val="0"/>
              </a:spcAft>
              <a:buClr>
                <a:schemeClr val="dk1"/>
              </a:buClr>
              <a:buSzPts val="1100"/>
              <a:buChar char="●"/>
            </a:pPr>
            <a:r>
              <a:rPr lang="fi" sz="1100">
                <a:solidFill>
                  <a:schemeClr val="dk1"/>
                </a:solidFill>
              </a:rPr>
              <a:t>Flexible start and end times, depending on role and team agreement</a:t>
            </a:r>
            <a:endParaRPr sz="1100">
              <a:solidFill>
                <a:schemeClr val="dk1"/>
              </a:solidFill>
            </a:endParaRPr>
          </a:p>
          <a:p>
            <a:pPr indent="-298450" lvl="0" marL="457200" rtl="0" algn="l">
              <a:spcBef>
                <a:spcPts val="0"/>
              </a:spcBef>
              <a:spcAft>
                <a:spcPts val="0"/>
              </a:spcAft>
              <a:buClr>
                <a:schemeClr val="dk1"/>
              </a:buClr>
              <a:buSzPts val="1100"/>
              <a:buChar char="●"/>
            </a:pPr>
            <a:r>
              <a:rPr lang="fi" sz="1100">
                <a:solidFill>
                  <a:schemeClr val="dk1"/>
                </a:solidFill>
              </a:rPr>
              <a:t>Core working hours from 9-15, when you should be available for meetings </a:t>
            </a:r>
            <a:endParaRPr sz="1100">
              <a:solidFill>
                <a:schemeClr val="dk1"/>
              </a:solidFill>
            </a:endParaRPr>
          </a:p>
          <a:p>
            <a:pPr indent="0" lvl="0" marL="0" rtl="0" algn="l">
              <a:spcBef>
                <a:spcPts val="1200"/>
              </a:spcBef>
              <a:spcAft>
                <a:spcPts val="0"/>
              </a:spcAft>
              <a:buClr>
                <a:schemeClr val="dk1"/>
              </a:buClr>
              <a:buSzPts val="1100"/>
              <a:buFont typeface="Arial"/>
              <a:buNone/>
            </a:pPr>
            <a:r>
              <a:rPr lang="fi" sz="1100">
                <a:solidFill>
                  <a:schemeClr val="dk1"/>
                </a:solidFill>
              </a:rPr>
              <a:t>Employees are expected to manage their working time responsibly, ensuring alignment with role requirements, deadlines and team coordination.</a:t>
            </a:r>
            <a:endParaRPr sz="1100">
              <a:solidFill>
                <a:schemeClr val="dk1"/>
              </a:solidFill>
            </a:endParaRPr>
          </a:p>
          <a:p>
            <a:pPr indent="0" lvl="0" marL="0" rtl="0" algn="l">
              <a:spcBef>
                <a:spcPts val="1200"/>
              </a:spcBef>
              <a:spcAft>
                <a:spcPts val="0"/>
              </a:spcAft>
              <a:buClr>
                <a:schemeClr val="dk1"/>
              </a:buClr>
              <a:buSzPts val="1100"/>
              <a:buFont typeface="Arial"/>
              <a:buNone/>
            </a:pPr>
            <a:r>
              <a:rPr lang="fi" sz="1100">
                <a:solidFill>
                  <a:schemeClr val="dk1"/>
                </a:solidFill>
              </a:rPr>
              <a:t>Where applicable, flexible working arrangements and hybrid work options may be available, subject to managerial approval and business needs.</a:t>
            </a:r>
            <a:endParaRPr sz="1100">
              <a:solidFill>
                <a:schemeClr val="dk1"/>
              </a:solidFill>
            </a:endParaRPr>
          </a:p>
          <a:p>
            <a:pPr indent="0" lvl="0" marL="0" rtl="0" algn="l">
              <a:spcBef>
                <a:spcPts val="1200"/>
              </a:spcBef>
              <a:spcAft>
                <a:spcPts val="1200"/>
              </a:spcAft>
              <a:buNone/>
            </a:pPr>
            <a:r>
              <a:t/>
            </a:r>
            <a:endParaRPr/>
          </a:p>
        </p:txBody>
      </p:sp>
      <p:sp>
        <p:nvSpPr>
          <p:cNvPr id="156" name="Google Shape;156;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i"/>
              <a:t>Social Security</a:t>
            </a:r>
            <a:endParaRPr/>
          </a:p>
        </p:txBody>
      </p:sp>
      <p:sp>
        <p:nvSpPr>
          <p:cNvPr id="162" name="Google Shape;16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t>‹#›</a:t>
            </a:fld>
            <a:endParaRPr/>
          </a:p>
        </p:txBody>
      </p:sp>
      <p:sp>
        <p:nvSpPr>
          <p:cNvPr id="163" name="Google Shape;163;p26"/>
          <p:cNvSpPr txBox="1"/>
          <p:nvPr/>
        </p:nvSpPr>
        <p:spPr>
          <a:xfrm>
            <a:off x="253625" y="2571750"/>
            <a:ext cx="3000000" cy="187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i" sz="1100">
                <a:solidFill>
                  <a:schemeClr val="dk1"/>
                </a:solidFill>
              </a:rPr>
              <a:t>Social Security Agreements</a:t>
            </a:r>
            <a:endParaRPr b="1" sz="1100">
              <a:solidFill>
                <a:schemeClr val="dk1"/>
              </a:solidFill>
            </a:endParaRPr>
          </a:p>
          <a:p>
            <a:pPr indent="0" lvl="0" marL="0" rtl="0" algn="l">
              <a:lnSpc>
                <a:spcPct val="115000"/>
              </a:lnSpc>
              <a:spcBef>
                <a:spcPts val="1200"/>
              </a:spcBef>
              <a:spcAft>
                <a:spcPts val="1200"/>
              </a:spcAft>
              <a:buNone/>
            </a:pPr>
            <a:r>
              <a:rPr lang="fi" sz="1100">
                <a:solidFill>
                  <a:schemeClr val="dk1"/>
                </a:solidFill>
              </a:rPr>
              <a:t>Finland has social security agreements with certain countries. If you are relocating internationally or on an assignment, these agreements may affect where social security contributions are paid and which country's legislation applies. If you have questions, contact HR before your relocation.</a:t>
            </a:r>
            <a:endParaRPr sz="1100">
              <a:solidFill>
                <a:schemeClr val="dk1"/>
              </a:solidFill>
            </a:endParaRPr>
          </a:p>
        </p:txBody>
      </p:sp>
      <p:sp>
        <p:nvSpPr>
          <p:cNvPr id="164" name="Google Shape;164;p26"/>
          <p:cNvSpPr txBox="1"/>
          <p:nvPr/>
        </p:nvSpPr>
        <p:spPr>
          <a:xfrm>
            <a:off x="167375" y="1384775"/>
            <a:ext cx="35661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i" sz="1100">
                <a:solidFill>
                  <a:schemeClr val="dk1"/>
                </a:solidFill>
              </a:rPr>
              <a:t>Finland’s social security system is residence-based and administered mainly by Kela.</a:t>
            </a:r>
            <a:endParaRPr sz="1100">
              <a:solidFill>
                <a:schemeClr val="dk1"/>
              </a:solidFill>
            </a:endParaRPr>
          </a:p>
          <a:p>
            <a:pPr indent="0" lvl="0" marL="0" rtl="0" algn="l">
              <a:spcBef>
                <a:spcPts val="0"/>
              </a:spcBef>
              <a:spcAft>
                <a:spcPts val="0"/>
              </a:spcAft>
              <a:buNone/>
            </a:pPr>
            <a:r>
              <a:rPr lang="fi" sz="1100">
                <a:solidFill>
                  <a:schemeClr val="dk1"/>
                </a:solidFill>
              </a:rPr>
              <a:t>Coverage typically depends on either </a:t>
            </a:r>
            <a:r>
              <a:rPr b="1" lang="fi" sz="1100">
                <a:solidFill>
                  <a:schemeClr val="dk1"/>
                </a:solidFill>
              </a:rPr>
              <a:t>residence in Finland</a:t>
            </a:r>
            <a:r>
              <a:rPr lang="fi" sz="1100">
                <a:solidFill>
                  <a:schemeClr val="dk1"/>
                </a:solidFill>
              </a:rPr>
              <a:t> or </a:t>
            </a:r>
            <a:r>
              <a:rPr b="1" lang="fi" sz="1100">
                <a:solidFill>
                  <a:schemeClr val="dk1"/>
                </a:solidFill>
              </a:rPr>
              <a:t>working in Finland under certain conditions</a:t>
            </a:r>
            <a:r>
              <a:rPr lang="fi" sz="1100">
                <a:solidFill>
                  <a:schemeClr val="dk1"/>
                </a:solidFill>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 name="Shape 168"/>
        <p:cNvGrpSpPr/>
        <p:nvPr/>
      </p:nvGrpSpPr>
      <p:grpSpPr>
        <a:xfrm>
          <a:off x="0" y="0"/>
          <a:ext cx="0" cy="0"/>
          <a:chOff x="0" y="0"/>
          <a:chExt cx="0" cy="0"/>
        </a:xfrm>
      </p:grpSpPr>
      <p:sp>
        <p:nvSpPr>
          <p:cNvPr id="169" name="Google Shape;169;p27"/>
          <p:cNvSpPr txBox="1"/>
          <p:nvPr>
            <p:ph type="title"/>
          </p:nvPr>
        </p:nvSpPr>
        <p:spPr>
          <a:xfrm>
            <a:off x="311700" y="460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7931"/>
              <a:buFont typeface="Arial"/>
              <a:buNone/>
            </a:pPr>
            <a:r>
              <a:rPr b="1" lang="fi" sz="2900">
                <a:latin typeface="Helvetica Neue"/>
                <a:ea typeface="Helvetica Neue"/>
                <a:cs typeface="Helvetica Neue"/>
                <a:sym typeface="Helvetica Neue"/>
              </a:rPr>
              <a:t>Annual leave</a:t>
            </a:r>
            <a:endParaRPr/>
          </a:p>
          <a:p>
            <a:pPr indent="0" lvl="0" marL="0" rtl="0" algn="l">
              <a:spcBef>
                <a:spcPts val="0"/>
              </a:spcBef>
              <a:spcAft>
                <a:spcPts val="0"/>
              </a:spcAft>
              <a:buNone/>
            </a:pPr>
            <a:r>
              <a:t/>
            </a:r>
            <a:endParaRPr b="1" sz="2900">
              <a:latin typeface="Helvetica Neue"/>
              <a:ea typeface="Helvetica Neue"/>
              <a:cs typeface="Helvetica Neue"/>
              <a:sym typeface="Helvetica Neue"/>
            </a:endParaRPr>
          </a:p>
        </p:txBody>
      </p:sp>
      <p:sp>
        <p:nvSpPr>
          <p:cNvPr id="170" name="Google Shape;170;p27"/>
          <p:cNvSpPr txBox="1"/>
          <p:nvPr>
            <p:ph idx="1" type="body"/>
          </p:nvPr>
        </p:nvSpPr>
        <p:spPr>
          <a:xfrm>
            <a:off x="418200" y="1032950"/>
            <a:ext cx="41217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fi" sz="1100">
                <a:solidFill>
                  <a:schemeClr val="dk1"/>
                </a:solidFill>
              </a:rPr>
              <a:t>Leave Accrual</a:t>
            </a:r>
            <a:endParaRPr b="1" sz="1100">
              <a:solidFill>
                <a:schemeClr val="dk1"/>
              </a:solidFill>
            </a:endParaRPr>
          </a:p>
          <a:p>
            <a:pPr indent="-298450" lvl="0" marL="457200" rtl="0" algn="l">
              <a:spcBef>
                <a:spcPts val="1200"/>
              </a:spcBef>
              <a:spcAft>
                <a:spcPts val="0"/>
              </a:spcAft>
              <a:buClr>
                <a:schemeClr val="dk1"/>
              </a:buClr>
              <a:buSzPts val="1100"/>
              <a:buChar char="●"/>
            </a:pPr>
            <a:r>
              <a:rPr lang="fi" sz="1100">
                <a:solidFill>
                  <a:schemeClr val="dk1"/>
                </a:solidFill>
              </a:rPr>
              <a:t>Annual leave is earned based on your employment and the number of months worked.</a:t>
            </a:r>
            <a:endParaRPr sz="1100">
              <a:solidFill>
                <a:schemeClr val="dk1"/>
              </a:solidFill>
            </a:endParaRPr>
          </a:p>
          <a:p>
            <a:pPr indent="-298450" lvl="0" marL="457200" rtl="0" algn="l">
              <a:spcBef>
                <a:spcPts val="0"/>
              </a:spcBef>
              <a:spcAft>
                <a:spcPts val="0"/>
              </a:spcAft>
              <a:buClr>
                <a:schemeClr val="dk1"/>
              </a:buClr>
              <a:buSzPts val="1100"/>
              <a:buChar char="●"/>
            </a:pPr>
            <a:r>
              <a:rPr lang="fi" sz="1100">
                <a:solidFill>
                  <a:schemeClr val="dk1"/>
                </a:solidFill>
              </a:rPr>
              <a:t>The amount of leave depends on your length of service and applicable legislation or collective agreement.</a:t>
            </a:r>
            <a:endParaRPr sz="1100">
              <a:solidFill>
                <a:schemeClr val="dk1"/>
              </a:solidFill>
            </a:endParaRPr>
          </a:p>
          <a:p>
            <a:pPr indent="0" lvl="0" marL="0" rtl="0" algn="l">
              <a:spcBef>
                <a:spcPts val="1200"/>
              </a:spcBef>
              <a:spcAft>
                <a:spcPts val="0"/>
              </a:spcAft>
              <a:buClr>
                <a:schemeClr val="dk1"/>
              </a:buClr>
              <a:buSzPts val="1100"/>
              <a:buFont typeface="Arial"/>
              <a:buNone/>
            </a:pPr>
            <a:r>
              <a:rPr b="1" lang="fi" sz="1100">
                <a:solidFill>
                  <a:schemeClr val="dk1"/>
                </a:solidFill>
              </a:rPr>
              <a:t>Holiday Year</a:t>
            </a:r>
            <a:endParaRPr b="1" sz="1100">
              <a:solidFill>
                <a:schemeClr val="dk1"/>
              </a:solidFill>
            </a:endParaRPr>
          </a:p>
          <a:p>
            <a:pPr indent="-298450" lvl="0" marL="457200" rtl="0" algn="l">
              <a:spcBef>
                <a:spcPts val="1200"/>
              </a:spcBef>
              <a:spcAft>
                <a:spcPts val="0"/>
              </a:spcAft>
              <a:buClr>
                <a:schemeClr val="dk1"/>
              </a:buClr>
              <a:buSzPts val="1100"/>
              <a:buChar char="●"/>
            </a:pPr>
            <a:r>
              <a:rPr lang="fi" sz="1100">
                <a:solidFill>
                  <a:schemeClr val="dk1"/>
                </a:solidFill>
              </a:rPr>
              <a:t>The Finnish holiday year typically runs from </a:t>
            </a:r>
            <a:r>
              <a:rPr b="1" lang="fi" sz="1100">
                <a:solidFill>
                  <a:schemeClr val="dk1"/>
                </a:solidFill>
              </a:rPr>
              <a:t>1 April to 31 March</a:t>
            </a:r>
            <a:r>
              <a:rPr lang="fi"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fi" sz="1100">
                <a:solidFill>
                  <a:schemeClr val="dk1"/>
                </a:solidFill>
              </a:rPr>
              <a:t>Leave earned during this period is generally taken during the </a:t>
            </a:r>
            <a:r>
              <a:rPr b="1" i="1" lang="fi" sz="1100">
                <a:solidFill>
                  <a:schemeClr val="dk1"/>
                </a:solidFill>
              </a:rPr>
              <a:t>following</a:t>
            </a:r>
            <a:r>
              <a:rPr lang="fi" sz="1100">
                <a:solidFill>
                  <a:schemeClr val="dk1"/>
                </a:solidFill>
              </a:rPr>
              <a:t> holiday season.</a:t>
            </a:r>
            <a:endParaRPr sz="11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t/>
            </a:r>
            <a:endParaRPr/>
          </a:p>
        </p:txBody>
      </p:sp>
      <p:sp>
        <p:nvSpPr>
          <p:cNvPr id="171" name="Google Shape;171;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t>‹#›</a:t>
            </a:fld>
            <a:endParaRPr/>
          </a:p>
        </p:txBody>
      </p:sp>
      <p:sp>
        <p:nvSpPr>
          <p:cNvPr id="172" name="Google Shape;172;p27"/>
          <p:cNvSpPr txBox="1"/>
          <p:nvPr/>
        </p:nvSpPr>
        <p:spPr>
          <a:xfrm>
            <a:off x="4886150" y="1398150"/>
            <a:ext cx="3824700" cy="221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fi" sz="1000">
                <a:solidFill>
                  <a:schemeClr val="dk1"/>
                </a:solidFill>
              </a:rPr>
              <a:t>Requesting Leave</a:t>
            </a:r>
            <a:endParaRPr b="1"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fi" sz="1000">
                <a:solidFill>
                  <a:schemeClr val="dk1"/>
                </a:solidFill>
              </a:rPr>
              <a:t>Submit your leave request through your company's HR system or to your manager.</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fi" sz="1000">
                <a:solidFill>
                  <a:schemeClr val="dk1"/>
                </a:solidFill>
              </a:rPr>
              <a:t>Annual leave should be agreed upon and approved in advance.</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fi" sz="1000">
                <a:solidFill>
                  <a:schemeClr val="dk1"/>
                </a:solidFill>
              </a:rPr>
              <a:t>Carry-Over</a:t>
            </a:r>
            <a:endParaRPr b="1"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fi" sz="1000">
                <a:solidFill>
                  <a:schemeClr val="dk1"/>
                </a:solidFill>
              </a:rPr>
              <a:t>Unused leave may be carried over or compensated in accordance with company policy, the Annual Holidays Act or the applicable collective agreement.</a:t>
            </a:r>
            <a:endParaRPr b="1" sz="1000">
              <a:solidFill>
                <a:schemeClr val="dk1"/>
              </a:solidFill>
              <a:latin typeface="Helvetica Neue"/>
              <a:ea typeface="Helvetica Neue"/>
              <a:cs typeface="Helvetica Neue"/>
              <a:sym typeface="Helvetica Neue"/>
            </a:endParaRPr>
          </a:p>
        </p:txBody>
      </p:sp>
      <p:sp>
        <p:nvSpPr>
          <p:cNvPr id="173" name="Google Shape;173;p27"/>
          <p:cNvSpPr txBox="1"/>
          <p:nvPr/>
        </p:nvSpPr>
        <p:spPr>
          <a:xfrm>
            <a:off x="5296425" y="4103600"/>
            <a:ext cx="2419500" cy="977400"/>
          </a:xfrm>
          <a:prstGeom prst="rect">
            <a:avLst/>
          </a:prstGeom>
          <a:solidFill>
            <a:srgbClr val="4CD6E1">
              <a:alpha val="4366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15000"/>
              </a:lnSpc>
              <a:spcBef>
                <a:spcPts val="1400"/>
              </a:spcBef>
              <a:spcAft>
                <a:spcPts val="0"/>
              </a:spcAft>
              <a:buNone/>
            </a:pPr>
            <a:r>
              <a:rPr b="1" lang="fi" sz="900">
                <a:solidFill>
                  <a:schemeClr val="dk1"/>
                </a:solidFill>
                <a:latin typeface="Helvetica Neue"/>
                <a:ea typeface="Helvetica Neue"/>
                <a:cs typeface="Helvetica Neue"/>
                <a:sym typeface="Helvetica Neue"/>
              </a:rPr>
              <a:t>💡 HR Tip</a:t>
            </a:r>
            <a:endParaRPr b="1" sz="900">
              <a:solidFill>
                <a:schemeClr val="dk1"/>
              </a:solidFill>
              <a:latin typeface="Helvetica Neue"/>
              <a:ea typeface="Helvetica Neue"/>
              <a:cs typeface="Helvetica Neue"/>
              <a:sym typeface="Helvetica Neue"/>
            </a:endParaRPr>
          </a:p>
          <a:p>
            <a:pPr indent="0" lvl="0" marL="0" marR="381000" rtl="0" algn="l">
              <a:lnSpc>
                <a:spcPct val="115000"/>
              </a:lnSpc>
              <a:spcBef>
                <a:spcPts val="1200"/>
              </a:spcBef>
              <a:spcAft>
                <a:spcPts val="1200"/>
              </a:spcAft>
              <a:buClr>
                <a:schemeClr val="dk1"/>
              </a:buClr>
              <a:buSzPts val="1100"/>
              <a:buFont typeface="Arial"/>
              <a:buNone/>
            </a:pPr>
            <a:r>
              <a:rPr lang="fi" sz="700">
                <a:solidFill>
                  <a:schemeClr val="dk1"/>
                </a:solidFill>
              </a:rPr>
              <a:t>Always check your employment contract, collective agreement (TES) and company policies for details about your annual leave entitlement and leave procedures.</a:t>
            </a:r>
            <a:endParaRPr sz="400">
              <a:solidFill>
                <a:schemeClr val="dk1"/>
              </a:solidFill>
              <a:latin typeface="Helvetica Neue Light"/>
              <a:ea typeface="Helvetica Neue Light"/>
              <a:cs typeface="Helvetica Neue Light"/>
              <a:sym typeface="Helvetica Neue Light"/>
            </a:endParaRPr>
          </a:p>
        </p:txBody>
      </p:sp>
      <p:sp>
        <p:nvSpPr>
          <p:cNvPr id="174" name="Google Shape;174;p27"/>
          <p:cNvSpPr txBox="1"/>
          <p:nvPr/>
        </p:nvSpPr>
        <p:spPr>
          <a:xfrm>
            <a:off x="5388775" y="136935"/>
            <a:ext cx="15825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i" sz="700">
                <a:solidFill>
                  <a:schemeClr val="dk1"/>
                </a:solidFill>
              </a:rPr>
              <a:t>Example Annual Leave </a:t>
            </a:r>
            <a:endParaRPr b="1" sz="700">
              <a:solidFill>
                <a:schemeClr val="dk1"/>
              </a:solidFill>
            </a:endParaRPr>
          </a:p>
          <a:p>
            <a:pPr indent="0" lvl="0" marL="0" rtl="0" algn="l">
              <a:spcBef>
                <a:spcPts val="0"/>
              </a:spcBef>
              <a:spcAft>
                <a:spcPts val="0"/>
              </a:spcAft>
              <a:buNone/>
            </a:pPr>
            <a:r>
              <a:t/>
            </a:r>
            <a:endParaRPr sz="700">
              <a:solidFill>
                <a:schemeClr val="dk1"/>
              </a:solidFill>
            </a:endParaRPr>
          </a:p>
          <a:p>
            <a:pPr indent="0" lvl="0" marL="0" rtl="0" algn="l">
              <a:spcBef>
                <a:spcPts val="0"/>
              </a:spcBef>
              <a:spcAft>
                <a:spcPts val="0"/>
              </a:spcAft>
              <a:buNone/>
            </a:pPr>
            <a:r>
              <a:rPr lang="fi" sz="700">
                <a:solidFill>
                  <a:schemeClr val="dk1"/>
                </a:solidFill>
              </a:rPr>
              <a:t>🟨 24 days</a:t>
            </a:r>
            <a:endParaRPr sz="700">
              <a:solidFill>
                <a:schemeClr val="dk1"/>
              </a:solidFill>
            </a:endParaRPr>
          </a:p>
          <a:p>
            <a:pPr indent="0" lvl="0" marL="0" rtl="0" algn="l">
              <a:spcBef>
                <a:spcPts val="0"/>
              </a:spcBef>
              <a:spcAft>
                <a:spcPts val="0"/>
              </a:spcAft>
              <a:buNone/>
            </a:pPr>
            <a:r>
              <a:rPr lang="fi" sz="700">
                <a:solidFill>
                  <a:schemeClr val="dk1"/>
                </a:solidFill>
              </a:rPr>
              <a:t>Summer Holiday</a:t>
            </a:r>
            <a:endParaRPr sz="700">
              <a:solidFill>
                <a:schemeClr val="dk1"/>
              </a:solidFill>
            </a:endParaRPr>
          </a:p>
          <a:p>
            <a:pPr indent="0" lvl="0" marL="0" rtl="0" algn="l">
              <a:spcBef>
                <a:spcPts val="0"/>
              </a:spcBef>
              <a:spcAft>
                <a:spcPts val="0"/>
              </a:spcAft>
              <a:buNone/>
            </a:pPr>
            <a:r>
              <a:rPr lang="fi" sz="700">
                <a:solidFill>
                  <a:schemeClr val="dk1"/>
                </a:solidFill>
              </a:rPr>
              <a:t>(May–September)</a:t>
            </a:r>
            <a:endParaRPr sz="700">
              <a:solidFill>
                <a:schemeClr val="dk1"/>
              </a:solidFill>
            </a:endParaRPr>
          </a:p>
          <a:p>
            <a:pPr indent="0" lvl="0" marL="0" rtl="0" algn="l">
              <a:spcBef>
                <a:spcPts val="0"/>
              </a:spcBef>
              <a:spcAft>
                <a:spcPts val="0"/>
              </a:spcAft>
              <a:buNone/>
            </a:pPr>
            <a:r>
              <a:t/>
            </a:r>
            <a:endParaRPr sz="700">
              <a:solidFill>
                <a:schemeClr val="dk1"/>
              </a:solidFill>
            </a:endParaRPr>
          </a:p>
          <a:p>
            <a:pPr indent="0" lvl="0" marL="0" rtl="0" algn="l">
              <a:spcBef>
                <a:spcPts val="0"/>
              </a:spcBef>
              <a:spcAft>
                <a:spcPts val="0"/>
              </a:spcAft>
              <a:buNone/>
            </a:pPr>
            <a:r>
              <a:rPr lang="fi" sz="700">
                <a:solidFill>
                  <a:schemeClr val="dk1"/>
                </a:solidFill>
              </a:rPr>
              <a:t>🟦 6 days</a:t>
            </a:r>
            <a:endParaRPr sz="700">
              <a:solidFill>
                <a:schemeClr val="dk1"/>
              </a:solidFill>
            </a:endParaRPr>
          </a:p>
          <a:p>
            <a:pPr indent="0" lvl="0" marL="0" rtl="0" algn="l">
              <a:spcBef>
                <a:spcPts val="0"/>
              </a:spcBef>
              <a:spcAft>
                <a:spcPts val="0"/>
              </a:spcAft>
              <a:buNone/>
            </a:pPr>
            <a:r>
              <a:rPr lang="fi" sz="700">
                <a:solidFill>
                  <a:schemeClr val="dk1"/>
                </a:solidFill>
              </a:rPr>
              <a:t>Winter Holiday</a:t>
            </a:r>
            <a:endParaRPr sz="700">
              <a:solidFill>
                <a:schemeClr val="dk1"/>
              </a:solidFill>
            </a:endParaRPr>
          </a:p>
          <a:p>
            <a:pPr indent="0" lvl="0" marL="0" rtl="0" algn="l">
              <a:spcBef>
                <a:spcPts val="0"/>
              </a:spcBef>
              <a:spcAft>
                <a:spcPts val="0"/>
              </a:spcAft>
              <a:buNone/>
            </a:pPr>
            <a:r>
              <a:rPr lang="fi" sz="700">
                <a:solidFill>
                  <a:schemeClr val="dk1"/>
                </a:solidFill>
              </a:rPr>
              <a:t>(October–April)</a:t>
            </a:r>
            <a:endParaRPr sz="7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sp>
        <p:nvSpPr>
          <p:cNvPr id="179" name="Google Shape;17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fi" sz="2900">
                <a:latin typeface="Helvetica Neue"/>
                <a:ea typeface="Helvetica Neue"/>
                <a:cs typeface="Helvetica Neue"/>
                <a:sym typeface="Helvetica Neue"/>
              </a:rPr>
              <a:t>Occupational healthcare</a:t>
            </a:r>
            <a:endParaRPr/>
          </a:p>
          <a:p>
            <a:pPr indent="0" lvl="0" marL="0" rtl="0" algn="l">
              <a:spcBef>
                <a:spcPts val="0"/>
              </a:spcBef>
              <a:spcAft>
                <a:spcPts val="0"/>
              </a:spcAft>
              <a:buNone/>
            </a:pPr>
            <a:r>
              <a:t/>
            </a:r>
            <a:endParaRPr/>
          </a:p>
        </p:txBody>
      </p:sp>
      <p:sp>
        <p:nvSpPr>
          <p:cNvPr id="180" name="Google Shape;18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fi" sz="1130">
                <a:solidFill>
                  <a:schemeClr val="dk1"/>
                </a:solidFill>
                <a:latin typeface="Helvetica Neue Light"/>
                <a:ea typeface="Helvetica Neue Light"/>
                <a:cs typeface="Helvetica Neue Light"/>
                <a:sym typeface="Helvetica Neue Light"/>
              </a:rPr>
              <a:t>The company provides access to occupational healthcare services in accordance with Finnish labour regulations.</a:t>
            </a:r>
            <a:endParaRPr sz="113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Clr>
                <a:schemeClr val="dk1"/>
              </a:buClr>
              <a:buSzPts val="1100"/>
              <a:buFont typeface="Arial"/>
              <a:buNone/>
            </a:pPr>
            <a:r>
              <a:rPr lang="fi" sz="1130">
                <a:solidFill>
                  <a:schemeClr val="dk1"/>
                </a:solidFill>
                <a:latin typeface="Helvetica Neue Light"/>
                <a:ea typeface="Helvetica Neue Light"/>
                <a:cs typeface="Helvetica Neue Light"/>
                <a:sym typeface="Helvetica Neue Light"/>
              </a:rPr>
              <a:t>Services typically include:</a:t>
            </a:r>
            <a:endParaRPr sz="1130">
              <a:solidFill>
                <a:schemeClr val="dk1"/>
              </a:solidFill>
              <a:latin typeface="Helvetica Neue Light"/>
              <a:ea typeface="Helvetica Neue Light"/>
              <a:cs typeface="Helvetica Neue Light"/>
              <a:sym typeface="Helvetica Neue Light"/>
            </a:endParaRPr>
          </a:p>
          <a:p>
            <a:pPr indent="-298450" lvl="0" marL="457200" rtl="0" algn="l">
              <a:spcBef>
                <a:spcPts val="1200"/>
              </a:spcBef>
              <a:spcAft>
                <a:spcPts val="0"/>
              </a:spcAft>
              <a:buClr>
                <a:schemeClr val="dk1"/>
              </a:buClr>
              <a:buSzPts val="1100"/>
              <a:buChar char="●"/>
            </a:pPr>
            <a:r>
              <a:rPr lang="fi" sz="1130">
                <a:solidFill>
                  <a:schemeClr val="dk1"/>
                </a:solidFill>
                <a:latin typeface="Helvetica Neue Light"/>
                <a:ea typeface="Helvetica Neue Light"/>
                <a:cs typeface="Helvetica Neue Light"/>
                <a:sym typeface="Helvetica Neue Light"/>
              </a:rPr>
              <a:t>General medical consultations</a:t>
            </a:r>
            <a:endParaRPr sz="1130">
              <a:solidFill>
                <a:schemeClr val="dk1"/>
              </a:solidFill>
              <a:latin typeface="Helvetica Neue Light"/>
              <a:ea typeface="Helvetica Neue Light"/>
              <a:cs typeface="Helvetica Neue Light"/>
              <a:sym typeface="Helvetica Neue Light"/>
            </a:endParaRPr>
          </a:p>
          <a:p>
            <a:pPr indent="-298450" lvl="0" marL="457200" rtl="0" algn="l">
              <a:spcBef>
                <a:spcPts val="0"/>
              </a:spcBef>
              <a:spcAft>
                <a:spcPts val="0"/>
              </a:spcAft>
              <a:buClr>
                <a:schemeClr val="dk1"/>
              </a:buClr>
              <a:buSzPts val="1100"/>
              <a:buChar char="●"/>
            </a:pPr>
            <a:r>
              <a:rPr lang="fi" sz="1130">
                <a:solidFill>
                  <a:schemeClr val="dk1"/>
                </a:solidFill>
                <a:latin typeface="Helvetica Neue Light"/>
                <a:ea typeface="Helvetica Neue Light"/>
                <a:cs typeface="Helvetica Neue Light"/>
                <a:sym typeface="Helvetica Neue Light"/>
              </a:rPr>
              <a:t>Preventive healthcare services</a:t>
            </a:r>
            <a:endParaRPr sz="1130">
              <a:solidFill>
                <a:schemeClr val="dk1"/>
              </a:solidFill>
              <a:latin typeface="Helvetica Neue Light"/>
              <a:ea typeface="Helvetica Neue Light"/>
              <a:cs typeface="Helvetica Neue Light"/>
              <a:sym typeface="Helvetica Neue Light"/>
            </a:endParaRPr>
          </a:p>
          <a:p>
            <a:pPr indent="-298450" lvl="0" marL="457200" rtl="0" algn="l">
              <a:spcBef>
                <a:spcPts val="0"/>
              </a:spcBef>
              <a:spcAft>
                <a:spcPts val="0"/>
              </a:spcAft>
              <a:buClr>
                <a:schemeClr val="dk1"/>
              </a:buClr>
              <a:buSzPts val="1100"/>
              <a:buChar char="●"/>
            </a:pPr>
            <a:r>
              <a:rPr lang="fi" sz="1130">
                <a:solidFill>
                  <a:schemeClr val="dk1"/>
                </a:solidFill>
                <a:latin typeface="Helvetica Neue Light"/>
                <a:ea typeface="Helvetica Neue Light"/>
                <a:cs typeface="Helvetica Neue Light"/>
                <a:sym typeface="Helvetica Neue Light"/>
              </a:rPr>
              <a:t>Mental health support services</a:t>
            </a:r>
            <a:endParaRPr sz="1130">
              <a:solidFill>
                <a:schemeClr val="dk1"/>
              </a:solidFill>
              <a:latin typeface="Helvetica Neue Light"/>
              <a:ea typeface="Helvetica Neue Light"/>
              <a:cs typeface="Helvetica Neue Light"/>
              <a:sym typeface="Helvetica Neue Light"/>
            </a:endParaRPr>
          </a:p>
          <a:p>
            <a:pPr indent="-298450" lvl="0" marL="457200" rtl="0" algn="l">
              <a:spcBef>
                <a:spcPts val="0"/>
              </a:spcBef>
              <a:spcAft>
                <a:spcPts val="0"/>
              </a:spcAft>
              <a:buClr>
                <a:schemeClr val="dk1"/>
              </a:buClr>
              <a:buSzPts val="1100"/>
              <a:buChar char="●"/>
            </a:pPr>
            <a:r>
              <a:rPr lang="fi" sz="1130">
                <a:solidFill>
                  <a:schemeClr val="dk1"/>
                </a:solidFill>
                <a:latin typeface="Helvetica Neue Light"/>
                <a:ea typeface="Helvetica Neue Light"/>
                <a:cs typeface="Helvetica Neue Light"/>
                <a:sym typeface="Helvetica Neue Light"/>
              </a:rPr>
              <a:t>Physiotherapy (as applicable)</a:t>
            </a:r>
            <a:endParaRPr sz="113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rPr lang="fi" sz="1130">
                <a:solidFill>
                  <a:schemeClr val="dk1"/>
                </a:solidFill>
                <a:latin typeface="Helvetica Neue Light"/>
                <a:ea typeface="Helvetica Neue Light"/>
                <a:cs typeface="Helvetica Neue Light"/>
                <a:sym typeface="Helvetica Neue Light"/>
              </a:rPr>
              <a:t>Employees receive detailed instructions on how to access healthcare services upon commencement of employment. </a:t>
            </a:r>
            <a:endParaRPr sz="113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Clr>
                <a:schemeClr val="dk1"/>
              </a:buClr>
              <a:buSzPts val="1100"/>
              <a:buFont typeface="Arial"/>
              <a:buNone/>
            </a:pPr>
            <a:r>
              <a:rPr lang="fi" sz="1130">
                <a:solidFill>
                  <a:schemeClr val="dk1"/>
                </a:solidFill>
                <a:latin typeface="Helvetica Neue Light"/>
                <a:ea typeface="Helvetica Neue Light"/>
                <a:cs typeface="Helvetica Neue Light"/>
                <a:sym typeface="Helvetica Neue Light"/>
              </a:rPr>
              <a:t>Emergency medical services should be accessed via national emergency channels when necessary.</a:t>
            </a:r>
            <a:endParaRPr/>
          </a:p>
          <a:p>
            <a:pPr indent="0" lvl="0" marL="0" rtl="0" algn="l">
              <a:spcBef>
                <a:spcPts val="1200"/>
              </a:spcBef>
              <a:spcAft>
                <a:spcPts val="1200"/>
              </a:spcAft>
              <a:buNone/>
            </a:pPr>
            <a:r>
              <a:t/>
            </a:r>
            <a:endParaRPr/>
          </a:p>
        </p:txBody>
      </p:sp>
      <p:sp>
        <p:nvSpPr>
          <p:cNvPr id="181" name="Google Shape;18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i"/>
              <a:t>Important contacts</a:t>
            </a:r>
            <a:endParaRPr/>
          </a:p>
        </p:txBody>
      </p:sp>
      <p:sp>
        <p:nvSpPr>
          <p:cNvPr id="187" name="Google Shape;187;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i"/>
              <a:t>HR contact (name, email, role)</a:t>
            </a:r>
            <a:endParaRPr/>
          </a:p>
          <a:p>
            <a:pPr indent="0" lvl="0" marL="0" rtl="0" algn="l">
              <a:spcBef>
                <a:spcPts val="1200"/>
              </a:spcBef>
              <a:spcAft>
                <a:spcPts val="0"/>
              </a:spcAft>
              <a:buNone/>
            </a:pPr>
            <a:r>
              <a:rPr lang="fi"/>
              <a:t>Payroll contact</a:t>
            </a:r>
            <a:endParaRPr/>
          </a:p>
          <a:p>
            <a:pPr indent="0" lvl="0" marL="0" rtl="0" algn="l">
              <a:spcBef>
                <a:spcPts val="1200"/>
              </a:spcBef>
              <a:spcAft>
                <a:spcPts val="0"/>
              </a:spcAft>
              <a:buNone/>
            </a:pPr>
            <a:r>
              <a:rPr lang="fi"/>
              <a:t>IT support</a:t>
            </a:r>
            <a:endParaRPr/>
          </a:p>
          <a:p>
            <a:pPr indent="0" lvl="0" marL="0" rtl="0" algn="l">
              <a:spcBef>
                <a:spcPts val="1200"/>
              </a:spcBef>
              <a:spcAft>
                <a:spcPts val="0"/>
              </a:spcAft>
              <a:buNone/>
            </a:pPr>
            <a:r>
              <a:rPr lang="fi"/>
              <a:t>Occupational healthcare provider</a:t>
            </a:r>
            <a:endParaRPr/>
          </a:p>
          <a:p>
            <a:pPr indent="0" lvl="0" marL="0" rtl="0" algn="l">
              <a:spcBef>
                <a:spcPts val="1200"/>
              </a:spcBef>
              <a:spcAft>
                <a:spcPts val="0"/>
              </a:spcAft>
              <a:buNone/>
            </a:pPr>
            <a:r>
              <a:rPr lang="fi"/>
              <a:t>Emergency numbers (Finland 112)</a:t>
            </a:r>
            <a:endParaRPr/>
          </a:p>
          <a:p>
            <a:pPr indent="0" lvl="0" marL="0" rtl="0" algn="l">
              <a:spcBef>
                <a:spcPts val="1200"/>
              </a:spcBef>
              <a:spcAft>
                <a:spcPts val="0"/>
              </a:spcAft>
              <a:buNone/>
            </a:pPr>
            <a:r>
              <a:rPr lang="fi"/>
              <a:t>Manager + backup manager</a:t>
            </a:r>
            <a:endParaRPr/>
          </a:p>
          <a:p>
            <a:pPr indent="0" lvl="0" marL="0" rtl="0" algn="l">
              <a:spcBef>
                <a:spcPts val="1200"/>
              </a:spcBef>
              <a:spcAft>
                <a:spcPts val="1200"/>
              </a:spcAft>
              <a:buNone/>
            </a:pPr>
            <a:r>
              <a:rPr lang="fi"/>
              <a:t>Relocation support contact (if applicable)</a:t>
            </a:r>
            <a:endParaRPr/>
          </a:p>
        </p:txBody>
      </p:sp>
      <p:sp>
        <p:nvSpPr>
          <p:cNvPr id="188" name="Google Shape;188;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i"/>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